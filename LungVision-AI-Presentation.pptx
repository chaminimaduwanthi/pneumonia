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3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0" r:id="rId11"/>
    <p:sldId id="262" r:id="rId13"/>
    <p:sldId id="266" r:id="rId17"/>
    <p:sldId id="267" r:id="rId18"/>
    <p:sldId id="270" r:id="rId21"/>
    <p:sldId id="272" r:id="rId23"/>
    <p:sldId id="282" r:id="rId33"/>
    <p:sldId id="286" r:id="rId37"/>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11" Type="http://schemas.openxmlformats.org/officeDocument/2006/relationships/slide" Target="slides/slide5.xml"/><Relationship Id="rId13" Type="http://schemas.openxmlformats.org/officeDocument/2006/relationships/slide" Target="slides/slide7.xml"/><Relationship Id="rId16" Type="http://schemas.openxmlformats.org/officeDocument/2006/relationships/notesMaster" Target="notesMasters/notesMaster1.xml"/><Relationship Id="rId17" Type="http://schemas.openxmlformats.org/officeDocument/2006/relationships/slide" Target="slides/slide11.xml"/><Relationship Id="rId18" Type="http://schemas.openxmlformats.org/officeDocument/2006/relationships/slide" Target="slides/slide12.xml"/><Relationship Id="rId21" Type="http://schemas.openxmlformats.org/officeDocument/2006/relationships/slide" Target="slides/slide15.xml"/><Relationship Id="rId23" Type="http://schemas.openxmlformats.org/officeDocument/2006/relationships/slide" Target="slides/slide17.xml"/><Relationship Id="rId33" Type="http://schemas.openxmlformats.org/officeDocument/2006/relationships/slide" Target="slides/slide27.xml"/><Relationship Id="rId37" Type="http://schemas.openxmlformats.org/officeDocument/2006/relationships/slide" Target="slides/slide31.xml"/><Relationship Id="rId44"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[00:00 - 00:30]  TITLE</a:t>
            </a:r>
          </a:p>
          <a:p/>
          <a:p>
            <a:r>
              <a:t>Say:</a:t>
            </a:r>
          </a:p>
          <a:p>
            <a:r>
              <a:t>"Good morning. My name is G. C. M. Sewwandi, student number 29002. My research</a:t>
            </a:r>
          </a:p>
          <a:p>
            <a:r>
              <a:t>is an explainable deep learning framework for pneumonia detection and</a:t>
            </a:r>
          </a:p>
          <a:p>
            <a:r>
              <a:t>classification from chest X-rays, using transfer learning and Grad-CAM."</a:t>
            </a:r>
          </a:p>
          <a:p/>
          <a:p>
            <a:r>
              <a:t>"The one sentence version is this. Building an accurate chest X-ray classifier</a:t>
            </a:r>
          </a:p>
          <a:p>
            <a:r>
              <a:t>is no longer the hard part. Making one that is safe to put in front of a user</a:t>
            </a:r>
          </a:p>
          <a:p>
            <a:r>
              <a:t>is. That gap is what this project is about."</a:t>
            </a:r>
          </a:p>
          <a:p/>
          <a:p>
            <a:r>
              <a:t>Delivery:</a:t>
            </a:r>
          </a:p>
          <a:p>
            <a:r>
              <a:t>- Do not read the title off the slide, they can see it. Say the one sentence</a:t>
            </a:r>
          </a:p>
          <a:p>
            <a:r>
              <a:t>  version instead and move on within thirty seconds.</a:t>
            </a:r>
          </a:p>
          <a:p>
            <a:r>
              <a:t>- Stand still for this slide. Start moving from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[00:30 - 02:30]  THE PROBLEM</a:t>
            </a:r>
          </a:p>
          <a:p/>
          <a:p>
            <a:r>
              <a:t>Say:</a:t>
            </a:r>
          </a:p>
          <a:p>
            <a:r>
              <a:t>"Pneumonia treatment depends on the cause. Bacterial pneumonia needs</a:t>
            </a:r>
          </a:p>
          <a:p>
            <a:r>
              <a:t>antibiotics, viral pneumonia normally does not, and COVID-19 also needs</a:t>
            </a:r>
          </a:p>
          <a:p>
            <a:r>
              <a:t>isolation. So the decision a clinician actually makes is not 'pneumonia or</a:t>
            </a:r>
          </a:p>
          <a:p>
            <a:r>
              <a:t>not', it is 'which kind'."</a:t>
            </a:r>
          </a:p>
          <a:p/>
          <a:p>
            <a:r>
              <a:t>"Two problems run through the published work. The first is general: we trust</a:t>
            </a:r>
          </a:p>
          <a:p>
            <a:r>
              <a:t>these systems in proportion to how confident they look, not how reliable they</a:t>
            </a:r>
          </a:p>
          <a:p>
            <a:r>
              <a:t>are. Networks are confidently wrong, and calibration does not fix that."</a:t>
            </a:r>
          </a:p>
          <a:p/>
          <a:p>
            <a:r>
              <a:t>"The second is specific, and it is the one I built around. Most published chest</a:t>
            </a:r>
          </a:p>
          <a:p>
            <a:r>
              <a:t>X-ray systems are binary, so they cannot inform the antibiotic decision at all.</a:t>
            </a:r>
          </a:p>
          <a:p>
            <a:r>
              <a:t>And softmax is a closed world function."</a:t>
            </a:r>
          </a:p>
          <a:p/>
          <a:p>
            <a:r>
              <a:t>Then explain closed world simply, this is the heart of the talk:</a:t>
            </a:r>
          </a:p>
          <a:p>
            <a:r>
              <a:t>"Softmax always distributes one hundred per cent of the probability across the</a:t>
            </a:r>
          </a:p>
          <a:p>
            <a:r>
              <a:t>four classes it was trained on. There is no option for 'none of these'. So if I</a:t>
            </a:r>
          </a:p>
          <a:p>
            <a:r>
              <a:t>upload a photograph of a cat, the model does not say it does not know. It says</a:t>
            </a:r>
          </a:p>
          <a:p>
            <a:r>
              <a:t>COVID-19, ninety seven per cent confident. In a clinical tool that is not a bug</a:t>
            </a:r>
          </a:p>
          <a:p>
            <a:r>
              <a:t>you can tolerate."</a:t>
            </a:r>
          </a:p>
          <a:p/>
          <a:p>
            <a:r>
              <a:t>Delivery:</a:t>
            </a:r>
          </a:p>
          <a:p>
            <a:r>
              <a:t>- The cat example is the moment the panel understands the problem. Pause after</a:t>
            </a:r>
          </a:p>
          <a:p>
            <a:r>
              <a:t>  it. Do not rush.</a:t>
            </a:r>
          </a:p>
          <a:p>
            <a:r>
              <a:t>- Expect: "why not just add a fifth class for everything else?" Answer: you</a:t>
            </a:r>
          </a:p>
          <a:p>
            <a:r>
              <a:t>  cannot enumerate everything the model might be shown, and you would have to</a:t>
            </a:r>
          </a:p>
          <a:p>
            <a:r>
              <a:t>  retrain. My method needs no retraining at 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[02:30 - 04:00]  RESEARCH QUESTION</a:t>
            </a:r>
          </a:p>
          <a:p/>
          <a:p>
            <a:r>
              <a:t>Say:</a:t>
            </a:r>
          </a:p>
          <a:p>
            <a:r>
              <a:t>"So the main question is: to what extent can a post hoc, explainable framework</a:t>
            </a:r>
          </a:p>
          <a:p>
            <a:r>
              <a:t>that is aware of out of distribution inputs improve the clinical safety of four</a:t>
            </a:r>
          </a:p>
          <a:p>
            <a:r>
              <a:t>class pneumonia classification, without retraining the underlying classifier?"</a:t>
            </a:r>
          </a:p>
          <a:p/>
          <a:p>
            <a:r>
              <a:t>"Post hoc and without retraining are the load bearing words. Anyone can fix</a:t>
            </a:r>
          </a:p>
          <a:p>
            <a:r>
              <a:t>this by training a better model. I wanted a method that works on a classifier</a:t>
            </a:r>
          </a:p>
          <a:p>
            <a:r>
              <a:t>that is already trained and already deployed."</a:t>
            </a:r>
          </a:p>
          <a:p/>
          <a:p>
            <a:r>
              <a:t>"That breaks into three sub questions. RQ1 is the baseline: what performance</a:t>
            </a:r>
          </a:p>
          <a:p>
            <a:r>
              <a:t>and what error structure do three architectures give under one common split.</a:t>
            </a:r>
          </a:p>
          <a:p>
            <a:r>
              <a:t>RQ2 is the safeguard: can signals taken at inference time detect invalid inputs</a:t>
            </a:r>
          </a:p>
          <a:p>
            <a:r>
              <a:t>well enough to justify withholding a diagnosis, and what does that cost in</a:t>
            </a:r>
          </a:p>
          <a:p>
            <a:r>
              <a:t>genuine scans refused. RQ3 is the explanation: do the Grad-CAM maps actually</a:t>
            </a:r>
          </a:p>
          <a:p>
            <a:r>
              <a:t>fall on the lungs."</a:t>
            </a:r>
          </a:p>
          <a:p/>
          <a:p>
            <a:r>
              <a:t>If asked about the objectives, they are five:</a:t>
            </a:r>
          </a:p>
          <a:p>
            <a:r>
              <a:t>"RO1 review and derive requirements, RO2 compare three architectures, RO3 build</a:t>
            </a:r>
          </a:p>
          <a:p>
            <a:r>
              <a:t>the safeguard and integrate it end to end, RO4 evaluate the safeguard and the</a:t>
            </a:r>
          </a:p>
          <a:p>
            <a:r>
              <a:t>explanation, RO5 recommend where this is and is not suitable. Section 6.2 of</a:t>
            </a:r>
          </a:p>
          <a:p>
            <a:r>
              <a:t>the thesis assesses each one against the evidence rather than against</a:t>
            </a:r>
          </a:p>
          <a:p>
            <a:r>
              <a:t>intention."</a:t>
            </a:r>
          </a:p>
          <a:p/>
          <a:p>
            <a:r>
              <a:t>Delivery:</a:t>
            </a:r>
          </a:p>
          <a:p>
            <a:r>
              <a:t>- Read the main question slowly and exactly. It is the sentence the whole viva</a:t>
            </a:r>
          </a:p>
          <a:p>
            <a:r>
              <a:t>  hangs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[04:00 - 05:30]  METHODOLOGY</a:t>
            </a:r>
          </a:p>
          <a:p/>
          <a:p>
            <a:r>
              <a:t>Say:</a:t>
            </a:r>
          </a:p>
          <a:p>
            <a:r>
              <a:t>"Briefly, how the research was conducted."</a:t>
            </a:r>
          </a:p>
          <a:p/>
          <a:p>
            <a:r>
              <a:t>"The paradigm is post positivist. Accuracy, recall, AUROC and in lung attention</a:t>
            </a:r>
          </a:p>
          <a:p>
            <a:r>
              <a:t>are objective quantities, but they can only be estimated, never known exactly,</a:t>
            </a:r>
          </a:p>
          <a:p>
            <a:r>
              <a:t>because of sampling error, label noise and the randomness of a single training</a:t>
            </a:r>
          </a:p>
          <a:p>
            <a:r>
              <a:t>run. That position has consequences I held myself to: every measurement is</a:t>
            </a:r>
          </a:p>
          <a:p>
            <a:r>
              <a:t>reported with its sample size, a difference smaller than the resolution of the</a:t>
            </a:r>
          </a:p>
          <a:p>
            <a:r>
              <a:t>design is declared inconclusive, and a disconfirming result is reported in the</a:t>
            </a:r>
          </a:p>
          <a:p>
            <a:r>
              <a:t>same terms as a confirming one. You will see me do all three later in this</a:t>
            </a:r>
          </a:p>
          <a:p>
            <a:r>
              <a:t>talk."</a:t>
            </a:r>
          </a:p>
          <a:p/>
          <a:p>
            <a:r>
              <a:t>"The approach is predominantly deductive. The closed world property of softmax</a:t>
            </a:r>
          </a:p>
          <a:p>
            <a:r>
              <a:t>and the feature space method of Lee and colleagues give a testable expectation,</a:t>
            </a:r>
          </a:p>
          <a:p>
            <a:r>
              <a:t>that a Mahalanobis signal should separate invalid inputs on this model. I</a:t>
            </a:r>
          </a:p>
          <a:p>
            <a:r>
              <a:t>operationalised that into thresholds and measured it. There is one inductive</a:t>
            </a:r>
          </a:p>
          <a:p>
            <a:r>
              <a:t>element, the failure of the energy signal, which came out of the measurements</a:t>
            </a:r>
          </a:p>
          <a:p>
            <a:r>
              <a:t>rather than being predicted, and I keep the two clearly separate."</a:t>
            </a:r>
          </a:p>
          <a:p/>
          <a:p>
            <a:r>
              <a:t>"The strategy is design science. The question asks to what extent a safeguard</a:t>
            </a:r>
          </a:p>
          <a:p>
            <a:r>
              <a:t>can improve safety, and that quantity simply does not exist until the safeguard</a:t>
            </a:r>
          </a:p>
          <a:p>
            <a:r>
              <a:t>has been built. So the artefact is built, and then evaluated experimentally."</a:t>
            </a:r>
          </a:p>
          <a:p/>
          <a:p>
            <a:r>
              <a:t>Now the point that protects every number that follows:</a:t>
            </a:r>
          </a:p>
          <a:p>
            <a:r>
              <a:t>"The freeze point matters. Calibration follows model selection and uses only</a:t>
            </a:r>
          </a:p>
          <a:p>
            <a:r>
              <a:t>training and validation data. Evaluation follows the freeze. So no result I</a:t>
            </a:r>
          </a:p>
          <a:p>
            <a:r>
              <a:t>report later was used to adjust the artefact that produced it. The test</a:t>
            </a:r>
          </a:p>
          <a:p>
            <a:r>
              <a:t>partition was never touched until the artefact was final."</a:t>
            </a:r>
          </a:p>
          <a:p/>
          <a:p>
            <a:r>
              <a:t>Delivery:</a:t>
            </a:r>
          </a:p>
          <a:p>
            <a:r>
              <a:t>- The freeze point is the answer to "did you tune on your test set?". Say it</a:t>
            </a:r>
          </a:p>
          <a:p>
            <a:r>
              <a:t>  before they 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[05:30 - 07:30]  THE DATA</a:t>
            </a:r>
          </a:p>
          <a:p/>
          <a:p>
            <a:r>
              <a:t>Say:</a:t>
            </a:r>
          </a:p>
          <a:p>
            <a:r>
              <a:t>"Nine thousand two hundred and nine chest radiographs from curated public</a:t>
            </a:r>
          </a:p>
          <a:p>
            <a:r>
              <a:t>research collections, four classes: Normal, COVID-19, bacterial pneumonia and</a:t>
            </a:r>
          </a:p>
          <a:p>
            <a:r>
              <a:t>viral pneumonia."</a:t>
            </a:r>
          </a:p>
          <a:p/>
          <a:p>
            <a:r>
              <a:t>"Split seventy, fifteen, fifteen, stratified, so six thousand four hundred and</a:t>
            </a:r>
          </a:p>
          <a:p>
            <a:r>
              <a:t>forty six train, one thousand three hundred and eighty one validation, one</a:t>
            </a:r>
          </a:p>
          <a:p>
            <a:r>
              <a:t>thousand three hundred and eighty two test."</a:t>
            </a:r>
          </a:p>
          <a:p/>
          <a:p>
            <a:r>
              <a:t>"Two design points matter here."</a:t>
            </a:r>
          </a:p>
          <a:p/>
          <a:p>
            <a:r>
              <a:t>"First, the audit comes before the split. I removed duplicates, corrupted files</a:t>
            </a:r>
          </a:p>
          <a:p>
            <a:r>
              <a:t>and low resolution files first, because a duplicate that lands on both sides of</a:t>
            </a:r>
          </a:p>
          <a:p>
            <a:r>
              <a:t>a partition boundary is a direct route to leakage, and any accuracy after that</a:t>
            </a:r>
          </a:p>
          <a:p>
            <a:r>
              <a:t>is fiction."</a:t>
            </a:r>
          </a:p>
          <a:p/>
          <a:p>
            <a:r>
              <a:t>"Second, one split file is reused by all three architectures and by the</a:t>
            </a:r>
          </a:p>
          <a:p>
            <a:r>
              <a:t>calibration of the safeguard. That is what makes the three models comparable to</a:t>
            </a:r>
          </a:p>
          <a:p>
            <a:r>
              <a:t>each other, and it is why a difference between them is about the architecture</a:t>
            </a:r>
          </a:p>
          <a:p>
            <a:r>
              <a:t>and not about the data they happened to get."</a:t>
            </a:r>
          </a:p>
          <a:p/>
          <a:p>
            <a:r>
              <a:t>"The classes are imbalanced, COVID-19 has one thousand two hundred and eighty</a:t>
            </a:r>
          </a:p>
          <a:p>
            <a:r>
              <a:t>one images against three thousand two hundred and seventy one Normal. That is</a:t>
            </a:r>
          </a:p>
          <a:p>
            <a:r>
              <a:t>handled with stratified sampling and a class weighted loss."</a:t>
            </a:r>
          </a:p>
          <a:p/>
          <a:p>
            <a:r>
              <a:t>"On ethics: this is secondary data, public research collections, no patient</a:t>
            </a:r>
          </a:p>
          <a:p>
            <a:r>
              <a:t>identifiers, no human participants, so institutional ethics approval was not</a:t>
            </a:r>
          </a:p>
          <a:p>
            <a:r>
              <a:t>applicable."</a:t>
            </a:r>
          </a:p>
          <a:p/>
          <a:p>
            <a:r>
              <a:t>Delivery:</a:t>
            </a:r>
          </a:p>
          <a:p>
            <a:r>
              <a:t>- Say the leakage point clearly. It is the question a good panel asks first.</a:t>
            </a:r>
          </a:p>
          <a:p>
            <a:r>
              <a:t>- Weakness to own before they raise it: the split is file level, not patient</a:t>
            </a:r>
          </a:p>
          <a:p>
            <a:r>
              <a:t>  level. If the collections contain several images of the same patient, some</a:t>
            </a:r>
          </a:p>
          <a:p>
            <a:r>
              <a:t>  could span the split. Say so. Do not wait to be caught.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[07:30 - 10:00]  CONTRIBUTION 1, THE SAFEGUARD</a:t>
            </a:r>
          </a:p>
          <a:p/>
          <a:p>
            <a:r>
              <a:t>Say:</a:t>
            </a:r>
          </a:p>
          <a:p>
            <a:r>
              <a:t>"This is the first contribution. The model is unchanged. Nothing is retrained.</a:t>
            </a:r>
          </a:p>
          <a:p>
            <a:r>
              <a:t>Everything here comes out of the forward pass that was happening anyway."</a:t>
            </a:r>
          </a:p>
          <a:p/>
          <a:p>
            <a:r>
              <a:t>Explain the one pass, three outputs idea:</a:t>
            </a:r>
          </a:p>
          <a:p>
            <a:r>
              <a:t>"I take the last dense layer, read its weights and bias, and build a small</a:t>
            </a:r>
          </a:p>
          <a:p>
            <a:r>
              <a:t>auxiliary model that gives me the penultimate feature vector. From that vector</a:t>
            </a:r>
          </a:p>
          <a:p>
            <a:r>
              <a:t>I recover the logits with the same affine map the model itself would apply, and</a:t>
            </a:r>
          </a:p>
          <a:p>
            <a:r>
              <a:t>the probabilities follow from their softmax. So one evaluation gives me the</a:t>
            </a:r>
          </a:p>
          <a:p>
            <a:r>
              <a:t>features the detector needs, the logits the energy score needs, and the</a:t>
            </a:r>
          </a:p>
          <a:p>
            <a:r>
              <a:t>probabilities the user sees, and all three describe the same forward pass. That</a:t>
            </a:r>
          </a:p>
          <a:p>
            <a:r>
              <a:t>correspondence is the point, not the saved computation."</a:t>
            </a:r>
          </a:p>
          <a:p/>
          <a:p>
            <a:r>
              <a:t>"On those features I fit one Gaussian per class, with a single shared</a:t>
            </a:r>
          </a:p>
          <a:p>
            <a:r>
              <a:t>covariance matrix, and score an input by its distance to the nearest class</a:t>
            </a:r>
          </a:p>
          <a:p>
            <a:r>
              <a:t>mean. That is the Mahalanobis signal, from Lee and colleagues, 2018."</a:t>
            </a:r>
          </a:p>
          <a:p/>
          <a:p>
            <a:r>
              <a:t>"I also compute two output space signals, energy and maximum softmax</a:t>
            </a:r>
          </a:p>
          <a:p>
            <a:r>
              <a:t>probability, and report both. The deployed policy uses Mahalanobis alone, and</a:t>
            </a:r>
          </a:p>
          <a:p>
            <a:r>
              <a:t>slide 9 shows the measurement that made me choose it."</a:t>
            </a:r>
          </a:p>
          <a:p/>
          <a:p>
            <a:r>
              <a:t>"Calibration runs once per model, on one thousand two hundred training images,</a:t>
            </a:r>
          </a:p>
          <a:p>
            <a:r>
              <a:t>thresholded on six hundred validation images, at ninety five per cent retention</a:t>
            </a:r>
          </a:p>
          <a:p>
            <a:r>
              <a:t>of genuine scans. The covariance is tied across classes because twelve hundred</a:t>
            </a:r>
          </a:p>
          <a:p>
            <a:r>
              <a:t>images is only about four and a half times the two hundred and fifty six</a:t>
            </a:r>
          </a:p>
          <a:p>
            <a:r>
              <a:t>dimensions, so four separate matrices would be rank deficient."</a:t>
            </a:r>
          </a:p>
          <a:p/>
          <a:p>
            <a:r>
              <a:t>"One detail I want to highlight. The safeguard never sees a single invalid</a:t>
            </a:r>
          </a:p>
          <a:p>
            <a:r>
              <a:t>example during calibration. The operating point is set entirely from real</a:t>
            </a:r>
          </a:p>
          <a:p>
            <a:r>
              <a:t>radiographs. It learns what normal looks like, not what abnormal looks like."</a:t>
            </a:r>
          </a:p>
          <a:p/>
          <a:p>
            <a:r>
              <a:t>On the delivered system, since there is no separate platform slide:</a:t>
            </a:r>
          </a:p>
          <a:p>
            <a:r>
              <a:t>"This is live in the platform, not a notebook. Next.js front end, PHP REST API,</a:t>
            </a:r>
          </a:p>
          <a:p>
            <a:r>
              <a:t>a separate Python inference service and MySQL, with four user roles. When the</a:t>
            </a:r>
          </a:p>
          <a:p>
            <a:r>
              <a:t>verdict fires the response carries no diagnosis at all: no predicted class, no</a:t>
            </a:r>
          </a:p>
          <a:p>
            <a:r>
              <a:t>confidence, no probability bars, just a banner naming the signal that fired.</a:t>
            </a:r>
          </a:p>
          <a:p>
            <a:r>
              <a:t>And it survives the round trip, so reopening the case from history still shows</a:t>
            </a:r>
          </a:p>
          <a:p>
            <a:r>
              <a:t>no diagnosis and the exported PDF reproduces the notice in all three languages.</a:t>
            </a:r>
          </a:p>
          <a:p>
            <a:r>
              <a:t>I am happy to demonstrate it after the talk."</a:t>
            </a:r>
          </a:p>
          <a:p/>
          <a:p>
            <a:r>
              <a:t>Delivery:</a:t>
            </a:r>
          </a:p>
          <a:p>
            <a:r>
              <a:t>- If they ask why not just threshold the softmax confidence: that is the MSP</a:t>
            </a:r>
          </a:p>
          <a:p>
            <a:r>
              <a:t>  baseline, it is computed, and slide 9 shows output space signals failing on</a:t>
            </a:r>
          </a:p>
          <a:p>
            <a:r>
              <a:t>  this model. That is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[10:00 - 12:00]  CONTRIBUTION 2, THE EXPLANATION</a:t>
            </a:r>
          </a:p>
          <a:p/>
          <a:p>
            <a:r>
              <a:t>Say:</a:t>
            </a:r>
          </a:p>
          <a:p>
            <a:r>
              <a:t>"The second contribution is the explanation, and there are two corrections in</a:t>
            </a:r>
          </a:p>
          <a:p>
            <a:r>
              <a:t>it."</a:t>
            </a:r>
          </a:p>
          <a:p/>
          <a:p>
            <a:r>
              <a:t>"The first is numerical. Grad-CAM is defined on the class score before the</a:t>
            </a:r>
          </a:p>
          <a:p>
            <a:r>
              <a:t>softmax. If you differentiate the probability instead, the chain rule brings in</a:t>
            </a:r>
          </a:p>
          <a:p>
            <a:r>
              <a:t>a factor that goes to zero exactly when the model is confident. On COVID-19 and</a:t>
            </a:r>
          </a:p>
          <a:p>
            <a:r>
              <a:t>Normal this model routinely exceeds point nine seven, so that factor drops</a:t>
            </a:r>
          </a:p>
          <a:p>
            <a:r>
              <a:t>below point zero three and the heatmap is numerical noise. I rebuilt the</a:t>
            </a:r>
          </a:p>
          <a:p>
            <a:r>
              <a:t>classifier as a linear layer carrying the same weights and differentiate the</a:t>
            </a:r>
          </a:p>
          <a:p>
            <a:r>
              <a:t>logit, which removes the factor entirely."</a:t>
            </a:r>
          </a:p>
          <a:p/>
          <a:p>
            <a:r>
              <a:t>"The second is anatomical, and it is the more interesting one. DeGrave and</a:t>
            </a:r>
          </a:p>
          <a:p>
            <a:r>
              <a:t>colleagues showed in Nature Machine Intelligence that COVID classifiers often</a:t>
            </a:r>
          </a:p>
          <a:p>
            <a:r>
              <a:t>key on shoulders, image borders and burnt in markers instead of lung tissue.</a:t>
            </a:r>
          </a:p>
          <a:p>
            <a:r>
              <a:t>Teixeira and colleagues showed that restricting the map to the lung field is</a:t>
            </a:r>
          </a:p>
          <a:p>
            <a:r>
              <a:t>the remedy. So I estimate the lung field with classical computer vision, no</a:t>
            </a:r>
          </a:p>
          <a:p>
            <a:r>
              <a:t>extra trained weights, and restrict the displayed map to it."</a:t>
            </a:r>
          </a:p>
          <a:p/>
          <a:p>
            <a:r>
              <a:t>Now the honest part, and say it deliberately:</a:t>
            </a:r>
          </a:p>
          <a:p>
            <a:r>
              <a:t>"But masking only changes what is shown. It does not stop the classifier using</a:t>
            </a:r>
          </a:p>
          <a:p>
            <a:r>
              <a:t>pixels outside the lungs. So I measure how much of the attention was inside the</a:t>
            </a:r>
          </a:p>
          <a:p>
            <a:r>
              <a:t>lung field before masking, and I report that number with every scan. If it</a:t>
            </a:r>
          </a:p>
          <a:p>
            <a:r>
              <a:t>falls below one half, the user gets a caution."</a:t>
            </a:r>
          </a:p>
          <a:p/>
          <a:p>
            <a:r>
              <a:t>"The picture makes the point. On the left, the raw map, with real mass on the</a:t>
            </a:r>
          </a:p>
          <a:p>
            <a:r>
              <a:t>image border and outside the chest. On the right, the same map restricted to</a:t>
            </a:r>
          </a:p>
          <a:p>
            <a:r>
              <a:t>the lungs. It looks far more convincing, and that is exactly the danger. That</a:t>
            </a:r>
          </a:p>
          <a:p>
            <a:r>
              <a:t>is why the number is disclosed rather than quietly dropped."</a:t>
            </a:r>
          </a:p>
          <a:p/>
          <a:p>
            <a:r>
              <a:t>"On RQ3 itself, the finding is qualitative and I report it as such: the lung</a:t>
            </a:r>
          </a:p>
          <a:p>
            <a:r>
              <a:t>restricted maps fall on the regions clinically associated with each class,</a:t>
            </a:r>
          </a:p>
          <a:p>
            <a:r>
              <a:t>focal consolidation for bacterial cases and more diffuse bilateral activation</a:t>
            </a:r>
          </a:p>
          <a:p>
            <a:r>
              <a:t>for viral ones."</a:t>
            </a:r>
          </a:p>
          <a:p/>
          <a:p>
            <a:r>
              <a:t>Delivery:</a:t>
            </a:r>
          </a:p>
          <a:p>
            <a:r>
              <a:t>- This is the slide that shows research maturity. You found a fix that makes</a:t>
            </a:r>
          </a:p>
          <a:p>
            <a:r>
              <a:t>  your own output look better and you refused to let it stand alone. Say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[12:00 - 14:30]  RESULTS, CLASSIFICATION</a:t>
            </a:r>
          </a:p>
          <a:p/>
          <a:p>
            <a:r>
              <a:t>Say:</a:t>
            </a:r>
          </a:p>
          <a:p>
            <a:r>
              <a:t>"DenseNet121 reached eighty five point three one per cent on the held out test</a:t>
            </a:r>
          </a:p>
          <a:p>
            <a:r>
              <a:t>set, EfficientNetV2B3 eighty four point three zero, EfficientNetV2S eighty</a:t>
            </a:r>
          </a:p>
          <a:p>
            <a:r>
              <a:t>point five four. DenseNet121 is the deployed model."</a:t>
            </a:r>
          </a:p>
          <a:p/>
          <a:p>
            <a:r>
              <a:t>Now immediately undercut the headline, this is the point of the slide:</a:t>
            </a:r>
          </a:p>
          <a:p>
            <a:r>
              <a:t>"I want to be careful about that ranking. The lead over EfficientNetV2B3 is one</a:t>
            </a:r>
          </a:p>
          <a:p>
            <a:r>
              <a:t>point zero one percentage points. On one thousand three hundred and eighty two</a:t>
            </a:r>
          </a:p>
          <a:p>
            <a:r>
              <a:t>test images that is fourteen images, from a single run with no seed</a:t>
            </a:r>
          </a:p>
          <a:p>
            <a:r>
              <a:t>replication. The methodology committed in advance to treating a difference at</a:t>
            </a:r>
          </a:p>
          <a:p>
            <a:r>
              <a:t>that resolution as inconclusive, so I am not claiming DenseNet is the better</a:t>
            </a:r>
          </a:p>
          <a:p>
            <a:r>
              <a:t>architecture."</a:t>
            </a:r>
          </a:p>
          <a:p/>
          <a:p>
            <a:r>
              <a:t>"And the third row is not an architectural result at all. EfficientNetV2S was</a:t>
            </a:r>
          </a:p>
          <a:p>
            <a:r>
              <a:t>trained with simple rescaling to zero to one, while its ImageNet weights expect</a:t>
            </a:r>
          </a:p>
          <a:p>
            <a:r>
              <a:t>minus one to one. The frozen phase shows the effect cleanly: sixty eight point</a:t>
            </a:r>
          </a:p>
          <a:p>
            <a:r>
              <a:t>zero seven per cent against eighty three point two zero. That is a</a:t>
            </a:r>
          </a:p>
          <a:p>
            <a:r>
              <a:t>preprocessing fault, not a capacity difference, and I have disclosed it rather</a:t>
            </a:r>
          </a:p>
          <a:p>
            <a:r>
              <a:t>than quietly dropping the row."</a:t>
            </a:r>
          </a:p>
          <a:p/>
          <a:p>
            <a:r>
              <a:t>"The error structure is the more useful finding. Between sixty nine and seventy</a:t>
            </a:r>
          </a:p>
          <a:p>
            <a:r>
              <a:t>six per cent of every model's errors are the same single confusion, bacterial</a:t>
            </a:r>
          </a:p>
          <a:p>
            <a:r>
              <a:t>against viral pneumonia. Per class, DenseNet separates COVID-19 and Normal</a:t>
            </a:r>
          </a:p>
          <a:p>
            <a:r>
              <a:t>almost perfectly, F1 of point nine seven nine and point nine five nine, while</a:t>
            </a:r>
          </a:p>
          <a:p>
            <a:r>
              <a:t>viral pneumonia reaches only point six four one."</a:t>
            </a:r>
          </a:p>
          <a:p/>
          <a:p>
            <a:r>
              <a:t>"So recast as abnormality screening it gives ninety five point eight five per</a:t>
            </a:r>
          </a:p>
          <a:p>
            <a:r>
              <a:t>cent sensitivity and ninety eight point nine eight per cent specificity. The</a:t>
            </a:r>
          </a:p>
          <a:p>
            <a:r>
              <a:t>task it is good at is screening. The task it is weakest at is exactly the one</a:t>
            </a:r>
          </a:p>
          <a:p>
            <a:r>
              <a:t>that carries the antibiotic decision, and that has to be said plainly."</a:t>
            </a:r>
          </a:p>
          <a:p/>
          <a:p>
            <a:r>
              <a:t>Delivery:</a:t>
            </a:r>
          </a:p>
          <a:p>
            <a:r>
              <a:t>- Owning the EfficientNetV2S fault yourself is worth more than defending it.</a:t>
            </a:r>
          </a:p>
          <a:p>
            <a:r>
              <a:t>- NFR1 asked for at least eighty five per cent and is met by zero point three</a:t>
            </a:r>
          </a:p>
          <a:p>
            <a:r>
              <a:t>  one of a point. If they push, agree it is narrow.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[14:30 - 17:00]  RESULTS, INPUT VALIDITY</a:t>
            </a:r>
          </a:p>
          <a:p/>
          <a:p>
            <a:r>
              <a:t>Say:</a:t>
            </a:r>
          </a:p>
          <a:p>
            <a:r>
              <a:t>"This is the result I care most about. Three numbers."</a:t>
            </a:r>
          </a:p>
          <a:p/>
          <a:p>
            <a:r>
              <a:t>"Ninety two point five per cent of genuine held out scans are retained, against</a:t>
            </a:r>
          </a:p>
          <a:p>
            <a:r>
              <a:t>a design floor of ninety. One hundred per cent of the far probe is flagged, all</a:t>
            </a:r>
          </a:p>
          <a:p>
            <a:r>
              <a:t>sixty generated images, against a floor of ninety five. So both operating</a:t>
            </a:r>
          </a:p>
          <a:p>
            <a:r>
              <a:t>criteria are met."</a:t>
            </a:r>
          </a:p>
          <a:p/>
          <a:p>
            <a:r>
              <a:t>"And the third number is the interesting one. Mahalanobis separates the two</a:t>
            </a:r>
          </a:p>
          <a:p>
            <a:r>
              <a:t>populations perfectly, AUROC of one point zero zero zero. Energy, computed from</a:t>
            </a:r>
          </a:p>
          <a:p>
            <a:r>
              <a:t>the logits of the very same forward pass, reaches zero point five three nine.</a:t>
            </a:r>
          </a:p>
          <a:p>
            <a:r>
              <a:t>That is essentially a coin flip."</a:t>
            </a:r>
          </a:p>
          <a:p/>
          <a:p>
            <a:r>
              <a:t>Explain why, this is the insight:</a:t>
            </a:r>
          </a:p>
          <a:p>
            <a:r>
              <a:t>"Energy is a function of the logits. If a model produces large logits for</a:t>
            </a:r>
          </a:p>
          <a:p>
            <a:r>
              <a:t>inputs it has never seen, and that is precisely the documented overconfidence,</a:t>
            </a:r>
          </a:p>
          <a:p>
            <a:r>
              <a:t>then energy has nothing to work with. Mahalanobis operates before that</a:t>
            </a:r>
          </a:p>
          <a:p>
            <a:r>
              <a:t>collapse, in the feature space, where the input still looks unfamiliar."</a:t>
            </a:r>
          </a:p>
          <a:p/>
          <a:p>
            <a:r>
              <a:t>"The practical lesson is that which signal works has to be measured on your own</a:t>
            </a:r>
          </a:p>
          <a:p>
            <a:r>
              <a:t>model, not adopted from a paper. If I had taken energy on authority, I would</a:t>
            </a:r>
          </a:p>
          <a:p>
            <a:r>
              <a:t>have shipped a safeguard that does not work."</a:t>
            </a:r>
          </a:p>
          <a:p/>
          <a:p>
            <a:r>
              <a:t>Now state the limitation before they do:</a:t>
            </a:r>
          </a:p>
          <a:p>
            <a:r>
              <a:t>"I want to be explicit about what that AUROC of one point zero zero zero is</a:t>
            </a:r>
          </a:p>
          <a:p>
            <a:r>
              <a:t>against. Sixty generated images: uniform noise, smooth gradients and solid</a:t>
            </a:r>
          </a:p>
          <a:p>
            <a:r>
              <a:t>colour blocks, from a fixed seed. That is a far regime sanity check. It is not</a:t>
            </a:r>
          </a:p>
          <a:p>
            <a:r>
              <a:t>validation against real photographs, and it is not the near regime, a genuine</a:t>
            </a:r>
          </a:p>
          <a:p>
            <a:r>
              <a:t>chest X-ray of a condition the model was never trained on. That case is</a:t>
            </a:r>
          </a:p>
          <a:p>
            <a:r>
              <a:t>completely untested, and it is the first item in my future work."</a:t>
            </a:r>
          </a:p>
          <a:p/>
          <a:p>
            <a:r>
              <a:t>Delivery:</a:t>
            </a:r>
          </a:p>
          <a:p>
            <a:r>
              <a:t>- Say the limitation in your own voice before the panel asks. If they have to</a:t>
            </a:r>
          </a:p>
          <a:p>
            <a:r>
              <a:t>  drag it out of you it reads as a weakness; if you volunteer it, it reads as</a:t>
            </a:r>
          </a:p>
          <a:p>
            <a:r>
              <a:t>  judgement.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[17:00 - 18:30]  CONCLUSION</a:t>
            </a:r>
          </a:p>
          <a:p/>
          <a:p>
            <a:r>
              <a:t>Say:</a:t>
            </a:r>
          </a:p>
          <a:p>
            <a:r>
              <a:t>"To close. This thesis addressed the gap between a chest X-ray classifier that</a:t>
            </a:r>
          </a:p>
          <a:p>
            <a:r>
              <a:t>is accurate and one that is safe to deploy."</a:t>
            </a:r>
          </a:p>
          <a:p/>
          <a:p>
            <a:r>
              <a:t>"Three things are new here."</a:t>
            </a:r>
          </a:p>
          <a:p/>
          <a:p>
            <a:r>
              <a:t>"A four class explainable framework in which a post hoc safeguard, fitted</a:t>
            </a:r>
          </a:p>
          <a:p>
            <a:r>
              <a:t>without any retraining, withholds the diagnosis for inputs the model cannot</a:t>
            </a:r>
          </a:p>
          <a:p>
            <a:r>
              <a:t>assess and states why."</a:t>
            </a:r>
          </a:p>
          <a:p/>
          <a:p>
            <a:r>
              <a:t>"An explanation restricted to the lung fields whose localisation is measured on</a:t>
            </a:r>
          </a:p>
          <a:p>
            <a:r>
              <a:t>the unmasked map and disclosed for every scan, so the user is told how far to</a:t>
            </a:r>
          </a:p>
          <a:p>
            <a:r>
              <a:t>trust it."</a:t>
            </a:r>
          </a:p>
          <a:p/>
          <a:p>
            <a:r>
              <a:t>"And evidence rather than a new architecture. A per class characterisation of</a:t>
            </a:r>
          </a:p>
          <a:p>
            <a:r>
              <a:t>the four class task, and established detection methods carried into a clinical</a:t>
            </a:r>
          </a:p>
          <a:p>
            <a:r>
              <a:t>setting where they are actually evaluated, and where one of them fails."</a:t>
            </a:r>
          </a:p>
          <a:p/>
          <a:p>
            <a:r>
              <a:t>"The practical value is in the safeguard rather than the classifier, because it</a:t>
            </a:r>
          </a:p>
          <a:p>
            <a:r>
              <a:t>applies to a model that is already trained and already deployed. The whole</a:t>
            </a:r>
          </a:p>
          <a:p>
            <a:r>
              <a:t>thing is delivered as a working four role platform, and all ten system test</a:t>
            </a:r>
          </a:p>
          <a:p>
            <a:r>
              <a:t>cases passed against the running stack."</a:t>
            </a:r>
          </a:p>
          <a:p/>
          <a:p>
            <a:r>
              <a:t>Bounded claim, say it in these words:</a:t>
            </a:r>
          </a:p>
          <a:p>
            <a:r>
              <a:t>"What the evidence supports is supervised screening and triage support on</a:t>
            </a:r>
          </a:p>
          <a:p>
            <a:r>
              <a:t>frontal radiographs of the kind it was calibrated on. What it does not support</a:t>
            </a:r>
          </a:p>
          <a:p>
            <a:r>
              <a:t>is an autonomous diagnostic instrument. The binding constraint is the</a:t>
            </a:r>
          </a:p>
          <a:p>
            <a:r>
              <a:t>evaluation, not the accuracy: one curated dataset, a file level split, and a</a:t>
            </a:r>
          </a:p>
          <a:p>
            <a:r>
              <a:t>synthetic probe."</a:t>
            </a:r>
          </a:p>
          <a:p/>
          <a:p>
            <a:r>
              <a:t>"Future work, in priority order: evaluation against the near regime with</a:t>
            </a:r>
          </a:p>
          <a:p>
            <a:r>
              <a:t>genuine radiographs of untrained conditions and real photographs; external</a:t>
            </a:r>
          </a:p>
          <a:p>
            <a:r>
              <a:t>validation at a second institution; a patient level split; seed replication;</a:t>
            </a:r>
          </a:p>
          <a:p>
            <a:r>
              <a:t>and a corrected EfficientNetV2S run."</a:t>
            </a:r>
          </a:p>
          <a:p/>
          <a:p>
            <a:r>
              <a:t>"Thank you. I am happy to take questions."</a:t>
            </a:r>
          </a:p>
          <a:p/>
          <a:p>
            <a:r>
              <a:t>Delivery:</a:t>
            </a:r>
          </a:p>
          <a:p>
            <a:r>
              <a:t>- Finish on the bounded claim, not on the accuracy number. That is the</a:t>
            </a:r>
          </a:p>
          <a:p>
            <a:r>
              <a:t>  sentence that shows you understand what your own work does and does not mean.</a:t>
            </a:r>
          </a:p>
          <a:p>
            <a:r>
              <a:t>- Keep the future work list to five short items, do not elaborate.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82880"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818120" y="0"/>
            <a:ext cx="4370832" cy="685800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result_gradcam.png"/>
          <p:cNvPicPr>
            <a:picLocks noChangeAspect="1"/>
          </p:cNvPicPr>
          <p:nvPr/>
        </p:nvPicPr>
        <p:blipFill>
          <a:blip r:embed="rId2"/>
          <a:stretch>
            <a:fillRect/>
          </a:stretch>
        </p:blipFill>
        <p:spPr>
          <a:xfrm>
            <a:off x="7818120" y="2351193"/>
            <a:ext cx="4370832" cy="2155614"/>
          </a:xfrm>
          <a:prstGeom prst="rect">
            <a:avLst/>
          </a:prstGeom>
          <a:effectLst/>
        </p:spPr>
      </p:pic>
      <p:pic>
        <p:nvPicPr>
          <p:cNvPr id="6" name="Picture 5" descr="nsbm_logo.png"/>
          <p:cNvPicPr>
            <a:picLocks noChangeAspect="1"/>
          </p:cNvPicPr>
          <p:nvPr/>
        </p:nvPicPr>
        <p:blipFill>
          <a:blip r:embed="rId3"/>
          <a:stretch>
            <a:fillRect/>
          </a:stretch>
        </p:blipFill>
        <p:spPr>
          <a:xfrm>
            <a:off x="1081061" y="475488"/>
            <a:ext cx="1266878" cy="566928"/>
          </a:xfrm>
          <a:prstGeom prst="rect">
            <a:avLst/>
          </a:prstGeom>
          <a:effectLst/>
        </p:spPr>
      </p:pic>
      <p:sp>
        <p:nvSpPr>
          <p:cNvPr id="7" name="TextBox 6"/>
          <p:cNvSpPr txBox="1"/>
          <p:nvPr/>
        </p:nvSpPr>
        <p:spPr>
          <a:xfrm>
            <a:off x="914400" y="1207008"/>
            <a:ext cx="6583680" cy="274320"/>
          </a:xfrm>
          <a:prstGeom prst="rect">
            <a:avLst/>
          </a:prstGeom>
          <a:noFill/>
        </p:spPr>
        <p:txBody>
          <a:bodyPr wrap="square" anchor="t" lIns="0" rIns="0" tIns="0" bIns="0">
            <a:spAutoFit/>
          </a:bodyPr>
          <a:lstStyle/>
          <a:p>
            <a:pPr algn="l">
              <a:lnSpc>
                <a:spcPct val="118000"/>
              </a:lnSpc>
              <a:spcAft>
                <a:spcPts val="600"/>
              </a:spcAft>
            </a:pPr>
            <a:r>
              <a:rPr sz="1100" b="1" i="0">
                <a:solidFill>
                  <a:srgbClr val="7FC3D8"/>
                </a:solidFill>
                <a:latin typeface="Segoe UI"/>
              </a:rPr>
              <a:t>BSc (Hons) COMPUTER SCIENCE  ·  FINAL YEAR RESEARCH PROJECT</a:t>
            </a:r>
          </a:p>
        </p:txBody>
      </p:sp>
      <p:sp>
        <p:nvSpPr>
          <p:cNvPr id="8" name="TextBox 7"/>
          <p:cNvSpPr txBox="1"/>
          <p:nvPr/>
        </p:nvSpPr>
        <p:spPr>
          <a:xfrm>
            <a:off x="914400" y="1700784"/>
            <a:ext cx="6583680" cy="2377440"/>
          </a:xfrm>
          <a:prstGeom prst="rect">
            <a:avLst/>
          </a:prstGeom>
          <a:noFill/>
        </p:spPr>
        <p:txBody>
          <a:bodyPr wrap="square" anchor="t" lIns="0" rIns="0" tIns="0" bIns="0">
            <a:spAutoFit/>
          </a:bodyPr>
          <a:lstStyle/>
          <a:p>
            <a:pPr algn="l">
              <a:lnSpc>
                <a:spcPct val="110000"/>
              </a:lnSpc>
              <a:spcAft>
                <a:spcPts val="600"/>
              </a:spcAft>
            </a:pPr>
            <a:r>
              <a:rPr sz="2900" b="1" i="0">
                <a:solidFill>
                  <a:srgbClr val="FFFFFF"/>
                </a:solidFill>
                <a:latin typeface="Segoe UI"/>
              </a:rPr>
              <a:t>Explainable Deep Learning Framework for Pneumonia Detection and Classification Using Transfer Learning and Grad-CAM</a:t>
            </a:r>
          </a:p>
        </p:txBody>
      </p:sp>
      <p:sp>
        <p:nvSpPr>
          <p:cNvPr id="9" name="Rectangle 8"/>
          <p:cNvSpPr/>
          <p:nvPr/>
        </p:nvSpPr>
        <p:spPr>
          <a:xfrm>
            <a:off x="914400" y="4133087"/>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443984"/>
            <a:ext cx="6583680" cy="1280160"/>
          </a:xfrm>
          <a:prstGeom prst="rect">
            <a:avLst/>
          </a:prstGeom>
          <a:noFill/>
        </p:spPr>
        <p:txBody>
          <a:bodyPr wrap="square" anchor="t" lIns="0" rIns="0" tIns="0" bIns="0">
            <a:spAutoFit/>
          </a:bodyPr>
          <a:lstStyle/>
          <a:p>
            <a:pPr algn="l">
              <a:lnSpc>
                <a:spcPct val="118000"/>
              </a:lnSpc>
              <a:spcAft>
                <a:spcPts val="300"/>
              </a:spcAft>
            </a:pPr>
            <a:r>
              <a:rPr sz="1700" b="1" i="0">
                <a:solidFill>
                  <a:srgbClr val="FFFFFF"/>
                </a:solidFill>
                <a:latin typeface="Segoe UI"/>
              </a:rPr>
              <a:t>G. C. M. Sewwandi</a:t>
            </a:r>
          </a:p>
          <a:p>
            <a:pPr algn="l">
              <a:lnSpc>
                <a:spcPct val="118000"/>
              </a:lnSpc>
              <a:spcAft>
                <a:spcPts val="300"/>
              </a:spcAft>
            </a:pPr>
            <a:r>
              <a:rPr sz="1300" b="0" i="0">
                <a:solidFill>
                  <a:srgbClr val="B8D2E2"/>
                </a:solidFill>
                <a:latin typeface="Segoe UI"/>
              </a:rPr>
              <a:t>Student ID 29002</a:t>
            </a:r>
          </a:p>
          <a:p>
            <a:pPr algn="l">
              <a:lnSpc>
                <a:spcPct val="118000"/>
              </a:lnSpc>
              <a:spcAft>
                <a:spcPts val="300"/>
              </a:spcAft>
            </a:pPr>
            <a:r>
              <a:rPr sz="1200" b="0" i="0">
                <a:solidFill>
                  <a:srgbClr val="8FB2C8"/>
                </a:solidFill>
                <a:latin typeface="Segoe UI"/>
              </a:rPr>
              <a:t>Department of Computer and Data Science  ·  Faculty of Computing</a:t>
            </a:r>
          </a:p>
          <a:p>
            <a:pPr algn="l">
              <a:lnSpc>
                <a:spcPct val="118000"/>
              </a:lnSpc>
              <a:spcAft>
                <a:spcPts val="300"/>
              </a:spcAft>
            </a:pPr>
            <a:r>
              <a:rPr sz="1200" b="0" i="0">
                <a:solidFill>
                  <a:srgbClr val="8FB2C8"/>
                </a:solidFill>
                <a:latin typeface="Segoe UI"/>
              </a:rPr>
              <a:t>NSBM Green University, Homagama, Sri Lanka  ·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PROBLEM STATEMENT</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Two deficiencies persist across the reported systems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a:t>
            </a:r>
          </a:p>
        </p:txBody>
      </p:sp>
      <p:sp>
        <p:nvSpPr>
          <p:cNvPr id="8" name="Rounded Rectangle 7"/>
          <p:cNvSpPr/>
          <p:nvPr/>
        </p:nvSpPr>
        <p:spPr>
          <a:xfrm>
            <a:off x="658368" y="1572768"/>
            <a:ext cx="5300319" cy="29260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2926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755648"/>
            <a:ext cx="478825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General problem  ·  trust tracks confidence, not reliability</a:t>
            </a:r>
          </a:p>
        </p:txBody>
      </p:sp>
      <p:sp>
        <p:nvSpPr>
          <p:cNvPr id="11" name="Rounded Rectangle 10"/>
          <p:cNvSpPr/>
          <p:nvPr/>
        </p:nvSpPr>
        <p:spPr>
          <a:xfrm>
            <a:off x="91440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3856" y="2121408"/>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Automated support is trusted in proportion to how confident it appears rather than how reliable it is.</a:t>
            </a:r>
          </a:p>
        </p:txBody>
      </p:sp>
      <p:sp>
        <p:nvSpPr>
          <p:cNvPr id="13" name="Rounded Rectangle 12"/>
          <p:cNvSpPr/>
          <p:nvPr/>
        </p:nvSpPr>
        <p:spPr>
          <a:xfrm>
            <a:off x="914400" y="27330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33856" y="2655316"/>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Networks are confidently wrong, and calibration does not fix it.</a:t>
            </a:r>
          </a:p>
        </p:txBody>
      </p:sp>
      <p:sp>
        <p:nvSpPr>
          <p:cNvPr id="15" name="Rounded Rectangle 14"/>
          <p:cNvSpPr/>
          <p:nvPr/>
        </p:nvSpPr>
        <p:spPr>
          <a:xfrm>
            <a:off x="914400" y="326694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33856" y="3189224"/>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The consequence is a system that transfers risk to the patient while appearing to reduce it.</a:t>
            </a:r>
          </a:p>
        </p:txBody>
      </p:sp>
      <p:sp>
        <p:nvSpPr>
          <p:cNvPr id="17" name="Rounded Rectangle 16"/>
          <p:cNvSpPr/>
          <p:nvPr/>
        </p:nvSpPr>
        <p:spPr>
          <a:xfrm>
            <a:off x="6233007" y="1572768"/>
            <a:ext cx="5300319" cy="29260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33007" y="1572768"/>
            <a:ext cx="40640" cy="2926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89039" y="1755648"/>
            <a:ext cx="478825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Specific problem  ·  granularity and the closed world</a:t>
            </a:r>
          </a:p>
        </p:txBody>
      </p:sp>
      <p:sp>
        <p:nvSpPr>
          <p:cNvPr id="20" name="Rounded Rectangle 19"/>
          <p:cNvSpPr/>
          <p:nvPr/>
        </p:nvSpPr>
        <p:spPr>
          <a:xfrm>
            <a:off x="6489039"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08495" y="2121408"/>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Most published chest radiograph systems are binary, so they cannot support the antibiotic decision.</a:t>
            </a:r>
          </a:p>
        </p:txBody>
      </p:sp>
      <p:sp>
        <p:nvSpPr>
          <p:cNvPr id="22" name="Rounded Rectangle 21"/>
          <p:cNvSpPr/>
          <p:nvPr/>
        </p:nvSpPr>
        <p:spPr>
          <a:xfrm>
            <a:off x="6489039" y="27330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08495" y="2655316"/>
            <a:ext cx="4568799" cy="663702"/>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Softmax is closed world: a photograph, or a radiograph of an untrained condition, still returns a confident diagnosis.</a:t>
            </a:r>
          </a:p>
        </p:txBody>
      </p:sp>
      <p:sp>
        <p:nvSpPr>
          <p:cNvPr id="24" name="Rounded Rectangle 23"/>
          <p:cNvSpPr/>
          <p:nvPr/>
        </p:nvSpPr>
        <p:spPr>
          <a:xfrm>
            <a:off x="6489039" y="348818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08495" y="3410458"/>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Post hoc detection methods are mature, yet none has been carried into an evaluated chest radiograph system.</a:t>
            </a:r>
          </a:p>
        </p:txBody>
      </p:sp>
      <p:sp>
        <p:nvSpPr>
          <p:cNvPr id="26" name="Rounded Rectangle 25"/>
          <p:cNvSpPr/>
          <p:nvPr/>
        </p:nvSpPr>
        <p:spPr>
          <a:xfrm>
            <a:off x="658368" y="4718304"/>
            <a:ext cx="10874959" cy="96012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58368" y="4718304"/>
            <a:ext cx="40640" cy="96012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6112" y="4837176"/>
            <a:ext cx="10372039" cy="722376"/>
          </a:xfrm>
          <a:prstGeom prst="rect">
            <a:avLst/>
          </a:prstGeom>
          <a:noFill/>
        </p:spPr>
        <p:txBody>
          <a:bodyPr wrap="square" anchor="t" lIns="0" rIns="0" tIns="0" bIns="0">
            <a:spAutoFit/>
          </a:bodyPr>
          <a:lstStyle/>
          <a:p>
            <a:pPr algn="l">
              <a:lnSpc>
                <a:spcPct val="118000"/>
              </a:lnSpc>
              <a:spcAft>
                <a:spcPts val="300"/>
              </a:spcAft>
            </a:pPr>
            <a:r>
              <a:rPr sz="1250" b="1" i="0">
                <a:solidFill>
                  <a:srgbClr val="0E5A72"/>
                </a:solidFill>
                <a:latin typeface="Segoe UI"/>
              </a:rPr>
              <a:t>The property this project is built around</a:t>
            </a:r>
          </a:p>
          <a:p>
            <a:pPr algn="l">
              <a:lnSpc>
                <a:spcPct val="118000"/>
              </a:lnSpc>
              <a:spcAft>
                <a:spcPts val="300"/>
              </a:spcAft>
            </a:pPr>
            <a:r>
              <a:rPr sz="1150" b="0" i="0">
                <a:solidFill>
                  <a:srgbClr val="0E5A72"/>
                </a:solidFill>
                <a:latin typeface="Segoe UI"/>
              </a:rPr>
              <a:t>Softmax redistributes probability across the classes it was trained on, for every input it is ever shown. It expresses relative preference among those classes and never the absence of evidence for all of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WHAT THE STUDY ASKS</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Research question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a:t>
            </a:r>
          </a:p>
        </p:txBody>
      </p:sp>
      <p:sp>
        <p:nvSpPr>
          <p:cNvPr id="8" name="Rounded Rectangle 7"/>
          <p:cNvSpPr/>
          <p:nvPr/>
        </p:nvSpPr>
        <p:spPr>
          <a:xfrm>
            <a:off x="658368" y="1572768"/>
            <a:ext cx="10874959" cy="1298448"/>
          </a:xfrm>
          <a:prstGeom prst="roundRect">
            <a:avLst>
              <a:gd name="adj" fmla="val 5000"/>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572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9264" y="1755648"/>
            <a:ext cx="10234879" cy="1005840"/>
          </a:xfrm>
          <a:prstGeom prst="rect">
            <a:avLst/>
          </a:prstGeom>
          <a:noFill/>
        </p:spPr>
        <p:txBody>
          <a:bodyPr wrap="square" anchor="t" lIns="0" rIns="0" tIns="0" bIns="0">
            <a:spAutoFit/>
          </a:bodyPr>
          <a:lstStyle/>
          <a:p>
            <a:pPr algn="l">
              <a:lnSpc>
                <a:spcPct val="122000"/>
              </a:lnSpc>
              <a:spcAft>
                <a:spcPts val="600"/>
              </a:spcAft>
            </a:pPr>
            <a:r>
              <a:rPr sz="1600" b="0" i="0">
                <a:solidFill>
                  <a:srgbClr val="FFFFFF"/>
                </a:solidFill>
                <a:latin typeface="Segoe UI"/>
              </a:rPr>
              <a:t>To what extent can a post hoc and explainable framework that is aware of out of distribution inputs improve the clinical safety of automated four class pneumonia classification from chest radiographs, without retraining the underlying classifier?</a:t>
            </a:r>
          </a:p>
        </p:txBody>
      </p:sp>
      <p:sp>
        <p:nvSpPr>
          <p:cNvPr id="11" name="Rounded Rectangle 10"/>
          <p:cNvSpPr/>
          <p:nvPr/>
        </p:nvSpPr>
        <p:spPr>
          <a:xfrm>
            <a:off x="658368" y="3200400"/>
            <a:ext cx="3466490" cy="248716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3200400"/>
            <a:ext cx="3466490" cy="45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 y="3419856"/>
            <a:ext cx="3009290" cy="274320"/>
          </a:xfrm>
          <a:prstGeom prst="rect">
            <a:avLst/>
          </a:prstGeom>
          <a:noFill/>
        </p:spPr>
        <p:txBody>
          <a:bodyPr wrap="square" anchor="t" lIns="0" rIns="0" tIns="0" bIns="0">
            <a:spAutoFit/>
          </a:bodyPr>
          <a:lstStyle/>
          <a:p>
            <a:pPr algn="l">
              <a:lnSpc>
                <a:spcPct val="118000"/>
              </a:lnSpc>
              <a:spcAft>
                <a:spcPts val="600"/>
              </a:spcAft>
            </a:pPr>
            <a:r>
              <a:rPr sz="1500" b="1" i="0">
                <a:solidFill>
                  <a:srgbClr val="147D9B"/>
                </a:solidFill>
                <a:latin typeface="Segoe UI"/>
              </a:rPr>
              <a:t>RQ1</a:t>
            </a:r>
          </a:p>
        </p:txBody>
      </p:sp>
      <p:sp>
        <p:nvSpPr>
          <p:cNvPr id="14" name="TextBox 13"/>
          <p:cNvSpPr txBox="1"/>
          <p:nvPr/>
        </p:nvSpPr>
        <p:spPr>
          <a:xfrm>
            <a:off x="896112" y="3749040"/>
            <a:ext cx="3009290" cy="310896"/>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Performance and error structure</a:t>
            </a:r>
          </a:p>
        </p:txBody>
      </p:sp>
      <p:sp>
        <p:nvSpPr>
          <p:cNvPr id="15" name="TextBox 14"/>
          <p:cNvSpPr txBox="1"/>
          <p:nvPr/>
        </p:nvSpPr>
        <p:spPr>
          <a:xfrm>
            <a:off x="896112" y="4133088"/>
            <a:ext cx="3009290" cy="137160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What classification performance, and what per class error structure, do DenseNet121, EfficientNetV2B3 and EfficientNetV2S achieve under a common dataset and split?</a:t>
            </a:r>
          </a:p>
        </p:txBody>
      </p:sp>
      <p:sp>
        <p:nvSpPr>
          <p:cNvPr id="16" name="Rounded Rectangle 15"/>
          <p:cNvSpPr/>
          <p:nvPr/>
        </p:nvSpPr>
        <p:spPr>
          <a:xfrm>
            <a:off x="4362602" y="3200400"/>
            <a:ext cx="3466490" cy="248716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62602" y="3200400"/>
            <a:ext cx="3466490" cy="45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00346" y="3419856"/>
            <a:ext cx="3009290" cy="274320"/>
          </a:xfrm>
          <a:prstGeom prst="rect">
            <a:avLst/>
          </a:prstGeom>
          <a:noFill/>
        </p:spPr>
        <p:txBody>
          <a:bodyPr wrap="square" anchor="t" lIns="0" rIns="0" tIns="0" bIns="0">
            <a:spAutoFit/>
          </a:bodyPr>
          <a:lstStyle/>
          <a:p>
            <a:pPr algn="l">
              <a:lnSpc>
                <a:spcPct val="118000"/>
              </a:lnSpc>
              <a:spcAft>
                <a:spcPts val="600"/>
              </a:spcAft>
            </a:pPr>
            <a:r>
              <a:rPr sz="1500" b="1" i="0">
                <a:solidFill>
                  <a:srgbClr val="147D9B"/>
                </a:solidFill>
                <a:latin typeface="Segoe UI"/>
              </a:rPr>
              <a:t>RQ2</a:t>
            </a:r>
          </a:p>
        </p:txBody>
      </p:sp>
      <p:sp>
        <p:nvSpPr>
          <p:cNvPr id="19" name="TextBox 18"/>
          <p:cNvSpPr txBox="1"/>
          <p:nvPr/>
        </p:nvSpPr>
        <p:spPr>
          <a:xfrm>
            <a:off x="4600346" y="3749040"/>
            <a:ext cx="3009290" cy="310896"/>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Input validity</a:t>
            </a:r>
          </a:p>
        </p:txBody>
      </p:sp>
      <p:sp>
        <p:nvSpPr>
          <p:cNvPr id="20" name="TextBox 19"/>
          <p:cNvSpPr txBox="1"/>
          <p:nvPr/>
        </p:nvSpPr>
        <p:spPr>
          <a:xfrm>
            <a:off x="4600346" y="4133088"/>
            <a:ext cx="3009290" cy="137160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Can inference time signals from an already trained classifier detect out of distribution inputs reliably enough to justify withholding a diagnosis, and at what cost to genuine scans?</a:t>
            </a:r>
          </a:p>
        </p:txBody>
      </p:sp>
      <p:sp>
        <p:nvSpPr>
          <p:cNvPr id="21" name="Rounded Rectangle 20"/>
          <p:cNvSpPr/>
          <p:nvPr/>
        </p:nvSpPr>
        <p:spPr>
          <a:xfrm>
            <a:off x="8066836" y="3200400"/>
            <a:ext cx="3466490" cy="248716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066836" y="3200400"/>
            <a:ext cx="3466490" cy="45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4580" y="3419856"/>
            <a:ext cx="3009290" cy="274320"/>
          </a:xfrm>
          <a:prstGeom prst="rect">
            <a:avLst/>
          </a:prstGeom>
          <a:noFill/>
        </p:spPr>
        <p:txBody>
          <a:bodyPr wrap="square" anchor="t" lIns="0" rIns="0" tIns="0" bIns="0">
            <a:spAutoFit/>
          </a:bodyPr>
          <a:lstStyle/>
          <a:p>
            <a:pPr algn="l">
              <a:lnSpc>
                <a:spcPct val="118000"/>
              </a:lnSpc>
              <a:spcAft>
                <a:spcPts val="600"/>
              </a:spcAft>
            </a:pPr>
            <a:r>
              <a:rPr sz="1500" b="1" i="0">
                <a:solidFill>
                  <a:srgbClr val="147D9B"/>
                </a:solidFill>
                <a:latin typeface="Segoe UI"/>
              </a:rPr>
              <a:t>RQ3</a:t>
            </a:r>
          </a:p>
        </p:txBody>
      </p:sp>
      <p:sp>
        <p:nvSpPr>
          <p:cNvPr id="24" name="TextBox 23"/>
          <p:cNvSpPr txBox="1"/>
          <p:nvPr/>
        </p:nvSpPr>
        <p:spPr>
          <a:xfrm>
            <a:off x="8304580" y="3749040"/>
            <a:ext cx="3009290" cy="310896"/>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Explanation localisation</a:t>
            </a:r>
          </a:p>
        </p:txBody>
      </p:sp>
      <p:sp>
        <p:nvSpPr>
          <p:cNvPr id="25" name="TextBox 24"/>
          <p:cNvSpPr txBox="1"/>
          <p:nvPr/>
        </p:nvSpPr>
        <p:spPr>
          <a:xfrm>
            <a:off x="8304580" y="4133088"/>
            <a:ext cx="3009290" cy="137160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Do the Grad-CAM explanations fall on the lung fields and on the regions clinically associated with each class?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METHODOLOGY</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Research design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4</a:t>
            </a:r>
          </a:p>
        </p:txBody>
      </p:sp>
      <p:sp>
        <p:nvSpPr>
          <p:cNvPr id="8" name="Rounded Rectangle 7"/>
          <p:cNvSpPr/>
          <p:nvPr/>
        </p:nvSpPr>
        <p:spPr>
          <a:xfrm>
            <a:off x="658368" y="1572768"/>
            <a:ext cx="10874959" cy="118872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1755648"/>
            <a:ext cx="2194560" cy="256032"/>
          </a:xfrm>
          <a:prstGeom prst="rect">
            <a:avLst/>
          </a:prstGeom>
          <a:noFill/>
        </p:spPr>
        <p:txBody>
          <a:bodyPr wrap="square" anchor="t" lIns="0" rIns="0" tIns="0" bIns="0">
            <a:spAutoFit/>
          </a:bodyPr>
          <a:lstStyle/>
          <a:p>
            <a:pPr algn="l">
              <a:lnSpc>
                <a:spcPct val="118000"/>
              </a:lnSpc>
              <a:spcAft>
                <a:spcPts val="600"/>
              </a:spcAft>
            </a:pPr>
            <a:r>
              <a:rPr sz="1000" b="1" i="0">
                <a:solidFill>
                  <a:srgbClr val="147D9B"/>
                </a:solidFill>
                <a:latin typeface="Segoe UI"/>
              </a:rPr>
              <a:t>PARADIGM</a:t>
            </a:r>
          </a:p>
        </p:txBody>
      </p:sp>
      <p:sp>
        <p:nvSpPr>
          <p:cNvPr id="11" name="TextBox 10"/>
          <p:cNvSpPr txBox="1"/>
          <p:nvPr/>
        </p:nvSpPr>
        <p:spPr>
          <a:xfrm>
            <a:off x="932688" y="2029968"/>
            <a:ext cx="2651760" cy="329184"/>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Post positivist</a:t>
            </a:r>
          </a:p>
        </p:txBody>
      </p:sp>
      <p:sp>
        <p:nvSpPr>
          <p:cNvPr id="12" name="TextBox 11"/>
          <p:cNvSpPr txBox="1"/>
          <p:nvPr/>
        </p:nvSpPr>
        <p:spPr>
          <a:xfrm>
            <a:off x="3904488" y="1773936"/>
            <a:ext cx="7308799" cy="914400"/>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Accuracy, recall, AUROC and in lung attention are objective quantities that can be estimated but not known exactly. Every measurement is reported with its sample size, and a disconfirming result is reported in the same terms as a confirming one.</a:t>
            </a:r>
          </a:p>
        </p:txBody>
      </p:sp>
      <p:sp>
        <p:nvSpPr>
          <p:cNvPr id="13" name="Rounded Rectangle 12"/>
          <p:cNvSpPr/>
          <p:nvPr/>
        </p:nvSpPr>
        <p:spPr>
          <a:xfrm>
            <a:off x="658368" y="2926080"/>
            <a:ext cx="10874959" cy="118872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29260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108960"/>
            <a:ext cx="2194560" cy="256032"/>
          </a:xfrm>
          <a:prstGeom prst="rect">
            <a:avLst/>
          </a:prstGeom>
          <a:noFill/>
        </p:spPr>
        <p:txBody>
          <a:bodyPr wrap="square" anchor="t" lIns="0" rIns="0" tIns="0" bIns="0">
            <a:spAutoFit/>
          </a:bodyPr>
          <a:lstStyle/>
          <a:p>
            <a:pPr algn="l">
              <a:lnSpc>
                <a:spcPct val="118000"/>
              </a:lnSpc>
              <a:spcAft>
                <a:spcPts val="600"/>
              </a:spcAft>
            </a:pPr>
            <a:r>
              <a:rPr sz="1000" b="1" i="0">
                <a:solidFill>
                  <a:srgbClr val="147D9B"/>
                </a:solidFill>
                <a:latin typeface="Segoe UI"/>
              </a:rPr>
              <a:t>APPROACH</a:t>
            </a:r>
          </a:p>
        </p:txBody>
      </p:sp>
      <p:sp>
        <p:nvSpPr>
          <p:cNvPr id="16" name="TextBox 15"/>
          <p:cNvSpPr txBox="1"/>
          <p:nvPr/>
        </p:nvSpPr>
        <p:spPr>
          <a:xfrm>
            <a:off x="932688" y="3383280"/>
            <a:ext cx="2651760" cy="329184"/>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Predominantly deductive</a:t>
            </a:r>
          </a:p>
        </p:txBody>
      </p:sp>
      <p:sp>
        <p:nvSpPr>
          <p:cNvPr id="17" name="TextBox 16"/>
          <p:cNvSpPr txBox="1"/>
          <p:nvPr/>
        </p:nvSpPr>
        <p:spPr>
          <a:xfrm>
            <a:off x="3904488" y="3127248"/>
            <a:ext cx="7308799" cy="914400"/>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closed world property of softmax and the feature space method of Lee et al. yield a testable expectation, which was operationalised into thresholds and measured. The inductive element is kept separate.</a:t>
            </a:r>
          </a:p>
        </p:txBody>
      </p:sp>
      <p:sp>
        <p:nvSpPr>
          <p:cNvPr id="18" name="Rounded Rectangle 17"/>
          <p:cNvSpPr/>
          <p:nvPr/>
        </p:nvSpPr>
        <p:spPr>
          <a:xfrm>
            <a:off x="658368" y="4279392"/>
            <a:ext cx="10874959" cy="118872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4279392"/>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462272"/>
            <a:ext cx="2194560" cy="256032"/>
          </a:xfrm>
          <a:prstGeom prst="rect">
            <a:avLst/>
          </a:prstGeom>
          <a:noFill/>
        </p:spPr>
        <p:txBody>
          <a:bodyPr wrap="square" anchor="t" lIns="0" rIns="0" tIns="0" bIns="0">
            <a:spAutoFit/>
          </a:bodyPr>
          <a:lstStyle/>
          <a:p>
            <a:pPr algn="l">
              <a:lnSpc>
                <a:spcPct val="118000"/>
              </a:lnSpc>
              <a:spcAft>
                <a:spcPts val="600"/>
              </a:spcAft>
            </a:pPr>
            <a:r>
              <a:rPr sz="1000" b="1" i="0">
                <a:solidFill>
                  <a:srgbClr val="147D9B"/>
                </a:solidFill>
                <a:latin typeface="Segoe UI"/>
              </a:rPr>
              <a:t>STRATEGY</a:t>
            </a:r>
          </a:p>
        </p:txBody>
      </p:sp>
      <p:sp>
        <p:nvSpPr>
          <p:cNvPr id="21" name="TextBox 20"/>
          <p:cNvSpPr txBox="1"/>
          <p:nvPr/>
        </p:nvSpPr>
        <p:spPr>
          <a:xfrm>
            <a:off x="932688" y="4736592"/>
            <a:ext cx="2651760" cy="329184"/>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Design science</a:t>
            </a:r>
          </a:p>
        </p:txBody>
      </p:sp>
      <p:sp>
        <p:nvSpPr>
          <p:cNvPr id="22" name="TextBox 21"/>
          <p:cNvSpPr txBox="1"/>
          <p:nvPr/>
        </p:nvSpPr>
        <p:spPr>
          <a:xfrm>
            <a:off x="3904488" y="4480560"/>
            <a:ext cx="7308799" cy="914400"/>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question asks to what extent a safeguard can improve safety, and that quantity does not exist until the safeguard has been built. Evaluation within it is experimental.</a:t>
            </a:r>
          </a:p>
        </p:txBody>
      </p:sp>
      <p:sp>
        <p:nvSpPr>
          <p:cNvPr id="23" name="Rounded Rectangle 22"/>
          <p:cNvSpPr/>
          <p:nvPr/>
        </p:nvSpPr>
        <p:spPr>
          <a:xfrm>
            <a:off x="658368" y="5687568"/>
            <a:ext cx="10874959" cy="749808"/>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687568"/>
            <a:ext cx="40640" cy="749808"/>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5806440"/>
            <a:ext cx="10372039" cy="512064"/>
          </a:xfrm>
          <a:prstGeom prst="rect">
            <a:avLst/>
          </a:prstGeom>
          <a:noFill/>
        </p:spPr>
        <p:txBody>
          <a:bodyPr wrap="square" anchor="t" lIns="0" rIns="0" tIns="0" bIns="0">
            <a:spAutoFit/>
          </a:bodyPr>
          <a:lstStyle/>
          <a:p>
            <a:pPr algn="l">
              <a:lnSpc>
                <a:spcPct val="118000"/>
              </a:lnSpc>
              <a:spcAft>
                <a:spcPts val="300"/>
              </a:spcAft>
            </a:pPr>
            <a:r>
              <a:rPr sz="1250" b="1" i="0">
                <a:solidFill>
                  <a:srgbClr val="1B6E52"/>
                </a:solidFill>
                <a:latin typeface="Segoe UI"/>
              </a:rPr>
              <a:t>The freeze point</a:t>
            </a:r>
          </a:p>
          <a:p>
            <a:pPr algn="l">
              <a:lnSpc>
                <a:spcPct val="118000"/>
              </a:lnSpc>
              <a:spcAft>
                <a:spcPts val="300"/>
              </a:spcAft>
            </a:pPr>
            <a:r>
              <a:rPr sz="1150" b="0" i="0">
                <a:solidFill>
                  <a:srgbClr val="1B6E52"/>
                </a:solidFill>
                <a:latin typeface="Segoe UI"/>
              </a:rPr>
              <a:t>Calibration follows model selection and uses only training and validation data. Evaluation follows the freeze, so no result reported later was used to adjust the artefact that produced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DATA</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One stratified split, reused by every model and by calibration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5</a:t>
            </a:r>
          </a:p>
        </p:txBody>
      </p:sp>
      <p:sp>
        <p:nvSpPr>
          <p:cNvPr id="8" name="Rounded Rectangle 7"/>
          <p:cNvSpPr/>
          <p:nvPr/>
        </p:nvSpPr>
        <p:spPr>
          <a:xfrm>
            <a:off x="658368" y="1572768"/>
            <a:ext cx="3490874"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9,209</a:t>
            </a:r>
          </a:p>
        </p:txBody>
      </p:sp>
      <p:sp>
        <p:nvSpPr>
          <p:cNvPr id="11" name="TextBox 10"/>
          <p:cNvSpPr txBox="1"/>
          <p:nvPr/>
        </p:nvSpPr>
        <p:spPr>
          <a:xfrm>
            <a:off x="877824"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RADIOGRAPHS AFTER AUDIT</a:t>
            </a:r>
          </a:p>
        </p:txBody>
      </p:sp>
      <p:sp>
        <p:nvSpPr>
          <p:cNvPr id="12" name="TextBox 11"/>
          <p:cNvSpPr txBox="1"/>
          <p:nvPr/>
        </p:nvSpPr>
        <p:spPr>
          <a:xfrm>
            <a:off x="877824"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duplicate, corrupted and low resolution files removed first</a:t>
            </a:r>
          </a:p>
        </p:txBody>
      </p:sp>
      <p:sp>
        <p:nvSpPr>
          <p:cNvPr id="13" name="Rounded Rectangle 12"/>
          <p:cNvSpPr/>
          <p:nvPr/>
        </p:nvSpPr>
        <p:spPr>
          <a:xfrm>
            <a:off x="4350410" y="1572768"/>
            <a:ext cx="3490874"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50410"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69866"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70 / 15 / 15</a:t>
            </a:r>
          </a:p>
        </p:txBody>
      </p:sp>
      <p:sp>
        <p:nvSpPr>
          <p:cNvPr id="16" name="TextBox 15"/>
          <p:cNvSpPr txBox="1"/>
          <p:nvPr/>
        </p:nvSpPr>
        <p:spPr>
          <a:xfrm>
            <a:off x="4569866"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STRATIFIED SPLIT</a:t>
            </a:r>
          </a:p>
        </p:txBody>
      </p:sp>
      <p:sp>
        <p:nvSpPr>
          <p:cNvPr id="17" name="TextBox 16"/>
          <p:cNvSpPr txBox="1"/>
          <p:nvPr/>
        </p:nvSpPr>
        <p:spPr>
          <a:xfrm>
            <a:off x="4569866"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6,446 train · 1,381 val · 1,382 test</a:t>
            </a:r>
          </a:p>
        </p:txBody>
      </p:sp>
      <p:sp>
        <p:nvSpPr>
          <p:cNvPr id="18" name="Rounded Rectangle 17"/>
          <p:cNvSpPr/>
          <p:nvPr/>
        </p:nvSpPr>
        <p:spPr>
          <a:xfrm>
            <a:off x="8042452" y="1572768"/>
            <a:ext cx="3490874"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2452"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61908"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4</a:t>
            </a:r>
          </a:p>
        </p:txBody>
      </p:sp>
      <p:sp>
        <p:nvSpPr>
          <p:cNvPr id="21" name="TextBox 20"/>
          <p:cNvSpPr txBox="1"/>
          <p:nvPr/>
        </p:nvSpPr>
        <p:spPr>
          <a:xfrm>
            <a:off x="8261908"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CLASSES</a:t>
            </a:r>
          </a:p>
        </p:txBody>
      </p:sp>
      <p:sp>
        <p:nvSpPr>
          <p:cNvPr id="22" name="TextBox 21"/>
          <p:cNvSpPr txBox="1"/>
          <p:nvPr/>
        </p:nvSpPr>
        <p:spPr>
          <a:xfrm>
            <a:off x="8261908"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Normal, COVID-19, bacterial, viral</a:t>
            </a:r>
          </a:p>
        </p:txBody>
      </p:sp>
      <p:graphicFrame>
        <p:nvGraphicFramePr>
          <p:cNvPr id="23" name="Table 22"/>
          <p:cNvGraphicFramePr>
            <a:graphicFrameLocks noGrp="1"/>
          </p:cNvGraphicFramePr>
          <p:nvPr/>
        </p:nvGraphicFramePr>
        <p:xfrm>
          <a:off x="658368" y="3017520"/>
          <a:ext cx="6903717" cy="2176272"/>
        </p:xfrm>
        <a:graphic>
          <a:graphicData uri="http://schemas.openxmlformats.org/drawingml/2006/table">
            <a:tbl>
              <a:tblPr>
                <a:tableStyleId>{5C22544A-7EE6-4342-B048-85BDC9FD1C3A}</a:tableStyleId>
              </a:tblPr>
              <a:tblGrid>
                <a:gridCol w="2347264"/>
                <a:gridCol w="1173632"/>
                <a:gridCol w="1173632"/>
                <a:gridCol w="1242669"/>
                <a:gridCol w="966520"/>
              </a:tblGrid>
              <a:tr h="347472">
                <a:tc>
                  <a:txBody>
                    <a:bodyPr wrap="square"/>
                    <a:lstStyle/>
                    <a:p>
                      <a:pPr algn="l"/>
                      <a:r>
                        <a:rPr sz="1100" b="1">
                          <a:solidFill>
                            <a:srgbClr val="FFFFFF"/>
                          </a:solidFill>
                          <a:latin typeface="Segoe UI"/>
                        </a:rPr>
                        <a:t>Class</a:t>
                      </a:r>
                    </a:p>
                  </a:txBody>
                  <a:tcPr marL="91440" marR="91440" marT="27432" marB="27432" anchor="ctr">
                    <a:solidFill>
                      <a:srgbClr val="0E5A72"/>
                    </a:solidFill>
                  </a:tcPr>
                </a:tc>
                <a:tc>
                  <a:txBody>
                    <a:bodyPr wrap="square"/>
                    <a:lstStyle/>
                    <a:p>
                      <a:pPr algn="r"/>
                      <a:r>
                        <a:rPr sz="1100" b="1">
                          <a:solidFill>
                            <a:srgbClr val="FFFFFF"/>
                          </a:solidFill>
                          <a:latin typeface="Segoe UI"/>
                        </a:rPr>
                        <a:t>Total</a:t>
                      </a:r>
                    </a:p>
                  </a:txBody>
                  <a:tcPr marL="91440" marR="91440" marT="27432" marB="27432" anchor="ctr">
                    <a:solidFill>
                      <a:srgbClr val="0E5A72"/>
                    </a:solidFill>
                  </a:tcPr>
                </a:tc>
                <a:tc>
                  <a:txBody>
                    <a:bodyPr wrap="square"/>
                    <a:lstStyle/>
                    <a:p>
                      <a:pPr algn="r"/>
                      <a:r>
                        <a:rPr sz="1100" b="1">
                          <a:solidFill>
                            <a:srgbClr val="FFFFFF"/>
                          </a:solidFill>
                          <a:latin typeface="Segoe UI"/>
                        </a:rPr>
                        <a:t>Train</a:t>
                      </a:r>
                    </a:p>
                  </a:txBody>
                  <a:tcPr marL="91440" marR="91440" marT="27432" marB="27432" anchor="ctr">
                    <a:solidFill>
                      <a:srgbClr val="0E5A72"/>
                    </a:solidFill>
                  </a:tcPr>
                </a:tc>
                <a:tc>
                  <a:txBody>
                    <a:bodyPr wrap="square"/>
                    <a:lstStyle/>
                    <a:p>
                      <a:pPr algn="r"/>
                      <a:r>
                        <a:rPr sz="1100" b="1">
                          <a:solidFill>
                            <a:srgbClr val="FFFFFF"/>
                          </a:solidFill>
                          <a:latin typeface="Segoe UI"/>
                        </a:rPr>
                        <a:t>Validation</a:t>
                      </a:r>
                    </a:p>
                  </a:txBody>
                  <a:tcPr marL="91440" marR="91440" marT="27432" marB="27432" anchor="ctr">
                    <a:solidFill>
                      <a:srgbClr val="0E5A72"/>
                    </a:solidFill>
                  </a:tcPr>
                </a:tc>
                <a:tc>
                  <a:txBody>
                    <a:bodyPr wrap="square"/>
                    <a:lstStyle/>
                    <a:p>
                      <a:pPr algn="r"/>
                      <a:r>
                        <a:rPr sz="1100" b="1">
                          <a:solidFill>
                            <a:srgbClr val="FFFFFF"/>
                          </a:solidFill>
                          <a:latin typeface="Segoe UI"/>
                        </a:rPr>
                        <a:t>Test</a:t>
                      </a:r>
                    </a:p>
                  </a:txBody>
                  <a:tcPr marL="91440" marR="91440" marT="27432" marB="27432" anchor="ctr">
                    <a:solidFill>
                      <a:srgbClr val="0E5A72"/>
                    </a:solidFill>
                  </a:tcPr>
                </a:tc>
              </a:tr>
              <a:tr h="365760">
                <a:tc>
                  <a:txBody>
                    <a:bodyPr wrap="square"/>
                    <a:lstStyle/>
                    <a:p>
                      <a:pPr algn="l"/>
                      <a:r>
                        <a:rPr sz="1200" b="1">
                          <a:solidFill>
                            <a:srgbClr val="0B2B4A"/>
                          </a:solidFill>
                          <a:latin typeface="Segoe UI"/>
                        </a:rPr>
                        <a:t>COVID-19</a:t>
                      </a:r>
                    </a:p>
                  </a:txBody>
                  <a:tcPr marL="91440" marR="91440" marT="27432" marB="27432" anchor="ctr">
                    <a:solidFill>
                      <a:srgbClr val="FFFFFF"/>
                    </a:solidFill>
                  </a:tcPr>
                </a:tc>
                <a:tc>
                  <a:txBody>
                    <a:bodyPr wrap="square"/>
                    <a:lstStyle/>
                    <a:p>
                      <a:pPr algn="r"/>
                      <a:r>
                        <a:rPr sz="1200" b="0">
                          <a:solidFill>
                            <a:srgbClr val="243B53"/>
                          </a:solidFill>
                          <a:latin typeface="Segoe UI"/>
                        </a:rPr>
                        <a:t>1,281</a:t>
                      </a:r>
                    </a:p>
                  </a:txBody>
                  <a:tcPr marL="91440" marR="91440" marT="27432" marB="27432" anchor="ctr">
                    <a:solidFill>
                      <a:srgbClr val="FFFFFF"/>
                    </a:solidFill>
                  </a:tcPr>
                </a:tc>
                <a:tc>
                  <a:txBody>
                    <a:bodyPr wrap="square"/>
                    <a:lstStyle/>
                    <a:p>
                      <a:pPr algn="r"/>
                      <a:r>
                        <a:rPr sz="1200" b="0">
                          <a:solidFill>
                            <a:srgbClr val="243B53"/>
                          </a:solidFill>
                          <a:latin typeface="Segoe UI"/>
                        </a:rPr>
                        <a:t>897</a:t>
                      </a:r>
                    </a:p>
                  </a:txBody>
                  <a:tcPr marL="91440" marR="91440" marT="27432" marB="27432" anchor="ctr">
                    <a:solidFill>
                      <a:srgbClr val="FFFFFF"/>
                    </a:solidFill>
                  </a:tcPr>
                </a:tc>
                <a:tc>
                  <a:txBody>
                    <a:bodyPr wrap="square"/>
                    <a:lstStyle/>
                    <a:p>
                      <a:pPr algn="r"/>
                      <a:r>
                        <a:rPr sz="1200" b="0">
                          <a:solidFill>
                            <a:srgbClr val="243B53"/>
                          </a:solidFill>
                          <a:latin typeface="Segoe UI"/>
                        </a:rPr>
                        <a:t>192</a:t>
                      </a:r>
                    </a:p>
                  </a:txBody>
                  <a:tcPr marL="91440" marR="91440" marT="27432" marB="27432" anchor="ctr">
                    <a:solidFill>
                      <a:srgbClr val="FFFFFF"/>
                    </a:solidFill>
                  </a:tcPr>
                </a:tc>
                <a:tc>
                  <a:txBody>
                    <a:bodyPr wrap="square"/>
                    <a:lstStyle/>
                    <a:p>
                      <a:pPr algn="r"/>
                      <a:r>
                        <a:rPr sz="1200" b="0">
                          <a:solidFill>
                            <a:srgbClr val="243B53"/>
                          </a:solidFill>
                          <a:latin typeface="Segoe UI"/>
                        </a:rPr>
                        <a:t>192</a:t>
                      </a:r>
                    </a:p>
                  </a:txBody>
                  <a:tcPr marL="91440" marR="91440" marT="27432" marB="27432" anchor="ctr">
                    <a:solidFill>
                      <a:srgbClr val="FFFFFF"/>
                    </a:solidFill>
                  </a:tcPr>
                </a:tc>
              </a:tr>
              <a:tr h="365760">
                <a:tc>
                  <a:txBody>
                    <a:bodyPr wrap="square"/>
                    <a:lstStyle/>
                    <a:p>
                      <a:pPr algn="l"/>
                      <a:r>
                        <a:rPr sz="1200" b="1">
                          <a:solidFill>
                            <a:srgbClr val="0B2B4A"/>
                          </a:solidFill>
                          <a:latin typeface="Segoe UI"/>
                        </a:rPr>
                        <a:t>Normal</a:t>
                      </a:r>
                    </a:p>
                  </a:txBody>
                  <a:tcPr marL="91440" marR="91440" marT="27432" marB="27432" anchor="ctr">
                    <a:solidFill>
                      <a:srgbClr val="F3F8FB"/>
                    </a:solidFill>
                  </a:tcPr>
                </a:tc>
                <a:tc>
                  <a:txBody>
                    <a:bodyPr wrap="square"/>
                    <a:lstStyle/>
                    <a:p>
                      <a:pPr algn="r"/>
                      <a:r>
                        <a:rPr sz="1200" b="0">
                          <a:solidFill>
                            <a:srgbClr val="243B53"/>
                          </a:solidFill>
                          <a:latin typeface="Segoe UI"/>
                        </a:rPr>
                        <a:t>3,271</a:t>
                      </a:r>
                    </a:p>
                  </a:txBody>
                  <a:tcPr marL="91440" marR="91440" marT="27432" marB="27432" anchor="ctr">
                    <a:solidFill>
                      <a:srgbClr val="F3F8FB"/>
                    </a:solidFill>
                  </a:tcPr>
                </a:tc>
                <a:tc>
                  <a:txBody>
                    <a:bodyPr wrap="square"/>
                    <a:lstStyle/>
                    <a:p>
                      <a:pPr algn="r"/>
                      <a:r>
                        <a:rPr sz="1200" b="0">
                          <a:solidFill>
                            <a:srgbClr val="243B53"/>
                          </a:solidFill>
                          <a:latin typeface="Segoe UI"/>
                        </a:rPr>
                        <a:t>2,289</a:t>
                      </a:r>
                    </a:p>
                  </a:txBody>
                  <a:tcPr marL="91440" marR="91440" marT="27432" marB="27432" anchor="ctr">
                    <a:solidFill>
                      <a:srgbClr val="F3F8FB"/>
                    </a:solidFill>
                  </a:tcPr>
                </a:tc>
                <a:tc>
                  <a:txBody>
                    <a:bodyPr wrap="square"/>
                    <a:lstStyle/>
                    <a:p>
                      <a:pPr algn="r"/>
                      <a:r>
                        <a:rPr sz="1200" b="0">
                          <a:solidFill>
                            <a:srgbClr val="243B53"/>
                          </a:solidFill>
                          <a:latin typeface="Segoe UI"/>
                        </a:rPr>
                        <a:t>491</a:t>
                      </a:r>
                    </a:p>
                  </a:txBody>
                  <a:tcPr marL="91440" marR="91440" marT="27432" marB="27432" anchor="ctr">
                    <a:solidFill>
                      <a:srgbClr val="F3F8FB"/>
                    </a:solidFill>
                  </a:tcPr>
                </a:tc>
                <a:tc>
                  <a:txBody>
                    <a:bodyPr wrap="square"/>
                    <a:lstStyle/>
                    <a:p>
                      <a:pPr algn="r"/>
                      <a:r>
                        <a:rPr sz="1200" b="0">
                          <a:solidFill>
                            <a:srgbClr val="243B53"/>
                          </a:solidFill>
                          <a:latin typeface="Segoe UI"/>
                        </a:rPr>
                        <a:t>491</a:t>
                      </a:r>
                    </a:p>
                  </a:txBody>
                  <a:tcPr marL="91440" marR="91440" marT="27432" marB="27432" anchor="ctr">
                    <a:solidFill>
                      <a:srgbClr val="F3F8FB"/>
                    </a:solidFill>
                  </a:tcPr>
                </a:tc>
              </a:tr>
              <a:tr h="365760">
                <a:tc>
                  <a:txBody>
                    <a:bodyPr wrap="square"/>
                    <a:lstStyle/>
                    <a:p>
                      <a:pPr algn="l"/>
                      <a:r>
                        <a:rPr sz="1200" b="1">
                          <a:solidFill>
                            <a:srgbClr val="0B2B4A"/>
                          </a:solidFill>
                          <a:latin typeface="Segoe UI"/>
                        </a:rPr>
                        <a:t>Bacterial pneumonia</a:t>
                      </a:r>
                    </a:p>
                  </a:txBody>
                  <a:tcPr marL="91440" marR="91440" marT="27432" marB="27432" anchor="ctr">
                    <a:solidFill>
                      <a:srgbClr val="FFFFFF"/>
                    </a:solidFill>
                  </a:tcPr>
                </a:tc>
                <a:tc>
                  <a:txBody>
                    <a:bodyPr wrap="square"/>
                    <a:lstStyle/>
                    <a:p>
                      <a:pPr algn="r"/>
                      <a:r>
                        <a:rPr sz="1200" b="0">
                          <a:solidFill>
                            <a:srgbClr val="243B53"/>
                          </a:solidFill>
                          <a:latin typeface="Segoe UI"/>
                        </a:rPr>
                        <a:t>3,001</a:t>
                      </a:r>
                    </a:p>
                  </a:txBody>
                  <a:tcPr marL="91440" marR="91440" marT="27432" marB="27432" anchor="ctr">
                    <a:solidFill>
                      <a:srgbClr val="FFFFFF"/>
                    </a:solidFill>
                  </a:tcPr>
                </a:tc>
                <a:tc>
                  <a:txBody>
                    <a:bodyPr wrap="square"/>
                    <a:lstStyle/>
                    <a:p>
                      <a:pPr algn="r"/>
                      <a:r>
                        <a:rPr sz="1200" b="0">
                          <a:solidFill>
                            <a:srgbClr val="243B53"/>
                          </a:solidFill>
                          <a:latin typeface="Segoe UI"/>
                        </a:rPr>
                        <a:t>2,101</a:t>
                      </a:r>
                    </a:p>
                  </a:txBody>
                  <a:tcPr marL="91440" marR="91440" marT="27432" marB="27432" anchor="ctr">
                    <a:solidFill>
                      <a:srgbClr val="FFFFFF"/>
                    </a:solidFill>
                  </a:tcPr>
                </a:tc>
                <a:tc>
                  <a:txBody>
                    <a:bodyPr wrap="square"/>
                    <a:lstStyle/>
                    <a:p>
                      <a:pPr algn="r"/>
                      <a:r>
                        <a:rPr sz="1200" b="0">
                          <a:solidFill>
                            <a:srgbClr val="243B53"/>
                          </a:solidFill>
                          <a:latin typeface="Segoe UI"/>
                        </a:rPr>
                        <a:t>450</a:t>
                      </a:r>
                    </a:p>
                  </a:txBody>
                  <a:tcPr marL="91440" marR="91440" marT="27432" marB="27432" anchor="ctr">
                    <a:solidFill>
                      <a:srgbClr val="FFFFFF"/>
                    </a:solidFill>
                  </a:tcPr>
                </a:tc>
                <a:tc>
                  <a:txBody>
                    <a:bodyPr wrap="square"/>
                    <a:lstStyle/>
                    <a:p>
                      <a:pPr algn="r"/>
                      <a:r>
                        <a:rPr sz="1200" b="0">
                          <a:solidFill>
                            <a:srgbClr val="243B53"/>
                          </a:solidFill>
                          <a:latin typeface="Segoe UI"/>
                        </a:rPr>
                        <a:t>450</a:t>
                      </a:r>
                    </a:p>
                  </a:txBody>
                  <a:tcPr marL="91440" marR="91440" marT="27432" marB="27432" anchor="ctr">
                    <a:solidFill>
                      <a:srgbClr val="FFFFFF"/>
                    </a:solidFill>
                  </a:tcPr>
                </a:tc>
              </a:tr>
              <a:tr h="365760">
                <a:tc>
                  <a:txBody>
                    <a:bodyPr wrap="square"/>
                    <a:lstStyle/>
                    <a:p>
                      <a:pPr algn="l"/>
                      <a:r>
                        <a:rPr sz="1200" b="1">
                          <a:solidFill>
                            <a:srgbClr val="0B2B4A"/>
                          </a:solidFill>
                          <a:latin typeface="Segoe UI"/>
                        </a:rPr>
                        <a:t>Viral pneumonia</a:t>
                      </a:r>
                    </a:p>
                  </a:txBody>
                  <a:tcPr marL="91440" marR="91440" marT="27432" marB="27432" anchor="ctr">
                    <a:solidFill>
                      <a:srgbClr val="F3F8FB"/>
                    </a:solidFill>
                  </a:tcPr>
                </a:tc>
                <a:tc>
                  <a:txBody>
                    <a:bodyPr wrap="square"/>
                    <a:lstStyle/>
                    <a:p>
                      <a:pPr algn="r"/>
                      <a:r>
                        <a:rPr sz="1200" b="0">
                          <a:solidFill>
                            <a:srgbClr val="243B53"/>
                          </a:solidFill>
                          <a:latin typeface="Segoe UI"/>
                        </a:rPr>
                        <a:t>1,656</a:t>
                      </a:r>
                    </a:p>
                  </a:txBody>
                  <a:tcPr marL="91440" marR="91440" marT="27432" marB="27432" anchor="ctr">
                    <a:solidFill>
                      <a:srgbClr val="F3F8FB"/>
                    </a:solidFill>
                  </a:tcPr>
                </a:tc>
                <a:tc>
                  <a:txBody>
                    <a:bodyPr wrap="square"/>
                    <a:lstStyle/>
                    <a:p>
                      <a:pPr algn="r"/>
                      <a:r>
                        <a:rPr sz="1200" b="0">
                          <a:solidFill>
                            <a:srgbClr val="243B53"/>
                          </a:solidFill>
                          <a:latin typeface="Segoe UI"/>
                        </a:rPr>
                        <a:t>1,159</a:t>
                      </a:r>
                    </a:p>
                  </a:txBody>
                  <a:tcPr marL="91440" marR="91440" marT="27432" marB="27432" anchor="ctr">
                    <a:solidFill>
                      <a:srgbClr val="F3F8FB"/>
                    </a:solidFill>
                  </a:tcPr>
                </a:tc>
                <a:tc>
                  <a:txBody>
                    <a:bodyPr wrap="square"/>
                    <a:lstStyle/>
                    <a:p>
                      <a:pPr algn="r"/>
                      <a:r>
                        <a:rPr sz="1200" b="0">
                          <a:solidFill>
                            <a:srgbClr val="243B53"/>
                          </a:solidFill>
                          <a:latin typeface="Segoe UI"/>
                        </a:rPr>
                        <a:t>248</a:t>
                      </a:r>
                    </a:p>
                  </a:txBody>
                  <a:tcPr marL="91440" marR="91440" marT="27432" marB="27432" anchor="ctr">
                    <a:solidFill>
                      <a:srgbClr val="F3F8FB"/>
                    </a:solidFill>
                  </a:tcPr>
                </a:tc>
                <a:tc>
                  <a:txBody>
                    <a:bodyPr wrap="square"/>
                    <a:lstStyle/>
                    <a:p>
                      <a:pPr algn="r"/>
                      <a:r>
                        <a:rPr sz="1200" b="0">
                          <a:solidFill>
                            <a:srgbClr val="243B53"/>
                          </a:solidFill>
                          <a:latin typeface="Segoe UI"/>
                        </a:rPr>
                        <a:t>249</a:t>
                      </a:r>
                    </a:p>
                  </a:txBody>
                  <a:tcPr marL="91440" marR="91440" marT="27432" marB="27432" anchor="ctr">
                    <a:solidFill>
                      <a:srgbClr val="F3F8FB"/>
                    </a:solidFill>
                  </a:tcPr>
                </a:tc>
              </a:tr>
              <a:tr h="365760">
                <a:tc>
                  <a:txBody>
                    <a:bodyPr wrap="square"/>
                    <a:lstStyle/>
                    <a:p>
                      <a:pPr algn="l"/>
                      <a:r>
                        <a:rPr sz="1200" b="1">
                          <a:solidFill>
                            <a:srgbClr val="0B2B4A"/>
                          </a:solidFill>
                          <a:latin typeface="Segoe UI"/>
                        </a:rPr>
                        <a:t>Total</a:t>
                      </a:r>
                    </a:p>
                  </a:txBody>
                  <a:tcPr marL="91440" marR="91440" marT="27432" marB="27432" anchor="ctr">
                    <a:solidFill>
                      <a:srgbClr val="E6F2F7"/>
                    </a:solidFill>
                  </a:tcPr>
                </a:tc>
                <a:tc>
                  <a:txBody>
                    <a:bodyPr wrap="square"/>
                    <a:lstStyle/>
                    <a:p>
                      <a:pPr algn="r"/>
                      <a:r>
                        <a:rPr sz="1200" b="1">
                          <a:solidFill>
                            <a:srgbClr val="0B2B4A"/>
                          </a:solidFill>
                          <a:latin typeface="Segoe UI"/>
                        </a:rPr>
                        <a:t>9,209</a:t>
                      </a:r>
                    </a:p>
                  </a:txBody>
                  <a:tcPr marL="91440" marR="91440" marT="27432" marB="27432" anchor="ctr">
                    <a:solidFill>
                      <a:srgbClr val="E6F2F7"/>
                    </a:solidFill>
                  </a:tcPr>
                </a:tc>
                <a:tc>
                  <a:txBody>
                    <a:bodyPr wrap="square"/>
                    <a:lstStyle/>
                    <a:p>
                      <a:pPr algn="r"/>
                      <a:r>
                        <a:rPr sz="1200" b="1">
                          <a:solidFill>
                            <a:srgbClr val="0B2B4A"/>
                          </a:solidFill>
                          <a:latin typeface="Segoe UI"/>
                        </a:rPr>
                        <a:t>6,446</a:t>
                      </a:r>
                    </a:p>
                  </a:txBody>
                  <a:tcPr marL="91440" marR="91440" marT="27432" marB="27432" anchor="ctr">
                    <a:solidFill>
                      <a:srgbClr val="E6F2F7"/>
                    </a:solidFill>
                  </a:tcPr>
                </a:tc>
                <a:tc>
                  <a:txBody>
                    <a:bodyPr wrap="square"/>
                    <a:lstStyle/>
                    <a:p>
                      <a:pPr algn="r"/>
                      <a:r>
                        <a:rPr sz="1200" b="1">
                          <a:solidFill>
                            <a:srgbClr val="0B2B4A"/>
                          </a:solidFill>
                          <a:latin typeface="Segoe UI"/>
                        </a:rPr>
                        <a:t>1,381</a:t>
                      </a:r>
                    </a:p>
                  </a:txBody>
                  <a:tcPr marL="91440" marR="91440" marT="27432" marB="27432" anchor="ctr">
                    <a:solidFill>
                      <a:srgbClr val="E6F2F7"/>
                    </a:solidFill>
                  </a:tcPr>
                </a:tc>
                <a:tc>
                  <a:txBody>
                    <a:bodyPr wrap="square"/>
                    <a:lstStyle/>
                    <a:p>
                      <a:pPr algn="r"/>
                      <a:r>
                        <a:rPr sz="1200" b="1">
                          <a:solidFill>
                            <a:srgbClr val="0B2B4A"/>
                          </a:solidFill>
                          <a:latin typeface="Segoe UI"/>
                        </a:rPr>
                        <a:t>1,382</a:t>
                      </a:r>
                    </a:p>
                  </a:txBody>
                  <a:tcPr marL="91440" marR="91440" marT="27432" marB="27432" anchor="ctr">
                    <a:solidFill>
                      <a:srgbClr val="E6F2F7"/>
                    </a:solidFill>
                  </a:tcPr>
                </a:tc>
              </a:tr>
            </a:tbl>
          </a:graphicData>
        </a:graphic>
      </p:graphicFrame>
      <p:sp>
        <p:nvSpPr>
          <p:cNvPr id="24" name="Rounded Rectangle 23"/>
          <p:cNvSpPr/>
          <p:nvPr/>
        </p:nvSpPr>
        <p:spPr>
          <a:xfrm>
            <a:off x="7836408" y="3017520"/>
            <a:ext cx="3694176" cy="2523744"/>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836408" y="3017520"/>
            <a:ext cx="40640" cy="2523744"/>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92440" y="3200400"/>
            <a:ext cx="318211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Design consequences</a:t>
            </a:r>
          </a:p>
        </p:txBody>
      </p:sp>
      <p:sp>
        <p:nvSpPr>
          <p:cNvPr id="27" name="Rounded Rectangle 26"/>
          <p:cNvSpPr/>
          <p:nvPr/>
        </p:nvSpPr>
        <p:spPr>
          <a:xfrm>
            <a:off x="8092440" y="364388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11896" y="3566160"/>
            <a:ext cx="29626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audit precedes the split, because a duplicate spanning a partition boundary is a direct route to leakage.</a:t>
            </a:r>
          </a:p>
        </p:txBody>
      </p:sp>
      <p:sp>
        <p:nvSpPr>
          <p:cNvPr id="29" name="Rounded Rectangle 28"/>
          <p:cNvSpPr/>
          <p:nvPr/>
        </p:nvSpPr>
        <p:spPr>
          <a:xfrm>
            <a:off x="8092440" y="4322445"/>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11896" y="4244721"/>
            <a:ext cx="29626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realised split file is reused by all three architectures and by calibration, so results are comparable.</a:t>
            </a:r>
          </a:p>
        </p:txBody>
      </p:sp>
      <p:sp>
        <p:nvSpPr>
          <p:cNvPr id="31" name="Rounded Rectangle 30"/>
          <p:cNvSpPr/>
          <p:nvPr/>
        </p:nvSpPr>
        <p:spPr>
          <a:xfrm>
            <a:off x="8092440" y="500100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11896" y="4923282"/>
            <a:ext cx="296265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imbalance is addressed with stratified sampling and a class weighted loss.</a:t>
            </a:r>
          </a:p>
        </p:txBody>
      </p:sp>
      <p:sp>
        <p:nvSpPr>
          <p:cNvPr id="33" name="Rounded Rectangle 32"/>
          <p:cNvSpPr/>
          <p:nvPr/>
        </p:nvSpPr>
        <p:spPr>
          <a:xfrm>
            <a:off x="658368" y="5705856"/>
            <a:ext cx="10874959" cy="56692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58368" y="5705856"/>
            <a:ext cx="40640" cy="566928"/>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6112" y="5824728"/>
            <a:ext cx="10372039" cy="329184"/>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Secondary data: curated public research collections, released for research use and carrying no patient identifiers. No human participants, so institutional ethics approval was not applicable.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CONTRIBUTION 1  ·  INPUT VALIDITY</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The safeguard: fitted from genuine data, no retraining</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6</a:t>
            </a:r>
          </a:p>
        </p:txBody>
      </p:sp>
      <p:sp>
        <p:nvSpPr>
          <p:cNvPr id="8" name="Rounded Rectangle 7"/>
          <p:cNvSpPr/>
          <p:nvPr/>
        </p:nvSpPr>
        <p:spPr>
          <a:xfrm>
            <a:off x="658368" y="1572768"/>
            <a:ext cx="3478682" cy="2148840"/>
          </a:xfrm>
          <a:prstGeom prst="roundRect">
            <a:avLst>
              <a:gd name="adj" fmla="val 7000"/>
            </a:avLst>
          </a:prstGeom>
          <a:solidFill>
            <a:srgbClr val="E6F2F7"/>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3478682" cy="4318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96112" y="1773936"/>
            <a:ext cx="3021482" cy="237744"/>
          </a:xfrm>
          <a:prstGeom prst="rect">
            <a:avLst/>
          </a:prstGeom>
          <a:noFill/>
        </p:spPr>
        <p:txBody>
          <a:bodyPr wrap="square" anchor="t" lIns="0" rIns="0" tIns="0" bIns="0">
            <a:spAutoFit/>
          </a:bodyPr>
          <a:lstStyle/>
          <a:p>
            <a:pPr algn="l">
              <a:lnSpc>
                <a:spcPct val="118000"/>
              </a:lnSpc>
              <a:spcAft>
                <a:spcPts val="600"/>
              </a:spcAft>
            </a:pPr>
            <a:r>
              <a:rPr sz="950" b="1" i="0">
                <a:solidFill>
                  <a:srgbClr val="0E5A72"/>
                </a:solidFill>
                <a:latin typeface="Segoe UI"/>
              </a:rPr>
              <a:t>DEPLOYED POLICY</a:t>
            </a:r>
          </a:p>
        </p:txBody>
      </p:sp>
      <p:sp>
        <p:nvSpPr>
          <p:cNvPr id="11" name="TextBox 10"/>
          <p:cNvSpPr txBox="1"/>
          <p:nvPr/>
        </p:nvSpPr>
        <p:spPr>
          <a:xfrm>
            <a:off x="896112" y="2048256"/>
            <a:ext cx="3021482" cy="310896"/>
          </a:xfrm>
          <a:prstGeom prst="rect">
            <a:avLst/>
          </a:prstGeom>
          <a:noFill/>
        </p:spPr>
        <p:txBody>
          <a:bodyPr wrap="square" anchor="t" lIns="0" rIns="0" tIns="0" bIns="0">
            <a:spAutoFit/>
          </a:bodyPr>
          <a:lstStyle/>
          <a:p>
            <a:pPr algn="l">
              <a:lnSpc>
                <a:spcPct val="118000"/>
              </a:lnSpc>
              <a:spcAft>
                <a:spcPts val="600"/>
              </a:spcAft>
            </a:pPr>
            <a:r>
              <a:rPr sz="1600" b="1" i="0">
                <a:solidFill>
                  <a:srgbClr val="0B2B4A"/>
                </a:solidFill>
                <a:latin typeface="Segoe UI"/>
              </a:rPr>
              <a:t>Mahalanobis</a:t>
            </a:r>
          </a:p>
        </p:txBody>
      </p:sp>
      <p:sp>
        <p:nvSpPr>
          <p:cNvPr id="12" name="TextBox 11"/>
          <p:cNvSpPr txBox="1"/>
          <p:nvPr/>
        </p:nvSpPr>
        <p:spPr>
          <a:xfrm>
            <a:off x="896112" y="2395728"/>
            <a:ext cx="3021482"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feature space</a:t>
            </a:r>
          </a:p>
        </p:txBody>
      </p:sp>
      <p:sp>
        <p:nvSpPr>
          <p:cNvPr id="13" name="TextBox 12"/>
          <p:cNvSpPr txBox="1"/>
          <p:nvPr/>
        </p:nvSpPr>
        <p:spPr>
          <a:xfrm>
            <a:off x="896112" y="2688336"/>
            <a:ext cx="3021482" cy="109728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Class conditional Gaussians on the 256-d penultimate features with a single tied covariance, shrunk by 0.01 on the identity. Score is the distance to the nearest class mean.</a:t>
            </a:r>
          </a:p>
        </p:txBody>
      </p:sp>
      <p:sp>
        <p:nvSpPr>
          <p:cNvPr id="14" name="Rounded Rectangle 13"/>
          <p:cNvSpPr/>
          <p:nvPr/>
        </p:nvSpPr>
        <p:spPr>
          <a:xfrm>
            <a:off x="4356506" y="1572768"/>
            <a:ext cx="3478682" cy="214884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56506" y="1572768"/>
            <a:ext cx="3478682" cy="43180"/>
          </a:xfrm>
          <a:prstGeom prst="rect">
            <a:avLst/>
          </a:prstGeom>
          <a:solidFill>
            <a:srgbClr val="647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94250" y="1773936"/>
            <a:ext cx="3021482" cy="237744"/>
          </a:xfrm>
          <a:prstGeom prst="rect">
            <a:avLst/>
          </a:prstGeom>
          <a:noFill/>
        </p:spPr>
        <p:txBody>
          <a:bodyPr wrap="square" anchor="t" lIns="0" rIns="0" tIns="0" bIns="0">
            <a:spAutoFit/>
          </a:bodyPr>
          <a:lstStyle/>
          <a:p>
            <a:pPr algn="l">
              <a:lnSpc>
                <a:spcPct val="118000"/>
              </a:lnSpc>
              <a:spcAft>
                <a:spcPts val="600"/>
              </a:spcAft>
            </a:pPr>
            <a:r>
              <a:rPr sz="950" b="1" i="0">
                <a:solidFill>
                  <a:srgbClr val="647C93"/>
                </a:solidFill>
                <a:latin typeface="Segoe UI"/>
              </a:rPr>
              <a:t>REPORTED</a:t>
            </a:r>
          </a:p>
        </p:txBody>
      </p:sp>
      <p:sp>
        <p:nvSpPr>
          <p:cNvPr id="17" name="TextBox 16"/>
          <p:cNvSpPr txBox="1"/>
          <p:nvPr/>
        </p:nvSpPr>
        <p:spPr>
          <a:xfrm>
            <a:off x="4594250" y="2048256"/>
            <a:ext cx="3021482" cy="310896"/>
          </a:xfrm>
          <a:prstGeom prst="rect">
            <a:avLst/>
          </a:prstGeom>
          <a:noFill/>
        </p:spPr>
        <p:txBody>
          <a:bodyPr wrap="square" anchor="t" lIns="0" rIns="0" tIns="0" bIns="0">
            <a:spAutoFit/>
          </a:bodyPr>
          <a:lstStyle/>
          <a:p>
            <a:pPr algn="l">
              <a:lnSpc>
                <a:spcPct val="118000"/>
              </a:lnSpc>
              <a:spcAft>
                <a:spcPts val="600"/>
              </a:spcAft>
            </a:pPr>
            <a:r>
              <a:rPr sz="1600" b="1" i="0">
                <a:solidFill>
                  <a:srgbClr val="0B2B4A"/>
                </a:solidFill>
                <a:latin typeface="Segoe UI"/>
              </a:rPr>
              <a:t>Energy</a:t>
            </a:r>
          </a:p>
        </p:txBody>
      </p:sp>
      <p:sp>
        <p:nvSpPr>
          <p:cNvPr id="18" name="TextBox 17"/>
          <p:cNvSpPr txBox="1"/>
          <p:nvPr/>
        </p:nvSpPr>
        <p:spPr>
          <a:xfrm>
            <a:off x="4594250" y="2395728"/>
            <a:ext cx="3021482"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output space</a:t>
            </a:r>
          </a:p>
        </p:txBody>
      </p:sp>
      <p:sp>
        <p:nvSpPr>
          <p:cNvPr id="19" name="TextBox 18"/>
          <p:cNvSpPr txBox="1"/>
          <p:nvPr/>
        </p:nvSpPr>
        <p:spPr>
          <a:xfrm>
            <a:off x="4594250" y="2688336"/>
            <a:ext cx="3021482" cy="109728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The negative log sum exp of the logits at temperature 1.0. Computed and reported for every scan.</a:t>
            </a:r>
          </a:p>
        </p:txBody>
      </p:sp>
      <p:sp>
        <p:nvSpPr>
          <p:cNvPr id="20" name="Rounded Rectangle 19"/>
          <p:cNvSpPr/>
          <p:nvPr/>
        </p:nvSpPr>
        <p:spPr>
          <a:xfrm>
            <a:off x="8054644" y="1572768"/>
            <a:ext cx="3478682" cy="214884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54644" y="1572768"/>
            <a:ext cx="3478682" cy="43180"/>
          </a:xfrm>
          <a:prstGeom prst="rect">
            <a:avLst/>
          </a:prstGeom>
          <a:solidFill>
            <a:srgbClr val="647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92388" y="1773936"/>
            <a:ext cx="3021482" cy="237744"/>
          </a:xfrm>
          <a:prstGeom prst="rect">
            <a:avLst/>
          </a:prstGeom>
          <a:noFill/>
        </p:spPr>
        <p:txBody>
          <a:bodyPr wrap="square" anchor="t" lIns="0" rIns="0" tIns="0" bIns="0">
            <a:spAutoFit/>
          </a:bodyPr>
          <a:lstStyle/>
          <a:p>
            <a:pPr algn="l">
              <a:lnSpc>
                <a:spcPct val="118000"/>
              </a:lnSpc>
              <a:spcAft>
                <a:spcPts val="600"/>
              </a:spcAft>
            </a:pPr>
            <a:r>
              <a:rPr sz="950" b="1" i="0">
                <a:solidFill>
                  <a:srgbClr val="647C93"/>
                </a:solidFill>
                <a:latin typeface="Segoe UI"/>
              </a:rPr>
              <a:t>REPORTED</a:t>
            </a:r>
          </a:p>
        </p:txBody>
      </p:sp>
      <p:sp>
        <p:nvSpPr>
          <p:cNvPr id="23" name="TextBox 22"/>
          <p:cNvSpPr txBox="1"/>
          <p:nvPr/>
        </p:nvSpPr>
        <p:spPr>
          <a:xfrm>
            <a:off x="8292388" y="2048256"/>
            <a:ext cx="3021482" cy="310896"/>
          </a:xfrm>
          <a:prstGeom prst="rect">
            <a:avLst/>
          </a:prstGeom>
          <a:noFill/>
        </p:spPr>
        <p:txBody>
          <a:bodyPr wrap="square" anchor="t" lIns="0" rIns="0" tIns="0" bIns="0">
            <a:spAutoFit/>
          </a:bodyPr>
          <a:lstStyle/>
          <a:p>
            <a:pPr algn="l">
              <a:lnSpc>
                <a:spcPct val="118000"/>
              </a:lnSpc>
              <a:spcAft>
                <a:spcPts val="600"/>
              </a:spcAft>
            </a:pPr>
            <a:r>
              <a:rPr sz="1600" b="1" i="0">
                <a:solidFill>
                  <a:srgbClr val="0B2B4A"/>
                </a:solidFill>
                <a:latin typeface="Segoe UI"/>
              </a:rPr>
              <a:t>Maximum softmax</a:t>
            </a:r>
          </a:p>
        </p:txBody>
      </p:sp>
      <p:sp>
        <p:nvSpPr>
          <p:cNvPr id="24" name="TextBox 23"/>
          <p:cNvSpPr txBox="1"/>
          <p:nvPr/>
        </p:nvSpPr>
        <p:spPr>
          <a:xfrm>
            <a:off x="8292388" y="2395728"/>
            <a:ext cx="3021482"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output space</a:t>
            </a:r>
          </a:p>
        </p:txBody>
      </p:sp>
      <p:sp>
        <p:nvSpPr>
          <p:cNvPr id="25" name="TextBox 24"/>
          <p:cNvSpPr txBox="1"/>
          <p:nvPr/>
        </p:nvSpPr>
        <p:spPr>
          <a:xfrm>
            <a:off x="8292388" y="2688336"/>
            <a:ext cx="3021482" cy="109728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The Hendrycks and Gimpel baseline. Computed and thresholded, ordering reversed because higher means more familiar.</a:t>
            </a:r>
          </a:p>
        </p:txBody>
      </p:sp>
      <p:sp>
        <p:nvSpPr>
          <p:cNvPr id="26" name="Rounded Rectangle 25"/>
          <p:cNvSpPr/>
          <p:nvPr/>
        </p:nvSpPr>
        <p:spPr>
          <a:xfrm>
            <a:off x="658368" y="3895344"/>
            <a:ext cx="10874959" cy="1847088"/>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58368" y="3895344"/>
            <a:ext cx="40640" cy="184708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 y="4078224"/>
            <a:ext cx="1036289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Calibration runs once per model, on genuine data only</a:t>
            </a:r>
          </a:p>
        </p:txBody>
      </p:sp>
      <p:sp>
        <p:nvSpPr>
          <p:cNvPr id="29" name="Rounded Rectangle 28"/>
          <p:cNvSpPr/>
          <p:nvPr/>
        </p:nvSpPr>
        <p:spPr>
          <a:xfrm>
            <a:off x="914400" y="452170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33856" y="4443984"/>
            <a:ext cx="10143439"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Statistics are fitted on 1,200 training images and thresholded on 600 validation images, at a target retention of 95 per cent of genuine scans.</a:t>
            </a:r>
          </a:p>
        </p:txBody>
      </p:sp>
      <p:sp>
        <p:nvSpPr>
          <p:cNvPr id="31" name="Rounded Rectangle 30"/>
          <p:cNvSpPr/>
          <p:nvPr/>
        </p:nvSpPr>
        <p:spPr>
          <a:xfrm>
            <a:off x="914400" y="4808855"/>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33856" y="4731131"/>
            <a:ext cx="10143439"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covariance is tied across classes because the fitting sample is only about 4.7 times the 256 dimensions, so four separate matrices would be rank deficient.</a:t>
            </a:r>
          </a:p>
        </p:txBody>
      </p:sp>
      <p:sp>
        <p:nvSpPr>
          <p:cNvPr id="33" name="Rounded Rectangle 32"/>
          <p:cNvSpPr/>
          <p:nvPr/>
        </p:nvSpPr>
        <p:spPr>
          <a:xfrm>
            <a:off x="914400" y="5291709"/>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133856" y="5213985"/>
            <a:ext cx="10143439"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safeguard never sees an invalid example during calibration. The operating point is set entirely from real radiographs.</a:t>
            </a:r>
          </a:p>
        </p:txBody>
      </p:sp>
      <p:sp>
        <p:nvSpPr>
          <p:cNvPr id="35" name="Rounded Rectangle 34"/>
          <p:cNvSpPr/>
          <p:nvPr/>
        </p:nvSpPr>
        <p:spPr>
          <a:xfrm>
            <a:off x="658368" y="5833872"/>
            <a:ext cx="10874959" cy="438912"/>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58368" y="5833872"/>
            <a:ext cx="40640" cy="43891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6112" y="5952744"/>
            <a:ext cx="10372039" cy="201168"/>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When the verdict fires the response carries no diagnosis: no predicted class, no confidence, no probability bars.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CONTRIBUTION 2  ·  IN PRACTICE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What lung restriction changes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7</a:t>
            </a:r>
          </a:p>
        </p:txBody>
      </p:sp>
      <p:sp>
        <p:nvSpPr>
          <p:cNvPr id="8" name="Rounded Rectangle 7"/>
          <p:cNvSpPr/>
          <p:nvPr/>
        </p:nvSpPr>
        <p:spPr>
          <a:xfrm>
            <a:off x="2070434" y="1485900"/>
            <a:ext cx="3850988" cy="4288536"/>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mp_lung_restriction.png"/>
          <p:cNvPicPr>
            <a:picLocks noChangeAspect="1"/>
          </p:cNvPicPr>
          <p:nvPr/>
        </p:nvPicPr>
        <p:blipFill>
          <a:blip r:embed="rId2"/>
          <a:stretch>
            <a:fillRect/>
          </a:stretch>
        </p:blipFill>
        <p:spPr>
          <a:xfrm>
            <a:off x="2120726" y="1536192"/>
            <a:ext cx="3750404" cy="4187952"/>
          </a:xfrm>
          <a:prstGeom prst="rect">
            <a:avLst/>
          </a:prstGeom>
          <a:effectLst/>
        </p:spPr>
      </p:pic>
      <p:sp>
        <p:nvSpPr>
          <p:cNvPr id="10" name="Rounded Rectangle 9"/>
          <p:cNvSpPr/>
          <p:nvPr/>
        </p:nvSpPr>
        <p:spPr>
          <a:xfrm>
            <a:off x="7242048" y="1536192"/>
            <a:ext cx="4288536" cy="23317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242048" y="1536192"/>
            <a:ext cx="40640" cy="2331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0" y="1719072"/>
            <a:ext cx="377647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Read left to right</a:t>
            </a:r>
          </a:p>
        </p:txBody>
      </p:sp>
      <p:sp>
        <p:nvSpPr>
          <p:cNvPr id="13" name="Rounded Rectangle 12"/>
          <p:cNvSpPr/>
          <p:nvPr/>
        </p:nvSpPr>
        <p:spPr>
          <a:xfrm>
            <a:off x="7498080" y="216255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17536" y="2084832"/>
            <a:ext cx="35570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Left: the raw map, with substantial mass on the image border and outside the chest entirely.</a:t>
            </a:r>
          </a:p>
        </p:txBody>
      </p:sp>
      <p:sp>
        <p:nvSpPr>
          <p:cNvPr id="15" name="Rounded Rectangle 14"/>
          <p:cNvSpPr/>
          <p:nvPr/>
        </p:nvSpPr>
        <p:spPr>
          <a:xfrm>
            <a:off x="7498080" y="266242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17536" y="2584704"/>
            <a:ext cx="35570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Right: the same map restricted to the estimated lung field.</a:t>
            </a:r>
          </a:p>
        </p:txBody>
      </p:sp>
      <p:sp>
        <p:nvSpPr>
          <p:cNvPr id="17" name="Rounded Rectangle 16"/>
          <p:cNvSpPr/>
          <p:nvPr/>
        </p:nvSpPr>
        <p:spPr>
          <a:xfrm>
            <a:off x="7498080" y="316230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17536" y="3084576"/>
            <a:ext cx="35570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measurement is taken before masking, so the restriction cannot flatter the number.</a:t>
            </a:r>
          </a:p>
        </p:txBody>
      </p:sp>
      <p:sp>
        <p:nvSpPr>
          <p:cNvPr id="19" name="Rounded Rectangle 18"/>
          <p:cNvSpPr/>
          <p:nvPr/>
        </p:nvSpPr>
        <p:spPr>
          <a:xfrm>
            <a:off x="7242048" y="3968496"/>
            <a:ext cx="4288536" cy="1234440"/>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242048" y="3968496"/>
            <a:ext cx="40640"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79792" y="4087368"/>
            <a:ext cx="3785616" cy="996696"/>
          </a:xfrm>
          <a:prstGeom prst="rect">
            <a:avLst/>
          </a:prstGeom>
          <a:noFill/>
        </p:spPr>
        <p:txBody>
          <a:bodyPr wrap="square" anchor="t" lIns="0" rIns="0" tIns="0" bIns="0">
            <a:spAutoFit/>
          </a:bodyPr>
          <a:lstStyle/>
          <a:p>
            <a:pPr algn="l">
              <a:lnSpc>
                <a:spcPct val="118000"/>
              </a:lnSpc>
              <a:spcAft>
                <a:spcPts val="300"/>
              </a:spcAft>
            </a:pPr>
            <a:r>
              <a:rPr sz="1250" b="1" i="0">
                <a:solidFill>
                  <a:srgbClr val="B45309"/>
                </a:solidFill>
                <a:latin typeface="Segoe UI"/>
              </a:rPr>
              <a:t>The reason the number is disclosed</a:t>
            </a:r>
          </a:p>
          <a:p>
            <a:pPr algn="l">
              <a:lnSpc>
                <a:spcPct val="118000"/>
              </a:lnSpc>
              <a:spcAft>
                <a:spcPts val="300"/>
              </a:spcAft>
            </a:pPr>
            <a:r>
              <a:rPr sz="1150" b="0" i="0">
                <a:solidFill>
                  <a:srgbClr val="B45309"/>
                </a:solidFill>
                <a:latin typeface="Segoe UI"/>
              </a:rPr>
              <a:t>A plausible looking heatmap is not evidence that lung tissue was used. Masking made the maps look more convincing without changing the classifier at all, which is exactly why the measurement was added alongside it.</a:t>
            </a:r>
          </a:p>
        </p:txBody>
      </p:sp>
      <p:sp>
        <p:nvSpPr>
          <p:cNvPr id="22" name="TextBox 21"/>
          <p:cNvSpPr txBox="1"/>
          <p:nvPr/>
        </p:nvSpPr>
        <p:spPr>
          <a:xfrm>
            <a:off x="1892808" y="5888736"/>
            <a:ext cx="4206240" cy="274320"/>
          </a:xfrm>
          <a:prstGeom prst="rect">
            <a:avLst/>
          </a:prstGeom>
          <a:noFill/>
        </p:spPr>
        <p:txBody>
          <a:bodyPr wrap="square" anchor="t" lIns="0" rIns="0" tIns="0" bIns="0">
            <a:spAutoFit/>
          </a:bodyPr>
          <a:lstStyle/>
          <a:p>
            <a:pPr algn="ctr">
              <a:lnSpc>
                <a:spcPct val="118000"/>
              </a:lnSpc>
              <a:spcAft>
                <a:spcPts val="600"/>
              </a:spcAft>
            </a:pPr>
            <a:r>
              <a:rPr sz="1050" b="0" i="0">
                <a:solidFill>
                  <a:srgbClr val="647C93"/>
                </a:solidFill>
                <a:latin typeface="Segoe UI"/>
              </a:rPr>
              <a:t>Verification runs retained in the inference service workspace.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RQ1  ·  CLASSIFICATION PERFORMANCE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Three architectures, one split, one protocol</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8</a:t>
            </a:r>
          </a:p>
        </p:txBody>
      </p:sp>
      <p:graphicFrame>
        <p:nvGraphicFramePr>
          <p:cNvPr id="8" name="Table 7"/>
          <p:cNvGraphicFramePr>
            <a:graphicFrameLocks noGrp="1"/>
          </p:cNvGraphicFramePr>
          <p:nvPr/>
        </p:nvGraphicFramePr>
        <p:xfrm>
          <a:off x="658368" y="1572768"/>
          <a:ext cx="10874956" cy="1554480"/>
        </p:xfrm>
        <a:graphic>
          <a:graphicData uri="http://schemas.openxmlformats.org/drawingml/2006/table">
            <a:tbl>
              <a:tblPr>
                <a:tableStyleId>{5C22544A-7EE6-4342-B048-85BDC9FD1C3A}</a:tableStyleId>
              </a:tblPr>
              <a:tblGrid>
                <a:gridCol w="2827489"/>
                <a:gridCol w="1413744"/>
                <a:gridCol w="1631243"/>
                <a:gridCol w="1522494"/>
                <a:gridCol w="1196245"/>
                <a:gridCol w="1304995"/>
                <a:gridCol w="978746"/>
              </a:tblGrid>
              <a:tr h="347472">
                <a:tc>
                  <a:txBody>
                    <a:bodyPr wrap="square"/>
                    <a:lstStyle/>
                    <a:p>
                      <a:pPr algn="l"/>
                      <a:r>
                        <a:rPr sz="1100" b="1">
                          <a:solidFill>
                            <a:srgbClr val="FFFFFF"/>
                          </a:solidFill>
                          <a:latin typeface="Segoe UI"/>
                        </a:rPr>
                        <a:t>Model</a:t>
                      </a:r>
                    </a:p>
                  </a:txBody>
                  <a:tcPr marL="91440" marR="91440" marT="27432" marB="27432" anchor="ctr">
                    <a:solidFill>
                      <a:srgbClr val="0E5A72"/>
                    </a:solidFill>
                  </a:tcPr>
                </a:tc>
                <a:tc>
                  <a:txBody>
                    <a:bodyPr wrap="square"/>
                    <a:lstStyle/>
                    <a:p>
                      <a:pPr algn="r"/>
                      <a:r>
                        <a:rPr sz="1100" b="1">
                          <a:solidFill>
                            <a:srgbClr val="FFFFFF"/>
                          </a:solidFill>
                          <a:latin typeface="Segoe UI"/>
                        </a:rPr>
                        <a:t>Accuracy</a:t>
                      </a:r>
                    </a:p>
                  </a:txBody>
                  <a:tcPr marL="91440" marR="91440" marT="27432" marB="27432" anchor="ctr">
                    <a:solidFill>
                      <a:srgbClr val="0E5A72"/>
                    </a:solidFill>
                  </a:tcPr>
                </a:tc>
                <a:tc>
                  <a:txBody>
                    <a:bodyPr wrap="square"/>
                    <a:lstStyle/>
                    <a:p>
                      <a:pPr algn="r"/>
                      <a:r>
                        <a:rPr sz="1100" b="1">
                          <a:solidFill>
                            <a:srgbClr val="FFFFFF"/>
                          </a:solidFill>
                          <a:latin typeface="Segoe UI"/>
                        </a:rPr>
                        <a:t>Macro precision</a:t>
                      </a:r>
                    </a:p>
                  </a:txBody>
                  <a:tcPr marL="91440" marR="91440" marT="27432" marB="27432" anchor="ctr">
                    <a:solidFill>
                      <a:srgbClr val="0E5A72"/>
                    </a:solidFill>
                  </a:tcPr>
                </a:tc>
                <a:tc>
                  <a:txBody>
                    <a:bodyPr wrap="square"/>
                    <a:lstStyle/>
                    <a:p>
                      <a:pPr algn="r"/>
                      <a:r>
                        <a:rPr sz="1100" b="1">
                          <a:solidFill>
                            <a:srgbClr val="FFFFFF"/>
                          </a:solidFill>
                          <a:latin typeface="Segoe UI"/>
                        </a:rPr>
                        <a:t>Macro recall</a:t>
                      </a:r>
                    </a:p>
                  </a:txBody>
                  <a:tcPr marL="91440" marR="91440" marT="27432" marB="27432" anchor="ctr">
                    <a:solidFill>
                      <a:srgbClr val="0E5A72"/>
                    </a:solidFill>
                  </a:tcPr>
                </a:tc>
                <a:tc>
                  <a:txBody>
                    <a:bodyPr wrap="square"/>
                    <a:lstStyle/>
                    <a:p>
                      <a:pPr algn="r"/>
                      <a:r>
                        <a:rPr sz="1100" b="1">
                          <a:solidFill>
                            <a:srgbClr val="FFFFFF"/>
                          </a:solidFill>
                          <a:latin typeface="Segoe UI"/>
                        </a:rPr>
                        <a:t>Macro F1</a:t>
                      </a:r>
                    </a:p>
                  </a:txBody>
                  <a:tcPr marL="91440" marR="91440" marT="27432" marB="27432" anchor="ctr">
                    <a:solidFill>
                      <a:srgbClr val="0E5A72"/>
                    </a:solidFill>
                  </a:tcPr>
                </a:tc>
                <a:tc>
                  <a:txBody>
                    <a:bodyPr wrap="square"/>
                    <a:lstStyle/>
                    <a:p>
                      <a:pPr algn="r"/>
                      <a:r>
                        <a:rPr sz="1100" b="1">
                          <a:solidFill>
                            <a:srgbClr val="FFFFFF"/>
                          </a:solidFill>
                          <a:latin typeface="Segoe UI"/>
                        </a:rPr>
                        <a:t>Weighted F1</a:t>
                      </a:r>
                    </a:p>
                  </a:txBody>
                  <a:tcPr marL="91440" marR="91440" marT="27432" marB="27432" anchor="ctr">
                    <a:solidFill>
                      <a:srgbClr val="0E5A72"/>
                    </a:solidFill>
                  </a:tcPr>
                </a:tc>
                <a:tc>
                  <a:txBody>
                    <a:bodyPr wrap="square"/>
                    <a:lstStyle/>
                    <a:p>
                      <a:pPr algn="r"/>
                      <a:r>
                        <a:rPr sz="1100" b="1">
                          <a:solidFill>
                            <a:srgbClr val="FFFFFF"/>
                          </a:solidFill>
                          <a:latin typeface="Segoe UI"/>
                        </a:rPr>
                        <a:t>Errors</a:t>
                      </a:r>
                    </a:p>
                  </a:txBody>
                  <a:tcPr marL="91440" marR="91440" marT="27432" marB="27432" anchor="ctr">
                    <a:solidFill>
                      <a:srgbClr val="0E5A72"/>
                    </a:solidFill>
                  </a:tcPr>
                </a:tc>
              </a:tr>
              <a:tr h="402336">
                <a:tc>
                  <a:txBody>
                    <a:bodyPr wrap="square"/>
                    <a:lstStyle/>
                    <a:p>
                      <a:pPr algn="l"/>
                      <a:r>
                        <a:rPr sz="1250" b="1">
                          <a:solidFill>
                            <a:srgbClr val="0B2B4A"/>
                          </a:solidFill>
                          <a:latin typeface="Segoe UI"/>
                        </a:rPr>
                        <a:t>DenseNet121  ·  deployed</a:t>
                      </a:r>
                    </a:p>
                  </a:txBody>
                  <a:tcPr marL="91440" marR="91440" marT="27432" marB="27432" anchor="ctr">
                    <a:solidFill>
                      <a:srgbClr val="E6F2F7"/>
                    </a:solidFill>
                  </a:tcPr>
                </a:tc>
                <a:tc>
                  <a:txBody>
                    <a:bodyPr wrap="square"/>
                    <a:lstStyle/>
                    <a:p>
                      <a:pPr algn="r"/>
                      <a:r>
                        <a:rPr sz="1250" b="1">
                          <a:solidFill>
                            <a:srgbClr val="0B2B4A"/>
                          </a:solidFill>
                          <a:latin typeface="Segoe UI"/>
                        </a:rPr>
                        <a:t>85.31 %</a:t>
                      </a:r>
                    </a:p>
                  </a:txBody>
                  <a:tcPr marL="91440" marR="91440" marT="27432" marB="27432" anchor="ctr">
                    <a:solidFill>
                      <a:srgbClr val="E6F2F7"/>
                    </a:solidFill>
                  </a:tcPr>
                </a:tc>
                <a:tc>
                  <a:txBody>
                    <a:bodyPr wrap="square"/>
                    <a:lstStyle/>
                    <a:p>
                      <a:pPr algn="r"/>
                      <a:r>
                        <a:rPr sz="1250" b="1">
                          <a:solidFill>
                            <a:srgbClr val="0B2B4A"/>
                          </a:solidFill>
                          <a:latin typeface="Segoe UI"/>
                        </a:rPr>
                        <a:t>0.843</a:t>
                      </a:r>
                    </a:p>
                  </a:txBody>
                  <a:tcPr marL="91440" marR="91440" marT="27432" marB="27432" anchor="ctr">
                    <a:solidFill>
                      <a:srgbClr val="E6F2F7"/>
                    </a:solidFill>
                  </a:tcPr>
                </a:tc>
                <a:tc>
                  <a:txBody>
                    <a:bodyPr wrap="square"/>
                    <a:lstStyle/>
                    <a:p>
                      <a:pPr algn="r"/>
                      <a:r>
                        <a:rPr sz="1250" b="1">
                          <a:solidFill>
                            <a:srgbClr val="0B2B4A"/>
                          </a:solidFill>
                          <a:latin typeface="Segoe UI"/>
                        </a:rPr>
                        <a:t>0.845</a:t>
                      </a:r>
                    </a:p>
                  </a:txBody>
                  <a:tcPr marL="91440" marR="91440" marT="27432" marB="27432" anchor="ctr">
                    <a:solidFill>
                      <a:srgbClr val="E6F2F7"/>
                    </a:solidFill>
                  </a:tcPr>
                </a:tc>
                <a:tc>
                  <a:txBody>
                    <a:bodyPr wrap="square"/>
                    <a:lstStyle/>
                    <a:p>
                      <a:pPr algn="r"/>
                      <a:r>
                        <a:rPr sz="1250" b="1">
                          <a:solidFill>
                            <a:srgbClr val="0B2B4A"/>
                          </a:solidFill>
                          <a:latin typeface="Segoe UI"/>
                        </a:rPr>
                        <a:t>0.844</a:t>
                      </a:r>
                    </a:p>
                  </a:txBody>
                  <a:tcPr marL="91440" marR="91440" marT="27432" marB="27432" anchor="ctr">
                    <a:solidFill>
                      <a:srgbClr val="E6F2F7"/>
                    </a:solidFill>
                  </a:tcPr>
                </a:tc>
                <a:tc>
                  <a:txBody>
                    <a:bodyPr wrap="square"/>
                    <a:lstStyle/>
                    <a:p>
                      <a:pPr algn="r"/>
                      <a:r>
                        <a:rPr sz="1250" b="1">
                          <a:solidFill>
                            <a:srgbClr val="0B2B4A"/>
                          </a:solidFill>
                          <a:latin typeface="Segoe UI"/>
                        </a:rPr>
                        <a:t>0.851</a:t>
                      </a:r>
                    </a:p>
                  </a:txBody>
                  <a:tcPr marL="91440" marR="91440" marT="27432" marB="27432" anchor="ctr">
                    <a:solidFill>
                      <a:srgbClr val="E6F2F7"/>
                    </a:solidFill>
                  </a:tcPr>
                </a:tc>
                <a:tc>
                  <a:txBody>
                    <a:bodyPr wrap="square"/>
                    <a:lstStyle/>
                    <a:p>
                      <a:pPr algn="r"/>
                      <a:r>
                        <a:rPr sz="1250" b="1">
                          <a:solidFill>
                            <a:srgbClr val="0B2B4A"/>
                          </a:solidFill>
                          <a:latin typeface="Segoe UI"/>
                        </a:rPr>
                        <a:t>203</a:t>
                      </a:r>
                    </a:p>
                  </a:txBody>
                  <a:tcPr marL="91440" marR="91440" marT="27432" marB="27432" anchor="ctr">
                    <a:solidFill>
                      <a:srgbClr val="E6F2F7"/>
                    </a:solidFill>
                  </a:tcPr>
                </a:tc>
              </a:tr>
              <a:tr h="402336">
                <a:tc>
                  <a:txBody>
                    <a:bodyPr wrap="square"/>
                    <a:lstStyle/>
                    <a:p>
                      <a:pPr algn="l"/>
                      <a:r>
                        <a:rPr sz="1250" b="1">
                          <a:solidFill>
                            <a:srgbClr val="0B2B4A"/>
                          </a:solidFill>
                          <a:latin typeface="Segoe UI"/>
                        </a:rPr>
                        <a:t>EfficientNetV2B3</a:t>
                      </a:r>
                    </a:p>
                  </a:txBody>
                  <a:tcPr marL="91440" marR="91440" marT="27432" marB="27432" anchor="ctr">
                    <a:solidFill>
                      <a:srgbClr val="F3F8FB"/>
                    </a:solidFill>
                  </a:tcPr>
                </a:tc>
                <a:tc>
                  <a:txBody>
                    <a:bodyPr wrap="square"/>
                    <a:lstStyle/>
                    <a:p>
                      <a:pPr algn="r"/>
                      <a:r>
                        <a:rPr sz="1250" b="0">
                          <a:solidFill>
                            <a:srgbClr val="243B53"/>
                          </a:solidFill>
                          <a:latin typeface="Segoe UI"/>
                        </a:rPr>
                        <a:t>84.30 %</a:t>
                      </a:r>
                    </a:p>
                  </a:txBody>
                  <a:tcPr marL="91440" marR="91440" marT="27432" marB="27432" anchor="ctr">
                    <a:solidFill>
                      <a:srgbClr val="F3F8FB"/>
                    </a:solidFill>
                  </a:tcPr>
                </a:tc>
                <a:tc>
                  <a:txBody>
                    <a:bodyPr wrap="square"/>
                    <a:lstStyle/>
                    <a:p>
                      <a:pPr algn="r"/>
                      <a:r>
                        <a:rPr sz="1250" b="0">
                          <a:solidFill>
                            <a:srgbClr val="243B53"/>
                          </a:solidFill>
                          <a:latin typeface="Segoe UI"/>
                        </a:rPr>
                        <a:t>0.834</a:t>
                      </a:r>
                    </a:p>
                  </a:txBody>
                  <a:tcPr marL="91440" marR="91440" marT="27432" marB="27432" anchor="ctr">
                    <a:solidFill>
                      <a:srgbClr val="F3F8FB"/>
                    </a:solidFill>
                  </a:tcPr>
                </a:tc>
                <a:tc>
                  <a:txBody>
                    <a:bodyPr wrap="square"/>
                    <a:lstStyle/>
                    <a:p>
                      <a:pPr algn="r"/>
                      <a:r>
                        <a:rPr sz="1250" b="0">
                          <a:solidFill>
                            <a:srgbClr val="243B53"/>
                          </a:solidFill>
                          <a:latin typeface="Segoe UI"/>
                        </a:rPr>
                        <a:t>0.825</a:t>
                      </a:r>
                    </a:p>
                  </a:txBody>
                  <a:tcPr marL="91440" marR="91440" marT="27432" marB="27432" anchor="ctr">
                    <a:solidFill>
                      <a:srgbClr val="F3F8FB"/>
                    </a:solidFill>
                  </a:tcPr>
                </a:tc>
                <a:tc>
                  <a:txBody>
                    <a:bodyPr wrap="square"/>
                    <a:lstStyle/>
                    <a:p>
                      <a:pPr algn="r"/>
                      <a:r>
                        <a:rPr sz="1250" b="0">
                          <a:solidFill>
                            <a:srgbClr val="243B53"/>
                          </a:solidFill>
                          <a:latin typeface="Segoe UI"/>
                        </a:rPr>
                        <a:t>0.828</a:t>
                      </a:r>
                    </a:p>
                  </a:txBody>
                  <a:tcPr marL="91440" marR="91440" marT="27432" marB="27432" anchor="ctr">
                    <a:solidFill>
                      <a:srgbClr val="F3F8FB"/>
                    </a:solidFill>
                  </a:tcPr>
                </a:tc>
                <a:tc>
                  <a:txBody>
                    <a:bodyPr wrap="square"/>
                    <a:lstStyle/>
                    <a:p>
                      <a:pPr algn="r"/>
                      <a:r>
                        <a:rPr sz="1250" b="0">
                          <a:solidFill>
                            <a:srgbClr val="243B53"/>
                          </a:solidFill>
                          <a:latin typeface="Segoe UI"/>
                        </a:rPr>
                        <a:t>0.838</a:t>
                      </a:r>
                    </a:p>
                  </a:txBody>
                  <a:tcPr marL="91440" marR="91440" marT="27432" marB="27432" anchor="ctr">
                    <a:solidFill>
                      <a:srgbClr val="F3F8FB"/>
                    </a:solidFill>
                  </a:tcPr>
                </a:tc>
                <a:tc>
                  <a:txBody>
                    <a:bodyPr wrap="square"/>
                    <a:lstStyle/>
                    <a:p>
                      <a:pPr algn="r"/>
                      <a:r>
                        <a:rPr sz="1250" b="0">
                          <a:solidFill>
                            <a:srgbClr val="243B53"/>
                          </a:solidFill>
                          <a:latin typeface="Segoe UI"/>
                        </a:rPr>
                        <a:t>217</a:t>
                      </a:r>
                    </a:p>
                  </a:txBody>
                  <a:tcPr marL="91440" marR="91440" marT="27432" marB="27432" anchor="ctr">
                    <a:solidFill>
                      <a:srgbClr val="F3F8FB"/>
                    </a:solidFill>
                  </a:tcPr>
                </a:tc>
              </a:tr>
              <a:tr h="402336">
                <a:tc>
                  <a:txBody>
                    <a:bodyPr wrap="square"/>
                    <a:lstStyle/>
                    <a:p>
                      <a:pPr algn="l"/>
                      <a:r>
                        <a:rPr sz="1250" b="1">
                          <a:solidFill>
                            <a:srgbClr val="0B2B4A"/>
                          </a:solidFill>
                          <a:latin typeface="Segoe UI"/>
                        </a:rPr>
                        <a:t>EfficientNetV2S</a:t>
                      </a:r>
                    </a:p>
                  </a:txBody>
                  <a:tcPr marL="91440" marR="91440" marT="27432" marB="27432" anchor="ctr">
                    <a:solidFill>
                      <a:srgbClr val="FFFFFF"/>
                    </a:solidFill>
                  </a:tcPr>
                </a:tc>
                <a:tc>
                  <a:txBody>
                    <a:bodyPr wrap="square"/>
                    <a:lstStyle/>
                    <a:p>
                      <a:pPr algn="r"/>
                      <a:r>
                        <a:rPr sz="1250" b="0">
                          <a:solidFill>
                            <a:srgbClr val="243B53"/>
                          </a:solidFill>
                          <a:latin typeface="Segoe UI"/>
                        </a:rPr>
                        <a:t>80.54 %</a:t>
                      </a:r>
                    </a:p>
                  </a:txBody>
                  <a:tcPr marL="91440" marR="91440" marT="27432" marB="27432" anchor="ctr">
                    <a:solidFill>
                      <a:srgbClr val="FFFFFF"/>
                    </a:solidFill>
                  </a:tcPr>
                </a:tc>
                <a:tc>
                  <a:txBody>
                    <a:bodyPr wrap="square"/>
                    <a:lstStyle/>
                    <a:p>
                      <a:pPr algn="r"/>
                      <a:r>
                        <a:rPr sz="1250" b="0">
                          <a:solidFill>
                            <a:srgbClr val="243B53"/>
                          </a:solidFill>
                          <a:latin typeface="Segoe UI"/>
                        </a:rPr>
                        <a:t>0.798</a:t>
                      </a:r>
                    </a:p>
                  </a:txBody>
                  <a:tcPr marL="91440" marR="91440" marT="27432" marB="27432" anchor="ctr">
                    <a:solidFill>
                      <a:srgbClr val="FFFFFF"/>
                    </a:solidFill>
                  </a:tcPr>
                </a:tc>
                <a:tc>
                  <a:txBody>
                    <a:bodyPr wrap="square"/>
                    <a:lstStyle/>
                    <a:p>
                      <a:pPr algn="r"/>
                      <a:r>
                        <a:rPr sz="1250" b="0">
                          <a:solidFill>
                            <a:srgbClr val="243B53"/>
                          </a:solidFill>
                          <a:latin typeface="Segoe UI"/>
                        </a:rPr>
                        <a:t>0.812</a:t>
                      </a:r>
                    </a:p>
                  </a:txBody>
                  <a:tcPr marL="91440" marR="91440" marT="27432" marB="27432" anchor="ctr">
                    <a:solidFill>
                      <a:srgbClr val="FFFFFF"/>
                    </a:solidFill>
                  </a:tcPr>
                </a:tc>
                <a:tc>
                  <a:txBody>
                    <a:bodyPr wrap="square"/>
                    <a:lstStyle/>
                    <a:p>
                      <a:pPr algn="r"/>
                      <a:r>
                        <a:rPr sz="1250" b="0">
                          <a:solidFill>
                            <a:srgbClr val="243B53"/>
                          </a:solidFill>
                          <a:latin typeface="Segoe UI"/>
                        </a:rPr>
                        <a:t>0.798</a:t>
                      </a:r>
                    </a:p>
                  </a:txBody>
                  <a:tcPr marL="91440" marR="91440" marT="27432" marB="27432" anchor="ctr">
                    <a:solidFill>
                      <a:srgbClr val="FFFFFF"/>
                    </a:solidFill>
                  </a:tcPr>
                </a:tc>
                <a:tc>
                  <a:txBody>
                    <a:bodyPr wrap="square"/>
                    <a:lstStyle/>
                    <a:p>
                      <a:pPr algn="r"/>
                      <a:r>
                        <a:rPr sz="1250" b="0">
                          <a:solidFill>
                            <a:srgbClr val="243B53"/>
                          </a:solidFill>
                          <a:latin typeface="Segoe UI"/>
                        </a:rPr>
                        <a:t>0.803</a:t>
                      </a:r>
                    </a:p>
                  </a:txBody>
                  <a:tcPr marL="91440" marR="91440" marT="27432" marB="27432" anchor="ctr">
                    <a:solidFill>
                      <a:srgbClr val="FFFFFF"/>
                    </a:solidFill>
                  </a:tcPr>
                </a:tc>
                <a:tc>
                  <a:txBody>
                    <a:bodyPr wrap="square"/>
                    <a:lstStyle/>
                    <a:p>
                      <a:pPr algn="r"/>
                      <a:r>
                        <a:rPr sz="1250" b="0">
                          <a:solidFill>
                            <a:srgbClr val="243B53"/>
                          </a:solidFill>
                          <a:latin typeface="Segoe UI"/>
                        </a:rPr>
                        <a:t>269</a:t>
                      </a:r>
                    </a:p>
                  </a:txBody>
                  <a:tcPr marL="91440" marR="91440" marT="27432" marB="27432" anchor="ctr">
                    <a:solidFill>
                      <a:srgbClr val="FFFFFF"/>
                    </a:solidFill>
                  </a:tcPr>
                </a:tc>
              </a:tr>
            </a:tbl>
          </a:graphicData>
        </a:graphic>
      </p:graphicFrame>
      <p:sp>
        <p:nvSpPr>
          <p:cNvPr id="9" name="Rounded Rectangle 8"/>
          <p:cNvSpPr/>
          <p:nvPr/>
        </p:nvSpPr>
        <p:spPr>
          <a:xfrm>
            <a:off x="658368" y="3218688"/>
            <a:ext cx="5309463" cy="21031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3218688"/>
            <a:ext cx="40640" cy="21031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3401568"/>
            <a:ext cx="4797399"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The margin is not a finding</a:t>
            </a:r>
          </a:p>
        </p:txBody>
      </p:sp>
      <p:sp>
        <p:nvSpPr>
          <p:cNvPr id="12" name="Rounded Rectangle 11"/>
          <p:cNvSpPr/>
          <p:nvPr/>
        </p:nvSpPr>
        <p:spPr>
          <a:xfrm>
            <a:off x="914400" y="384505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33856" y="3767328"/>
            <a:ext cx="4577943"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1.01 point lead over EfficientNetV2B3 is fourteen images out of 1,382, from a single run.</a:t>
            </a:r>
          </a:p>
        </p:txBody>
      </p:sp>
      <p:sp>
        <p:nvSpPr>
          <p:cNvPr id="14" name="Rounded Rectangle 13"/>
          <p:cNvSpPr/>
          <p:nvPr/>
        </p:nvSpPr>
        <p:spPr>
          <a:xfrm>
            <a:off x="914400" y="434492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33856" y="4267200"/>
            <a:ext cx="4577943"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methodology committed in advance to treating a difference at that resolution as inconclusive.</a:t>
            </a:r>
          </a:p>
        </p:txBody>
      </p:sp>
      <p:sp>
        <p:nvSpPr>
          <p:cNvPr id="16" name="Rounded Rectangle 15"/>
          <p:cNvSpPr/>
          <p:nvPr/>
        </p:nvSpPr>
        <p:spPr>
          <a:xfrm>
            <a:off x="6223863" y="3218688"/>
            <a:ext cx="5309463" cy="21031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23863" y="3218688"/>
            <a:ext cx="40640" cy="21031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79895" y="3401568"/>
            <a:ext cx="4797399"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And one row is not an architectural result</a:t>
            </a:r>
          </a:p>
        </p:txBody>
      </p:sp>
      <p:sp>
        <p:nvSpPr>
          <p:cNvPr id="19" name="Rounded Rectangle 18"/>
          <p:cNvSpPr/>
          <p:nvPr/>
        </p:nvSpPr>
        <p:spPr>
          <a:xfrm>
            <a:off x="6479895" y="384505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99351" y="3767328"/>
            <a:ext cx="4577943" cy="612648"/>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EfficientNetV2S was trained with rescaling to the unit interval, while its ImageNet weights expect the interval from minus one to one.</a:t>
            </a:r>
          </a:p>
        </p:txBody>
      </p:sp>
      <p:sp>
        <p:nvSpPr>
          <p:cNvPr id="21" name="Rounded Rectangle 20"/>
          <p:cNvSpPr/>
          <p:nvPr/>
        </p:nvSpPr>
        <p:spPr>
          <a:xfrm>
            <a:off x="6479895" y="45491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99351" y="4471416"/>
            <a:ext cx="4577943"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Its frozen phase reached 68.07 per cent against 83.20, a gap capacity does not explain. This is disclosed, not buried.</a:t>
            </a:r>
          </a:p>
        </p:txBody>
      </p:sp>
      <p:sp>
        <p:nvSpPr>
          <p:cNvPr id="23" name="Rounded Rectangle 22"/>
          <p:cNvSpPr/>
          <p:nvPr/>
        </p:nvSpPr>
        <p:spPr>
          <a:xfrm>
            <a:off x="658368" y="5742432"/>
            <a:ext cx="10874959" cy="54864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742432"/>
            <a:ext cx="40640" cy="54864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5861304"/>
            <a:ext cx="10372039" cy="310896"/>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NFR1 asked for at least 85 per cent and is met by 0.31 of a percentage point, a margin narrow enough that a different seed could plausibly have failed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RQ2  ·  INPUT VALIDITY DETECTION</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Both operating criteria met, and one signal fails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9</a:t>
            </a:r>
          </a:p>
        </p:txBody>
      </p:sp>
      <p:sp>
        <p:nvSpPr>
          <p:cNvPr id="8" name="Rounded Rectangle 7"/>
          <p:cNvSpPr/>
          <p:nvPr/>
        </p:nvSpPr>
        <p:spPr>
          <a:xfrm>
            <a:off x="658368" y="1572768"/>
            <a:ext cx="3490874" cy="1298448"/>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92.5 %</a:t>
            </a:r>
          </a:p>
        </p:txBody>
      </p:sp>
      <p:sp>
        <p:nvSpPr>
          <p:cNvPr id="11" name="TextBox 10"/>
          <p:cNvSpPr txBox="1"/>
          <p:nvPr/>
        </p:nvSpPr>
        <p:spPr>
          <a:xfrm>
            <a:off x="877824"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GENUINE SCANS RETAINED</a:t>
            </a:r>
          </a:p>
        </p:txBody>
      </p:sp>
      <p:sp>
        <p:nvSpPr>
          <p:cNvPr id="12" name="TextBox 11"/>
          <p:cNvSpPr txBox="1"/>
          <p:nvPr/>
        </p:nvSpPr>
        <p:spPr>
          <a:xfrm>
            <a:off x="877824"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test partition. NFR2 floor is 90 %</a:t>
            </a:r>
          </a:p>
        </p:txBody>
      </p:sp>
      <p:sp>
        <p:nvSpPr>
          <p:cNvPr id="13" name="Rounded Rectangle 12"/>
          <p:cNvSpPr/>
          <p:nvPr/>
        </p:nvSpPr>
        <p:spPr>
          <a:xfrm>
            <a:off x="4350410" y="1572768"/>
            <a:ext cx="3490874" cy="1298448"/>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50410" y="1572768"/>
            <a:ext cx="4064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69866"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100 %</a:t>
            </a:r>
          </a:p>
        </p:txBody>
      </p:sp>
      <p:sp>
        <p:nvSpPr>
          <p:cNvPr id="16" name="TextBox 15"/>
          <p:cNvSpPr txBox="1"/>
          <p:nvPr/>
        </p:nvSpPr>
        <p:spPr>
          <a:xfrm>
            <a:off x="4569866"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FAR PROBE FLAGGED</a:t>
            </a:r>
          </a:p>
        </p:txBody>
      </p:sp>
      <p:sp>
        <p:nvSpPr>
          <p:cNvPr id="17" name="TextBox 16"/>
          <p:cNvSpPr txBox="1"/>
          <p:nvPr/>
        </p:nvSpPr>
        <p:spPr>
          <a:xfrm>
            <a:off x="4569866"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all 60 generated images. NFR3 floor is 95 %</a:t>
            </a:r>
          </a:p>
        </p:txBody>
      </p:sp>
      <p:sp>
        <p:nvSpPr>
          <p:cNvPr id="18" name="Rounded Rectangle 17"/>
          <p:cNvSpPr/>
          <p:nvPr/>
        </p:nvSpPr>
        <p:spPr>
          <a:xfrm>
            <a:off x="8042452" y="1572768"/>
            <a:ext cx="3490874" cy="1298448"/>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2452" y="1572768"/>
            <a:ext cx="4064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61908"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1.000</a:t>
            </a:r>
          </a:p>
        </p:txBody>
      </p:sp>
      <p:sp>
        <p:nvSpPr>
          <p:cNvPr id="21" name="TextBox 20"/>
          <p:cNvSpPr txBox="1"/>
          <p:nvPr/>
        </p:nvSpPr>
        <p:spPr>
          <a:xfrm>
            <a:off x="8261908"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MAHALANOBIS AUROC</a:t>
            </a:r>
          </a:p>
        </p:txBody>
      </p:sp>
      <p:sp>
        <p:nvSpPr>
          <p:cNvPr id="22" name="TextBox 21"/>
          <p:cNvSpPr txBox="1"/>
          <p:nvPr/>
        </p:nvSpPr>
        <p:spPr>
          <a:xfrm>
            <a:off x="8261908"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against energy at 0.539</a:t>
            </a:r>
          </a:p>
        </p:txBody>
      </p:sp>
      <p:graphicFrame>
        <p:nvGraphicFramePr>
          <p:cNvPr id="23" name="Table 22"/>
          <p:cNvGraphicFramePr>
            <a:graphicFrameLocks noGrp="1"/>
          </p:cNvGraphicFramePr>
          <p:nvPr/>
        </p:nvGraphicFramePr>
        <p:xfrm>
          <a:off x="658368" y="3127248"/>
          <a:ext cx="6720839" cy="2688336"/>
        </p:xfrm>
        <a:graphic>
          <a:graphicData uri="http://schemas.openxmlformats.org/drawingml/2006/table">
            <a:tbl>
              <a:tblPr>
                <a:tableStyleId>{5C22544A-7EE6-4342-B048-85BDC9FD1C3A}</a:tableStyleId>
              </a:tblPr>
              <a:tblGrid>
                <a:gridCol w="4166920"/>
                <a:gridCol w="2553919"/>
              </a:tblGrid>
              <a:tr h="347472">
                <a:tc>
                  <a:txBody>
                    <a:bodyPr wrap="square"/>
                    <a:lstStyle/>
                    <a:p>
                      <a:pPr algn="l"/>
                      <a:r>
                        <a:rPr sz="1100" b="1">
                          <a:solidFill>
                            <a:srgbClr val="FFFFFF"/>
                          </a:solidFill>
                          <a:latin typeface="Segoe UI"/>
                        </a:rPr>
                        <a:t>Quantity</a:t>
                      </a:r>
                    </a:p>
                  </a:txBody>
                  <a:tcPr marL="91440" marR="91440" marT="27432" marB="27432" anchor="ctr">
                    <a:solidFill>
                      <a:srgbClr val="0E5A72"/>
                    </a:solidFill>
                  </a:tcPr>
                </a:tc>
                <a:tc>
                  <a:txBody>
                    <a:bodyPr wrap="square"/>
                    <a:lstStyle/>
                    <a:p>
                      <a:pPr algn="r"/>
                      <a:r>
                        <a:rPr sz="1100" b="1">
                          <a:solidFill>
                            <a:srgbClr val="FFFFFF"/>
                          </a:solidFill>
                          <a:latin typeface="Segoe UI"/>
                        </a:rPr>
                        <a:t>Value</a:t>
                      </a:r>
                    </a:p>
                  </a:txBody>
                  <a:tcPr marL="91440" marR="91440" marT="27432" marB="27432" anchor="ctr">
                    <a:solidFill>
                      <a:srgbClr val="0E5A72"/>
                    </a:solidFill>
                  </a:tcPr>
                </a:tc>
              </a:tr>
              <a:tr h="292608">
                <a:tc>
                  <a:txBody>
                    <a:bodyPr wrap="square"/>
                    <a:lstStyle/>
                    <a:p>
                      <a:pPr algn="l"/>
                      <a:r>
                        <a:rPr sz="1150" b="1">
                          <a:solidFill>
                            <a:srgbClr val="0B2B4A"/>
                          </a:solidFill>
                          <a:latin typeface="Segoe UI"/>
                        </a:rPr>
                        <a:t>Feature dimensionality</a:t>
                      </a:r>
                    </a:p>
                  </a:txBody>
                  <a:tcPr marL="91440" marR="91440" marT="27432" marB="27432" anchor="ctr">
                    <a:solidFill>
                      <a:srgbClr val="FFFFFF"/>
                    </a:solidFill>
                  </a:tcPr>
                </a:tc>
                <a:tc>
                  <a:txBody>
                    <a:bodyPr wrap="square"/>
                    <a:lstStyle/>
                    <a:p>
                      <a:pPr algn="r"/>
                      <a:r>
                        <a:rPr sz="1150" b="0">
                          <a:solidFill>
                            <a:srgbClr val="243B53"/>
                          </a:solidFill>
                          <a:latin typeface="Segoe UI"/>
                        </a:rPr>
                        <a:t>256</a:t>
                      </a:r>
                    </a:p>
                  </a:txBody>
                  <a:tcPr marL="91440" marR="91440" marT="27432" marB="27432" anchor="ctr">
                    <a:solidFill>
                      <a:srgbClr val="FFFFFF"/>
                    </a:solidFill>
                  </a:tcPr>
                </a:tc>
              </a:tr>
              <a:tr h="292608">
                <a:tc>
                  <a:txBody>
                    <a:bodyPr wrap="square"/>
                    <a:lstStyle/>
                    <a:p>
                      <a:pPr algn="l"/>
                      <a:r>
                        <a:rPr sz="1150" b="1">
                          <a:solidFill>
                            <a:srgbClr val="0B2B4A"/>
                          </a:solidFill>
                          <a:latin typeface="Segoe UI"/>
                        </a:rPr>
                        <a:t>Calibration sample</a:t>
                      </a:r>
                    </a:p>
                  </a:txBody>
                  <a:tcPr marL="91440" marR="91440" marT="27432" marB="27432" anchor="ctr">
                    <a:solidFill>
                      <a:srgbClr val="F3F8FB"/>
                    </a:solidFill>
                  </a:tcPr>
                </a:tc>
                <a:tc>
                  <a:txBody>
                    <a:bodyPr wrap="square"/>
                    <a:lstStyle/>
                    <a:p>
                      <a:pPr algn="r"/>
                      <a:r>
                        <a:rPr sz="1150" b="0">
                          <a:solidFill>
                            <a:srgbClr val="243B53"/>
                          </a:solidFill>
                          <a:latin typeface="Segoe UI"/>
                        </a:rPr>
                        <a:t>1,200 training and 600 validation</a:t>
                      </a:r>
                    </a:p>
                  </a:txBody>
                  <a:tcPr marL="91440" marR="91440" marT="27432" marB="27432" anchor="ctr">
                    <a:solidFill>
                      <a:srgbClr val="F3F8FB"/>
                    </a:solidFill>
                  </a:tcPr>
                </a:tc>
              </a:tr>
              <a:tr h="292608">
                <a:tc>
                  <a:txBody>
                    <a:bodyPr wrap="square"/>
                    <a:lstStyle/>
                    <a:p>
                      <a:pPr algn="l"/>
                      <a:r>
                        <a:rPr sz="1150" b="1">
                          <a:solidFill>
                            <a:srgbClr val="0B2B4A"/>
                          </a:solidFill>
                          <a:latin typeface="Segoe UI"/>
                        </a:rPr>
                        <a:t>Retention on validation, where thresholds were set</a:t>
                      </a:r>
                    </a:p>
                  </a:txBody>
                  <a:tcPr marL="91440" marR="91440" marT="27432" marB="27432" anchor="ctr">
                    <a:solidFill>
                      <a:srgbClr val="FFFFFF"/>
                    </a:solidFill>
                  </a:tcPr>
                </a:tc>
                <a:tc>
                  <a:txBody>
                    <a:bodyPr wrap="square"/>
                    <a:lstStyle/>
                    <a:p>
                      <a:pPr algn="r"/>
                      <a:r>
                        <a:rPr sz="1150" b="0">
                          <a:solidFill>
                            <a:srgbClr val="243B53"/>
                          </a:solidFill>
                          <a:latin typeface="Segoe UI"/>
                        </a:rPr>
                        <a:t>95.0 %</a:t>
                      </a:r>
                    </a:p>
                  </a:txBody>
                  <a:tcPr marL="91440" marR="91440" marT="27432" marB="27432" anchor="ctr">
                    <a:solidFill>
                      <a:srgbClr val="FFFFFF"/>
                    </a:solidFill>
                  </a:tcPr>
                </a:tc>
              </a:tr>
              <a:tr h="292608">
                <a:tc>
                  <a:txBody>
                    <a:bodyPr wrap="square"/>
                    <a:lstStyle/>
                    <a:p>
                      <a:pPr algn="l"/>
                      <a:r>
                        <a:rPr sz="1150" b="1">
                          <a:solidFill>
                            <a:srgbClr val="0B2B4A"/>
                          </a:solidFill>
                          <a:latin typeface="Segoe UI"/>
                        </a:rPr>
                        <a:t>Retention on the test partition</a:t>
                      </a:r>
                    </a:p>
                  </a:txBody>
                  <a:tcPr marL="91440" marR="91440" marT="27432" marB="27432" anchor="ctr">
                    <a:solidFill>
                      <a:srgbClr val="F3F8FB"/>
                    </a:solidFill>
                  </a:tcPr>
                </a:tc>
                <a:tc>
                  <a:txBody>
                    <a:bodyPr wrap="square"/>
                    <a:lstStyle/>
                    <a:p>
                      <a:pPr algn="r"/>
                      <a:r>
                        <a:rPr sz="1150" b="0">
                          <a:solidFill>
                            <a:srgbClr val="243B53"/>
                          </a:solidFill>
                          <a:latin typeface="Segoe UI"/>
                        </a:rPr>
                        <a:t>92.5 %</a:t>
                      </a:r>
                    </a:p>
                  </a:txBody>
                  <a:tcPr marL="91440" marR="91440" marT="27432" marB="27432" anchor="ctr">
                    <a:solidFill>
                      <a:srgbClr val="F3F8FB"/>
                    </a:solidFill>
                  </a:tcPr>
                </a:tc>
              </a:tr>
              <a:tr h="292608">
                <a:tc>
                  <a:txBody>
                    <a:bodyPr wrap="square"/>
                    <a:lstStyle/>
                    <a:p>
                      <a:pPr algn="l"/>
                      <a:r>
                        <a:rPr sz="1150" b="1">
                          <a:solidFill>
                            <a:srgbClr val="0B2B4A"/>
                          </a:solidFill>
                          <a:latin typeface="Segoe UI"/>
                        </a:rPr>
                        <a:t>Far probe flagged</a:t>
                      </a:r>
                    </a:p>
                  </a:txBody>
                  <a:tcPr marL="91440" marR="91440" marT="27432" marB="27432" anchor="ctr">
                    <a:solidFill>
                      <a:srgbClr val="FFFFFF"/>
                    </a:solidFill>
                  </a:tcPr>
                </a:tc>
                <a:tc>
                  <a:txBody>
                    <a:bodyPr wrap="square"/>
                    <a:lstStyle/>
                    <a:p>
                      <a:pPr algn="r"/>
                      <a:r>
                        <a:rPr sz="1150" b="0">
                          <a:solidFill>
                            <a:srgbClr val="243B53"/>
                          </a:solidFill>
                          <a:latin typeface="Segoe UI"/>
                        </a:rPr>
                        <a:t>100 % of 60 images</a:t>
                      </a:r>
                    </a:p>
                  </a:txBody>
                  <a:tcPr marL="91440" marR="91440" marT="27432" marB="27432" anchor="ctr">
                    <a:solidFill>
                      <a:srgbClr val="FFFFFF"/>
                    </a:solidFill>
                  </a:tcPr>
                </a:tc>
              </a:tr>
              <a:tr h="292608">
                <a:tc>
                  <a:txBody>
                    <a:bodyPr wrap="square"/>
                    <a:lstStyle/>
                    <a:p>
                      <a:pPr algn="l"/>
                      <a:r>
                        <a:rPr sz="1150" b="1">
                          <a:solidFill>
                            <a:srgbClr val="0B2B4A"/>
                          </a:solidFill>
                          <a:latin typeface="Segoe UI"/>
                        </a:rPr>
                        <a:t>AUROC, Mahalanobis, far probe</a:t>
                      </a:r>
                    </a:p>
                  </a:txBody>
                  <a:tcPr marL="91440" marR="91440" marT="27432" marB="27432" anchor="ctr">
                    <a:solidFill>
                      <a:srgbClr val="F3F8FB"/>
                    </a:solidFill>
                  </a:tcPr>
                </a:tc>
                <a:tc>
                  <a:txBody>
                    <a:bodyPr wrap="square"/>
                    <a:lstStyle/>
                    <a:p>
                      <a:pPr algn="r"/>
                      <a:r>
                        <a:rPr sz="1150" b="0">
                          <a:solidFill>
                            <a:srgbClr val="243B53"/>
                          </a:solidFill>
                          <a:latin typeface="Segoe UI"/>
                        </a:rPr>
                        <a:t>1.000</a:t>
                      </a:r>
                    </a:p>
                  </a:txBody>
                  <a:tcPr marL="91440" marR="91440" marT="27432" marB="27432" anchor="ctr">
                    <a:solidFill>
                      <a:srgbClr val="F3F8FB"/>
                    </a:solidFill>
                  </a:tcPr>
                </a:tc>
              </a:tr>
              <a:tr h="292608">
                <a:tc>
                  <a:txBody>
                    <a:bodyPr wrap="square"/>
                    <a:lstStyle/>
                    <a:p>
                      <a:pPr algn="l"/>
                      <a:r>
                        <a:rPr sz="1150" b="1">
                          <a:solidFill>
                            <a:srgbClr val="0B2B4A"/>
                          </a:solidFill>
                          <a:latin typeface="Segoe UI"/>
                        </a:rPr>
                        <a:t>AUROC, energy, far probe</a:t>
                      </a:r>
                    </a:p>
                  </a:txBody>
                  <a:tcPr marL="91440" marR="91440" marT="27432" marB="27432" anchor="ctr">
                    <a:solidFill>
                      <a:srgbClr val="E6F2F7"/>
                    </a:solidFill>
                  </a:tcPr>
                </a:tc>
                <a:tc>
                  <a:txBody>
                    <a:bodyPr wrap="square"/>
                    <a:lstStyle/>
                    <a:p>
                      <a:pPr algn="r"/>
                      <a:r>
                        <a:rPr sz="1150" b="1">
                          <a:solidFill>
                            <a:srgbClr val="0B2B4A"/>
                          </a:solidFill>
                          <a:latin typeface="Segoe UI"/>
                        </a:rPr>
                        <a:t>0.539</a:t>
                      </a:r>
                    </a:p>
                  </a:txBody>
                  <a:tcPr marL="91440" marR="91440" marT="27432" marB="27432" anchor="ctr">
                    <a:solidFill>
                      <a:srgbClr val="E6F2F7"/>
                    </a:solidFill>
                  </a:tcPr>
                </a:tc>
              </a:tr>
              <a:tr h="292608">
                <a:tc>
                  <a:txBody>
                    <a:bodyPr wrap="square"/>
                    <a:lstStyle/>
                    <a:p>
                      <a:pPr algn="l"/>
                      <a:r>
                        <a:rPr sz="1150" b="1">
                          <a:solidFill>
                            <a:srgbClr val="0B2B4A"/>
                          </a:solidFill>
                          <a:latin typeface="Segoe UI"/>
                        </a:rPr>
                        <a:t>Deployed decision policy</a:t>
                      </a:r>
                    </a:p>
                  </a:txBody>
                  <a:tcPr marL="91440" marR="91440" marT="27432" marB="27432" anchor="ctr">
                    <a:solidFill>
                      <a:srgbClr val="F3F8FB"/>
                    </a:solidFill>
                  </a:tcPr>
                </a:tc>
                <a:tc>
                  <a:txBody>
                    <a:bodyPr wrap="square"/>
                    <a:lstStyle/>
                    <a:p>
                      <a:pPr algn="r"/>
                      <a:r>
                        <a:rPr sz="1150" b="0">
                          <a:solidFill>
                            <a:srgbClr val="243B53"/>
                          </a:solidFill>
                          <a:latin typeface="Segoe UI"/>
                        </a:rPr>
                        <a:t>Mahalanobis</a:t>
                      </a:r>
                    </a:p>
                  </a:txBody>
                  <a:tcPr marL="91440" marR="91440" marT="27432" marB="27432" anchor="ctr">
                    <a:solidFill>
                      <a:srgbClr val="F3F8FB"/>
                    </a:solidFill>
                  </a:tcPr>
                </a:tc>
              </a:tr>
            </a:tbl>
          </a:graphicData>
        </a:graphic>
      </p:graphicFrame>
      <p:sp>
        <p:nvSpPr>
          <p:cNvPr id="24" name="Rounded Rectangle 23"/>
          <p:cNvSpPr/>
          <p:nvPr/>
        </p:nvSpPr>
        <p:spPr>
          <a:xfrm>
            <a:off x="7607808" y="3127248"/>
            <a:ext cx="3922776" cy="1874519"/>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07808" y="3127248"/>
            <a:ext cx="40640" cy="187451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63840" y="3310128"/>
            <a:ext cx="341071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The negative result is the informative one</a:t>
            </a:r>
          </a:p>
        </p:txBody>
      </p:sp>
      <p:sp>
        <p:nvSpPr>
          <p:cNvPr id="27" name="Rounded Rectangle 26"/>
          <p:cNvSpPr/>
          <p:nvPr/>
        </p:nvSpPr>
        <p:spPr>
          <a:xfrm>
            <a:off x="7863840" y="375361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83296" y="3675888"/>
            <a:ext cx="31912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Energy is a function of the logits. If a model produces large logits for inputs it has never seen, energy cannot separate them.</a:t>
            </a:r>
          </a:p>
        </p:txBody>
      </p:sp>
      <p:sp>
        <p:nvSpPr>
          <p:cNvPr id="29" name="Rounded Rectangle 28"/>
          <p:cNvSpPr/>
          <p:nvPr/>
        </p:nvSpPr>
        <p:spPr>
          <a:xfrm>
            <a:off x="7863840" y="4432173"/>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83296" y="4354449"/>
            <a:ext cx="31912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That is exactly the documented overconfidence. Mahalanobis operates before that collapse, in feature space.</a:t>
            </a:r>
          </a:p>
        </p:txBody>
      </p:sp>
      <p:sp>
        <p:nvSpPr>
          <p:cNvPr id="31" name="Rounded Rectangle 30"/>
          <p:cNvSpPr/>
          <p:nvPr/>
        </p:nvSpPr>
        <p:spPr>
          <a:xfrm>
            <a:off x="7863840" y="511073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83296" y="5033010"/>
            <a:ext cx="319125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Which signal works has to be measured, not adopted on authority.</a:t>
            </a:r>
          </a:p>
        </p:txBody>
      </p:sp>
      <p:sp>
        <p:nvSpPr>
          <p:cNvPr id="33" name="Rounded Rectangle 32"/>
          <p:cNvSpPr/>
          <p:nvPr/>
        </p:nvSpPr>
        <p:spPr>
          <a:xfrm>
            <a:off x="7607808" y="5157216"/>
            <a:ext cx="3922776" cy="914400"/>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07808" y="5157216"/>
            <a:ext cx="40640"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845552" y="5276088"/>
            <a:ext cx="3419856" cy="676656"/>
          </a:xfrm>
          <a:prstGeom prst="rect">
            <a:avLst/>
          </a:prstGeom>
          <a:noFill/>
        </p:spPr>
        <p:txBody>
          <a:bodyPr wrap="square" anchor="t" lIns="0" rIns="0" tIns="0" bIns="0">
            <a:spAutoFit/>
          </a:bodyPr>
          <a:lstStyle/>
          <a:p>
            <a:pPr algn="l">
              <a:lnSpc>
                <a:spcPct val="118000"/>
              </a:lnSpc>
              <a:spcAft>
                <a:spcPts val="300"/>
              </a:spcAft>
            </a:pPr>
            <a:r>
              <a:rPr sz="1250" b="1" i="0">
                <a:solidFill>
                  <a:srgbClr val="B45309"/>
                </a:solidFill>
                <a:latin typeface="Segoe UI"/>
              </a:rPr>
              <a:t>Stated limitation</a:t>
            </a:r>
          </a:p>
          <a:p>
            <a:pPr algn="l">
              <a:lnSpc>
                <a:spcPct val="118000"/>
              </a:lnSpc>
              <a:spcAft>
                <a:spcPts val="300"/>
              </a:spcAft>
            </a:pPr>
            <a:r>
              <a:rPr sz="1150" b="0" i="0">
                <a:solidFill>
                  <a:srgbClr val="B45309"/>
                </a:solidFill>
                <a:latin typeface="Segoe UI"/>
              </a:rPr>
              <a:t>Sixty generated images of noise, gradients and solid colour from a fixed seed. A far regime sanity check, not validation against real photographs.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WHAT THIS THESIS DELIVERED</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Conclusion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10</a:t>
            </a:r>
          </a:p>
        </p:txBody>
      </p:sp>
      <p:sp>
        <p:nvSpPr>
          <p:cNvPr id="8" name="TextBox 7"/>
          <p:cNvSpPr txBox="1"/>
          <p:nvPr/>
        </p:nvSpPr>
        <p:spPr>
          <a:xfrm>
            <a:off x="658368" y="1527048"/>
            <a:ext cx="10874959" cy="914400"/>
          </a:xfrm>
          <a:prstGeom prst="rect">
            <a:avLst/>
          </a:prstGeom>
          <a:noFill/>
        </p:spPr>
        <p:txBody>
          <a:bodyPr wrap="square" anchor="t" lIns="0" rIns="0" tIns="0" bIns="0">
            <a:spAutoFit/>
          </a:bodyPr>
          <a:lstStyle/>
          <a:p>
            <a:pPr algn="l">
              <a:lnSpc>
                <a:spcPct val="116000"/>
              </a:lnSpc>
              <a:spcAft>
                <a:spcPts val="600"/>
              </a:spcAft>
            </a:pPr>
            <a:r>
              <a:rPr sz="1800" b="1" i="0">
                <a:solidFill>
                  <a:srgbClr val="0B2B4A"/>
                </a:solidFill>
                <a:latin typeface="Segoe UI"/>
              </a:rPr>
              <a:t>This thesis addressed the gap between a chest radiograph classifier that is accurate and one that is safe to deploy.</a:t>
            </a:r>
          </a:p>
        </p:txBody>
      </p:sp>
      <p:sp>
        <p:nvSpPr>
          <p:cNvPr id="9" name="Rounded Rectangle 8"/>
          <p:cNvSpPr/>
          <p:nvPr/>
        </p:nvSpPr>
        <p:spPr>
          <a:xfrm>
            <a:off x="658368"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85.31 %</a:t>
            </a:r>
          </a:p>
        </p:txBody>
      </p:sp>
      <p:sp>
        <p:nvSpPr>
          <p:cNvPr id="12" name="TextBox 11"/>
          <p:cNvSpPr txBox="1"/>
          <p:nvPr/>
        </p:nvSpPr>
        <p:spPr>
          <a:xfrm>
            <a:off x="877824"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TEST ACCURACY</a:t>
            </a:r>
          </a:p>
        </p:txBody>
      </p:sp>
      <p:sp>
        <p:nvSpPr>
          <p:cNvPr id="13" name="TextBox 12"/>
          <p:cNvSpPr txBox="1"/>
          <p:nvPr/>
        </p:nvSpPr>
        <p:spPr>
          <a:xfrm>
            <a:off x="877824"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macro F1 0.844 on 1,382 held out images</a:t>
            </a:r>
          </a:p>
        </p:txBody>
      </p:sp>
      <p:sp>
        <p:nvSpPr>
          <p:cNvPr id="14" name="Rounded Rectangle 13"/>
          <p:cNvSpPr/>
          <p:nvPr/>
        </p:nvSpPr>
        <p:spPr>
          <a:xfrm>
            <a:off x="3427399"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427399"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46855"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92.5 %</a:t>
            </a:r>
          </a:p>
        </p:txBody>
      </p:sp>
      <p:sp>
        <p:nvSpPr>
          <p:cNvPr id="17" name="TextBox 16"/>
          <p:cNvSpPr txBox="1"/>
          <p:nvPr/>
        </p:nvSpPr>
        <p:spPr>
          <a:xfrm>
            <a:off x="3646855"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GENUINE SCANS RETAINED</a:t>
            </a:r>
          </a:p>
        </p:txBody>
      </p:sp>
      <p:sp>
        <p:nvSpPr>
          <p:cNvPr id="18" name="TextBox 17"/>
          <p:cNvSpPr txBox="1"/>
          <p:nvPr/>
        </p:nvSpPr>
        <p:spPr>
          <a:xfrm>
            <a:off x="3646855"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while refusing every probe image</a:t>
            </a:r>
          </a:p>
        </p:txBody>
      </p:sp>
      <p:sp>
        <p:nvSpPr>
          <p:cNvPr id="19" name="Rounded Rectangle 18"/>
          <p:cNvSpPr/>
          <p:nvPr/>
        </p:nvSpPr>
        <p:spPr>
          <a:xfrm>
            <a:off x="6196430"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96430"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15886"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1.000</a:t>
            </a:r>
          </a:p>
        </p:txBody>
      </p:sp>
      <p:sp>
        <p:nvSpPr>
          <p:cNvPr id="22" name="TextBox 21"/>
          <p:cNvSpPr txBox="1"/>
          <p:nvPr/>
        </p:nvSpPr>
        <p:spPr>
          <a:xfrm>
            <a:off x="6415886"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MAHALANOBIS AUROC</a:t>
            </a:r>
          </a:p>
        </p:txBody>
      </p:sp>
      <p:sp>
        <p:nvSpPr>
          <p:cNvPr id="23" name="TextBox 22"/>
          <p:cNvSpPr txBox="1"/>
          <p:nvPr/>
        </p:nvSpPr>
        <p:spPr>
          <a:xfrm>
            <a:off x="6415886"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against energy at 0.539</a:t>
            </a:r>
          </a:p>
        </p:txBody>
      </p:sp>
      <p:sp>
        <p:nvSpPr>
          <p:cNvPr id="24" name="Rounded Rectangle 23"/>
          <p:cNvSpPr/>
          <p:nvPr/>
        </p:nvSpPr>
        <p:spPr>
          <a:xfrm>
            <a:off x="8965461"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65461"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84917"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 / 10</a:t>
            </a:r>
          </a:p>
        </p:txBody>
      </p:sp>
      <p:sp>
        <p:nvSpPr>
          <p:cNvPr id="27" name="TextBox 26"/>
          <p:cNvSpPr txBox="1"/>
          <p:nvPr/>
        </p:nvSpPr>
        <p:spPr>
          <a:xfrm>
            <a:off x="9184917"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TEST CASES PASSED</a:t>
            </a:r>
          </a:p>
        </p:txBody>
      </p:sp>
      <p:sp>
        <p:nvSpPr>
          <p:cNvPr id="28" name="TextBox 27"/>
          <p:cNvSpPr txBox="1"/>
          <p:nvPr/>
        </p:nvSpPr>
        <p:spPr>
          <a:xfrm>
            <a:off x="9184917"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against the running stack</a:t>
            </a:r>
          </a:p>
        </p:txBody>
      </p:sp>
      <p:sp>
        <p:nvSpPr>
          <p:cNvPr id="29" name="Rounded Rectangle 28"/>
          <p:cNvSpPr/>
          <p:nvPr/>
        </p:nvSpPr>
        <p:spPr>
          <a:xfrm>
            <a:off x="658368" y="3895344"/>
            <a:ext cx="10874959" cy="182880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58368" y="3895344"/>
            <a:ext cx="40640" cy="18288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 y="4078224"/>
            <a:ext cx="1036289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What is new here</a:t>
            </a:r>
          </a:p>
        </p:txBody>
      </p:sp>
      <p:sp>
        <p:nvSpPr>
          <p:cNvPr id="32" name="Rounded Rectangle 31"/>
          <p:cNvSpPr/>
          <p:nvPr/>
        </p:nvSpPr>
        <p:spPr>
          <a:xfrm>
            <a:off x="914400" y="452170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133856" y="4443984"/>
            <a:ext cx="10143439"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A four class explainable framework in which a post hoc safeguard, fitted without retraining, withholds the diagnosis for inputs the model cannot assess, and says why.</a:t>
            </a:r>
          </a:p>
        </p:txBody>
      </p:sp>
      <p:sp>
        <p:nvSpPr>
          <p:cNvPr id="34" name="Rounded Rectangle 33"/>
          <p:cNvSpPr/>
          <p:nvPr/>
        </p:nvSpPr>
        <p:spPr>
          <a:xfrm>
            <a:off x="914400" y="503859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33856" y="4960874"/>
            <a:ext cx="10143439" cy="212725"/>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An explanation restricted to the lung fields whose localisation is measured on the unmasked map and disclosed for every scan.</a:t>
            </a:r>
          </a:p>
        </p:txBody>
      </p:sp>
      <p:sp>
        <p:nvSpPr>
          <p:cNvPr id="36" name="Rounded Rectangle 35"/>
          <p:cNvSpPr/>
          <p:nvPr/>
        </p:nvSpPr>
        <p:spPr>
          <a:xfrm>
            <a:off x="914400" y="5342763"/>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33856" y="5265039"/>
            <a:ext cx="10143439"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Evidence rather than a new architecture: a per class characterisation of the four class task, and detection methods carried into a clinical setting where they are actually evaluated and one of them fails.</a:t>
            </a:r>
          </a:p>
        </p:txBody>
      </p:sp>
      <p:sp>
        <p:nvSpPr>
          <p:cNvPr id="38" name="Rounded Rectangle 37"/>
          <p:cNvSpPr/>
          <p:nvPr/>
        </p:nvSpPr>
        <p:spPr>
          <a:xfrm>
            <a:off x="658368" y="5815584"/>
            <a:ext cx="10874959" cy="438912"/>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58368" y="5815584"/>
            <a:ext cx="40640" cy="438912"/>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6112" y="5934456"/>
            <a:ext cx="10372039" cy="201168"/>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The practical value lies in the safeguard rather than in the classifier: it applies to a model already deployed.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