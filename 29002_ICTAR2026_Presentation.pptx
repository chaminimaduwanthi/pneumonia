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8" r:id="rId2"/>
    <p:sldId id="267" r:id="rId3"/>
    <p:sldId id="269" r:id="rId4"/>
    <p:sldId id="270" r:id="rId5"/>
    <p:sldId id="271" r:id="rId6"/>
    <p:sldId id="272" r:id="rId11"/>
    <p:sldId id="273" r:id="rId12"/>
    <p:sldId id="274" r:id="rId13"/>
    <p:sldId id="275" r:id="rId14"/>
    <p:sldId id="276" r:id="rId15"/>
    <p:sldId id="277" r:id="rId16"/>
    <p:sldId id="27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AD9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7375E"/>
                </a:solidFill>
                <a:latin typeface="+mn-lt"/>
              </a:rPr>
              <a:t>Images per class (Mendeley curated dataset [24])</a:t>
            </a:r>
          </a:p>
        </c:rich>
      </c:tx>
      <c:layout/>
      <c:overlay val="0"/>
    </c:title>
    <c:autoTitleDeleted val="0"/>
    <c:plotArea>
      <c:barChart>
        <c:barDir val="col"/>
        <c:grouping val="clustered"/>
        <c:ser>
          <c:idx val="0"/>
          <c:order val="0"/>
          <c:tx>
            <c:strRef>
              <c:f>Sheet1!$B$1</c:f>
              <c:strCache>
                <c:ptCount val="1"/>
                <c:pt idx="0">
                  <c:v>Images</c:v>
                </c:pt>
              </c:strCache>
            </c:strRef>
          </c:tx>
          <c:spPr>
            <a:solidFill>
              <a:srgbClr val="22A4A0"/>
            </a:solidFill>
          </c:spPr>
          <c:dPt>
            <c:idx val="0"/>
            <c:spPr>
              <a:solidFill>
                <a:srgbClr val="DE6C0B"/>
              </a:solidFill>
            </c:spPr>
          </c:dPt>
          <c:dPt>
            <c:idx val="3"/>
            <c:spPr>
              <a:solidFill>
                <a:srgbClr val="DE6C0B"/>
              </a:solidFill>
            </c:spPr>
          </c:dPt>
          <c:cat>
            <c:strRef>
              <c:f>Sheet1!$A$2:$A$5</c:f>
              <c:strCache>
                <c:ptCount val="4"/>
                <c:pt idx="0">
                  <c:v>COVID-19</c:v>
                </c:pt>
                <c:pt idx="1">
                  <c:v>Normal</c:v>
                </c:pt>
                <c:pt idx="2">
                  <c:v>Bacterial</c:v>
                </c:pt>
                <c:pt idx="3">
                  <c:v>Viral</c:v>
                </c:pt>
              </c:strCache>
            </c:strRef>
          </c:cat>
          <c:val>
            <c:numRef>
              <c:f>Sheet1!$B$2:$B$5</c:f>
              <c:numCache>
                <c:formatCode>General</c:formatCode>
                <c:ptCount val="4"/>
                <c:pt idx="0">
                  <c:v>1281</c:v>
                </c:pt>
                <c:pt idx="1">
                  <c:v>3271</c:v>
                </c:pt>
                <c:pt idx="2">
                  <c:v>3001</c:v>
                </c:pt>
                <c:pt idx="3">
                  <c:v>1656</c:v>
                </c:pt>
              </c:numCache>
            </c:numRef>
          </c:val>
        </c:ser>
        <c:dLbls>
          <c:numFmt formatCode="#,##0" sourceLinked="0"/>
          <c:txPr>
            <a:bodyPr/>
            <a:lstStyle/>
            <a:p>
              <a:pPr>
                <a:defRPr sz="1400">
                  <a:solidFill>
                    <a:srgbClr val="404040"/>
                  </a:solidFill>
                  <a:latin typeface="+mn-lt"/>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400">
                <a:solidFill>
                  <a:srgbClr val="404040"/>
                </a:solidFill>
                <a:latin typeface="+mn-l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latin typeface="+mn-l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7375E"/>
                </a:solidFill>
                <a:latin typeface="+mn-lt"/>
              </a:rPr>
              <a:t>Test accuracy, 1,382 held-out images (%)</a:t>
            </a:r>
          </a:p>
        </c:rich>
      </c:tx>
      <c:layout/>
      <c:overlay val="0"/>
    </c:title>
    <c:autoTitleDeleted val="0"/>
    <c:plotArea>
      <c:barChart>
        <c:barDir val="bar"/>
        <c:grouping val="clustered"/>
        <c:ser>
          <c:idx val="0"/>
          <c:order val="0"/>
          <c:tx>
            <c:strRef>
              <c:f>Sheet1!$B$1</c:f>
              <c:strCache>
                <c:ptCount val="1"/>
                <c:pt idx="0">
                  <c:v>Test accuracy (%)</c:v>
                </c:pt>
              </c:strCache>
            </c:strRef>
          </c:tx>
          <c:spPr>
            <a:solidFill>
              <a:srgbClr val="22A4A0"/>
            </a:solidFill>
          </c:spPr>
          <c:dPt>
            <c:idx val="0"/>
            <c:spPr>
              <a:solidFill>
                <a:srgbClr val="DE6C0B"/>
              </a:solidFill>
            </c:spPr>
          </c:dPt>
          <c:cat>
            <c:strRef>
              <c:f>Sheet1!$A$2:$A$4</c:f>
              <c:strCache>
                <c:ptCount val="3"/>
                <c:pt idx="0">
                  <c:v>DenseNet121</c:v>
                </c:pt>
                <c:pt idx="1">
                  <c:v>EfficientNetV2B3</c:v>
                </c:pt>
                <c:pt idx="2">
                  <c:v>EfficientNetV2S</c:v>
                </c:pt>
              </c:strCache>
            </c:strRef>
          </c:cat>
          <c:val>
            <c:numRef>
              <c:f>Sheet1!$B$2:$B$4</c:f>
              <c:numCache>
                <c:formatCode>General</c:formatCode>
                <c:ptCount val="3"/>
                <c:pt idx="0">
                  <c:v>85.31</c:v>
                </c:pt>
                <c:pt idx="1">
                  <c:v>84.3</c:v>
                </c:pt>
                <c:pt idx="2">
                  <c:v>80.54</c:v>
                </c:pt>
              </c:numCache>
            </c:numRef>
          </c:val>
        </c:ser>
        <c:dLbls>
          <c:numFmt formatCode="0.00" sourceLinked="0"/>
          <c:txPr>
            <a:bodyPr/>
            <a:lstStyle/>
            <a:p>
              <a:pPr>
                <a:defRPr sz="1400">
                  <a:solidFill>
                    <a:srgbClr val="404040"/>
                  </a:solidFill>
                  <a:latin typeface="+mn-lt"/>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axMin"/>
        </c:scaling>
        <c:delete val="0"/>
        <c:axPos val="l"/>
        <c:majorTickMark val="out"/>
        <c:minorTickMark val="none"/>
        <c:tickLblPos val="nextTo"/>
        <c:spPr>
          <a:ln>
            <a:solidFill>
              <a:srgbClr val="BFBFBF"/>
            </a:solidFill>
          </a:ln>
        </c:spPr>
        <c:txPr>
          <a:bodyPr/>
          <a:lstStyle/>
          <a:p>
            <a:pPr>
              <a:defRPr sz="1400">
                <a:solidFill>
                  <a:srgbClr val="404040"/>
                </a:solidFill>
                <a:latin typeface="+mn-lt"/>
              </a:defRPr>
            </a:pPr>
          </a:p>
        </c:txPr>
        <c:crossAx val="-2113994440"/>
        <c:crosses val="autoZero"/>
        <c:auto val="1"/>
        <c:lblAlgn val="ctr"/>
        <c:lblOffset val="100"/>
        <c:noMultiLvlLbl val="0"/>
      </c:catAx>
      <c:valAx>
        <c:axId val="-2113994440"/>
        <c:scaling>
          <c:max val="90.0"/>
          <c:min val="70.0"/>
        </c:scaling>
        <c:delete/>
        <c:axPos val="b"/>
        <c:majorTickMark val="out"/>
        <c:minorTickMark val="none"/>
        <c:tickLblPos val="nextTo"/>
        <c:crossAx val="-2068027336"/>
        <c:crosses val="autoZero"/>
      </c:valAx>
    </c:plotArea>
    <c:dispBlanksAs val="gap"/>
  </c:chart>
  <c:txPr>
    <a:bodyPr/>
    <a:lstStyle/>
    <a:p>
      <a:pPr>
        <a:defRPr sz="1800">
          <a:latin typeface="+mn-lt"/>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My name is &lt;presenter name&gt;.</a:t>
            </a:r>
          </a:p>
          <a:p>
            <a:r>
              <a:t>Today I will present our paper: "Explainable Deep Learning Framework for Pneumonia Detection and Classification Using Transfer Learning and Grad-CAM".</a:t>
            </a:r>
          </a:p>
          <a:p>
            <a:r>
              <a:t>In simple words, we built a system that looks at a chest X-ray and says whether it is Normal, COVID-19, bacterial pneumonia or viral pneumonia. It also shows a heatmap of the lung areas that led to the answer, so a doctor can check the result.</a:t>
            </a:r>
          </a:p>
          <a:p>
            <a:r>
              <a:t>I will cover the introduction, the related work, our method, the results, a short discussion, and the conclusion.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Pneumonia is still one of the main causes of illness and death in the world, especially for small children and older people.</a:t>
            </a:r>
          </a:p>
          <a:p>
            <a:r>
              <a:t>A chest X-ray is usually the first test, because it is cheap, fast and available almost everywhere. But reading it is hard. Normal lungs, COVID-19, bacterial pneumonia and viral pneumonia can look very similar, and there are not enough radiologists, especially in busy or low-resource hospitals.</a:t>
            </a:r>
          </a:p>
          <a:p>
            <a:r>
              <a:t>This matters because each cause needs a different treatment. Bacterial pneumonia needs antibiotics, viral pneumonia usually does not, and COVID-19 needs isolation.</a:t>
            </a:r>
          </a:p>
          <a:p>
            <a:r>
              <a:t>When we looked at earlier work, we found four gaps. Most studies only answer normal or abnormal. Few compare these three networks on the same data. Grad-CAM is often just an extra picture. And very few studies build a complete system that a hospital could use.</a:t>
            </a:r>
          </a:p>
          <a:p>
            <a:r>
              <a:t>So our aim was to do four-class classification, add Grad-CAM explanations, and deliver everything as one working web platform.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work builds on four ideas from earlier research.</a:t>
            </a:r>
          </a:p>
          <a:p>
            <a:r>
              <a:t>First, DenseNet. In DenseNet every layer reuses the features from all the layers before it. This keeps small details, which is useful in X-rays. The well-known CheXNet study used DenseNet to detect pneumonia at the level of a radiologist.</a:t>
            </a:r>
          </a:p>
          <a:p>
            <a:r>
              <a:t>Second, EfficientNet and EfficientNetV2. These networks grow depth, width and image size together in a balanced way. Version 2 adds Fused-MBConv blocks, so it trains faster.</a:t>
            </a:r>
          </a:p>
          <a:p>
            <a:r>
              <a:t>Third, transfer learning. Medical datasets are small, so we start from networks that already learned from ImageNet and then fine-tune them. Research shows this works better than training from zero.</a:t>
            </a:r>
          </a:p>
          <a:p>
            <a:r>
              <a:t>Fourth, explainability. Grad-CAM shows which parts of the image pushed the model to its answer. Doctors need this to trust a model.</a:t>
            </a:r>
          </a:p>
          <a:p>
            <a:r>
              <a:t>Earlier COVID-19 studies were mostly binary or three-class. None of them handled all four classes, including bacterial versus viral, in one framework. That is the gap we address.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used the public Mendeley curated chest X-ray dataset. Our copy has 9,209 images in four classes.</a:t>
            </a:r>
          </a:p>
          <a:p>
            <a:r>
              <a:t>As you can see in the chart, the classes are not balanced. Normal and bacterial pneumonia have about three thousand images each, but COVID-19 and viral pneumonia have much fewer. To handle this, we used balanced class weights in the loss, so the small classes count more during training.</a:t>
            </a:r>
          </a:p>
          <a:p>
            <a:r>
              <a:t>We split the data once into 70 percent training, 15 percent validation and 15 percent test, keeping the class ratio the same in every part. All three models use exactly this same split, so the comparison is fair.</a:t>
            </a:r>
          </a:p>
          <a:p>
            <a:r>
              <a:t>Before training, images are resized: 224 by 224 for DenseNet121 and 300 by 300 for the EfficientNet models. X-rays are grayscale, so we copy the single channel three times to match the ImageNet input.</a:t>
            </a:r>
          </a:p>
          <a:p>
            <a:r>
              <a:t>We used augmentation, like small rotations, shifts, zoom and flips, only on the training images. Validation and test images are not changed.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compared three networks that were already trained on ImageNet: DenseNet121, EfficientNetV2B3 and EfficientNetV2S.</a:t>
            </a:r>
          </a:p>
          <a:p>
            <a:r>
              <a:t>DenseNet121 is built from dense blocks, where each layer gets the outputs of all earlier layers. The EfficientNetV2 models use Fused-MBConv blocks in the early stages and MBConv blocks with channel attention later. EfficientNetV2S is the biggest, with about 21 million parameters.</a:t>
            </a:r>
          </a:p>
          <a:p>
            <a:r>
              <a:t>For every model we removed the original ImageNet classifier and added the same kind of head: pooling, batch normalization, two dense layers with dropout, and a softmax layer with four outputs.</a:t>
            </a:r>
          </a:p>
          <a:p>
            <a:r>
              <a:t>Training has two stages. In stage one, the backbone is frozen and only the new head learns. In stage two, we unfreeze the top layers of the backbone and fine-tune them with a very small learning rate, so the useful pretrained features are not destroyed.</a:t>
            </a:r>
          </a:p>
          <a:p>
            <a:r>
              <a:t>All models use Adam, cross-entropy loss and early stopping. Some settings, like batch size, had to be different because of memory limits, and we report these openly in the paper.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explainability part. For every prediction we make a Grad-CAM heatmap.</a:t>
            </a:r>
          </a:p>
          <a:p>
            <a:r>
              <a:t>The steps are shown at the top. The X-ray goes into DenseNet121. We take the gradients of the predicted class score with respect to the last 7 by 7 feature map, and turn them into a heatmap.</a:t>
            </a:r>
          </a:p>
          <a:p>
            <a:r>
              <a:t>One important detail: we use the score before the softmax, the logit. When the model is very confident, the softmax is flat and its gradients almost disappear, so the heatmap becomes useless. Using the logit fixes this.</a:t>
            </a:r>
          </a:p>
          <a:p>
            <a:r>
              <a:t>Next, a pretrained U-Net finds the lungs in the X-ray. We keep the heatmap only inside the lungs. You can see this in the picture: on the left are the lung borders found by the U-Net, and on the right the heatmap stays completely inside the lungs.</a:t>
            </a:r>
          </a:p>
          <a:p>
            <a:r>
              <a:t>But masking can hide a problem. So before masking we measure how much of the attention was really inside the lungs. If it is less than half, the system shows a caution to the doctor. And if the U-Net cannot find lungs, we simply show the normal heatmap.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is not only an experiment. We built a full web platform around it, shown in this diagram.</a:t>
            </a:r>
          </a:p>
          <a:p>
            <a:r>
              <a:t>Users open a Next.js web app that works on desktop, tablet and mobile. They log in securely with JWT, and there are four roles: patient, doctor, researcher and administrator. The PHP backend stores scans and results in MySQL, so every prediction is saved in the patient history.</a:t>
            </a:r>
          </a:p>
          <a:p>
            <a:r>
              <a:t>The models run in a separate Python FastAPI service. It does the preprocessing, the prediction, the confidence score and the Grad-CAM.</a:t>
            </a:r>
          </a:p>
          <a:p>
            <a:r>
              <a:t>We also added a safety check. If someone uploads something that is not a chest X-ray, for example a random image, an out-of-distribution check based on the Mahalanobis distance holds back the diagnosis and explains why.</a:t>
            </a:r>
          </a:p>
          <a:p>
            <a:r>
              <a:t>Finally, the system creates a PDF report in English, Sinhala or Tamil, which is useful for patients in Sri Lanka.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results on the test set of 1,382 images, which were never used for training.</a:t>
            </a:r>
          </a:p>
          <a:p>
            <a:r>
              <a:t>DenseNet121 gave the best accuracy, 85.31 percent, with an AUC of 0.977. EfficientNetV2B3 was very close at 84.30 percent, and EfficientNetV2S reached 80.54 percent.</a:t>
            </a:r>
          </a:p>
          <a:p>
            <a:r>
              <a:t>But please note: the gap between the first two models is only about one percent, which is 14 images, and their 95 percent confidence intervals overlap. So we cannot say one is really better than the other. The lower EfficientNetV2S result is also partly due to an input scaling issue in its training, so it is not a fair judgement of that architecture.</a:t>
            </a:r>
          </a:p>
          <a:p>
            <a:r>
              <a:t>The more useful finding is on the right. All models recognise COVID-19 and Normal very well, with recall between 0.97 and 0.99. The difficult part is bacterial versus viral pneumonia. For DenseNet121, 76 percent of all mistakes were confusions between these two classes.</a:t>
            </a:r>
          </a:p>
          <a:p>
            <a:r>
              <a:t>So the system is strong at telling normal from abnormal, but bacterial versus viral still needs a doctor's decision.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slide we look at the Grad-CAM results and compare our work with earlier studies.</a:t>
            </a:r>
          </a:p>
          <a:p>
            <a:r>
              <a:t>First, Grad-CAM. We measured the explanations instead of only showing them. With the softmax score, the gradient was 467 times smaller than with the logit, which confirms why we use logits.</a:t>
            </a:r>
          </a:p>
          <a:p>
            <a:r>
              <a:t>On a Normal X-ray that the model was 99.9 percent sure about, only 19 percent of the attention was inside the lungs. So the system correctly showed a caution. This is exactly why we report this number: a nice looking heatmap can hide the fact that the model was looking elsewhere.</a:t>
            </a:r>
          </a:p>
          <a:p>
            <a:r>
              <a:t>Grad-CAM also agreed only weakly with an occlusion test, so we treat heatmaps as supporting evidence only. The U-Net found the lungs in 12 of 13 test X-rays, and found nothing in a noise image or a logo.</a:t>
            </a:r>
          </a:p>
          <a:p>
            <a:r>
              <a:t>On the right is a comparison with earlier methods. Their numbers are higher, but they solved easier binary or three-class problems on different data. The closest three-class result, 87 percent, is similar to our 85 percent on the harder four-class task.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do these results mean? Our framework works, but we want to be honest about three things.</a:t>
            </a:r>
          </a:p>
          <a:p>
            <a:r>
              <a:t>First, the architectures are very close. The differences in accuracy are small compared with the uncertainty, and some training settings were different. So we do not claim that one network design is better. We deployed DenseNet121 simply because it was best on every metric we measured.</a:t>
            </a:r>
          </a:p>
          <a:p>
            <a:r>
              <a:t>Second, the system is good for screening, but not for finding the exact cause. It separates normal from abnormal X-rays reliably. But telling bacterial from viral pneumonia is not accurate enough yet to decide on antibiotics.</a:t>
            </a:r>
          </a:p>
          <a:p>
            <a:r>
              <a:t>Third, Grad-CAM shows where the model looked, not why. And as we saw, even a very confident prediction can look mostly outside the lungs. That is why we show the in-lung share to the doctor.</a:t>
            </a:r>
          </a:p>
          <a:p>
            <a:r>
              <a:t>Overall, this is a decision-support tool. It helps doctors; it does not replace them. Before real clinical use, it must be tested on data from other hospitals, machines and patient groups.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We presented an explainable deep learning framework that classifies chest X-rays into four classes: Normal, COVID-19, bacterial pneumonia and viral pneumonia.</a:t>
            </a:r>
          </a:p>
          <a:p>
            <a:r>
              <a:t>Our contributions are three. First, a fair comparison of three networks on the same data and protocol, where DenseNet121 reached 85.31 percent. Second, Grad-CAM explanations computed from the logits, kept inside the lungs, and with the in-lung share shown honestly. Third, a complete platform with web and mobile access, secure login, patient history, a safety check for invalid inputs, and reports in three languages.</a:t>
            </a:r>
          </a:p>
          <a:p>
            <a:r>
              <a:t>The study also has limits. We used one public dataset and trained each model once. The settings were not fully equal, and no radiologist checked the heatmaps.</a:t>
            </a:r>
          </a:p>
          <a:p>
            <a:r>
              <a:t>In the future we plan to test the system on data from other hospitals, repeat the training in a fully controlled way, ask radiologists to review the explanations, and add other clinical data.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listening.</a:t>
            </a:r>
          </a:p>
          <a:p>
            <a:r>
              <a:t>I am happy to answer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114229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641265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18322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37419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82567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8708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98366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01416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88632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06410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4925526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7228005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chart" Target="../charts/char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1.png"/><Relationship Id="rId8" Type="http://schemas.openxmlformats.org/officeDocument/2006/relationships/image" Target="../media/image18.png"/><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12.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chart" Target="../charts/char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11.png"/><Relationship Id="rId6" Type="http://schemas.openxmlformats.org/officeDocument/2006/relationships/image" Target="../media/image26.png"/><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2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28.png"/><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4A112E-B6DC-E6BD-6F68-D39B29D48250}"/>
              </a:ext>
            </a:extLst>
          </p:cNvPr>
          <p:cNvSpPr txBox="1"/>
          <p:nvPr/>
        </p:nvSpPr>
        <p:spPr>
          <a:xfrm>
            <a:off x="5232401" y="1302285"/>
            <a:ext cx="6324600" cy="646331"/>
          </a:xfrm>
          <a:prstGeom prst="rect">
            <a:avLst/>
          </a:prstGeom>
          <a:noFill/>
        </p:spPr>
        <p:txBody>
          <a:bodyPr wrap="square" rtlCol="0">
            <a:spAutoFit/>
          </a:bodyPr>
          <a:lstStyle/>
          <a:p>
            <a:r>
              <a:rPr lang="en-US" sz="3200" b="1" dirty="0">
                <a:solidFill>
                  <a:schemeClr val="tx2">
                    <a:lumMod val="75000"/>
                  </a:schemeClr>
                </a:solidFill>
              </a:rPr>
              <a:t>Explainable Deep Learning Framework for Pneumonia Detection and Classification Using Transfer Learning and Grad-CAM</a:t>
            </a:r>
          </a:p>
        </p:txBody>
      </p:sp>
      <p:sp>
        <p:nvSpPr>
          <p:cNvPr id="4" name="TextBox 3">
            <a:extLst>
              <a:ext uri="{FF2B5EF4-FFF2-40B4-BE49-F238E27FC236}">
                <a16:creationId xmlns:a16="http://schemas.microsoft.com/office/drawing/2014/main" id="{FA1E90E8-C523-CEF5-7484-8AC5E1D8C0F8}"/>
              </a:ext>
            </a:extLst>
          </p:cNvPr>
          <p:cNvSpPr txBox="1"/>
          <p:nvPr/>
        </p:nvSpPr>
        <p:spPr>
          <a:xfrm>
            <a:off x="5232401" y="4631267"/>
            <a:ext cx="6324600" cy="707886"/>
          </a:xfrm>
          <a:prstGeom prst="rect">
            <a:avLst/>
          </a:prstGeom>
          <a:noFill/>
        </p:spPr>
        <p:txBody>
          <a:bodyPr wrap="square" rtlCol="0">
            <a:spAutoFit/>
          </a:bodyPr>
          <a:lstStyle/>
          <a:p>
            <a:r>
              <a:rPr lang="en-US" sz="2000" b="1" dirty="0">
                <a:solidFill>
                  <a:schemeClr val="accent6">
                    <a:lumMod val="50000"/>
                  </a:schemeClr>
                </a:solidFill>
              </a:rPr>
              <a:t>Presenter: &lt;presenter name &gt;</a:t>
            </a:r>
          </a:p>
          <a:p>
            <a:r>
              <a:rPr lang="en-US" sz="2000" b="1" dirty="0">
                <a:solidFill>
                  <a:schemeClr val="accent6">
                    <a:lumMod val="50000"/>
                  </a:schemeClr>
                </a:solidFill>
              </a:rPr>
              <a:t>Authors and Affiliation: &lt; author name&gt;, &lt;affiliation&gt;</a:t>
            </a:r>
          </a:p>
        </p:txBody>
      </p:sp>
      <p:pic>
        <p:nvPicPr>
          <p:cNvPr id="10" name="Picture 9">
            <a:extLst>
              <a:ext uri="{FF2B5EF4-FFF2-40B4-BE49-F238E27FC236}">
                <a16:creationId xmlns:a16="http://schemas.microsoft.com/office/drawing/2014/main" id="{F6A08E60-20A9-AAF9-753C-A5F8DD610792}"/>
              </a:ext>
            </a:extLst>
          </p:cNvPr>
          <p:cNvPicPr>
            <a:picLocks noChangeAspect="1"/>
          </p:cNvPicPr>
          <p:nvPr/>
        </p:nvPicPr>
        <p:blipFill>
          <a:blip r:embed="rId3"/>
          <a:srcRect r="6210"/>
          <a:stretch>
            <a:fillRect/>
          </a:stretch>
        </p:blipFill>
        <p:spPr>
          <a:xfrm>
            <a:off x="10287928" y="237601"/>
            <a:ext cx="1904072" cy="914479"/>
          </a:xfrm>
          <a:prstGeom prst="rect">
            <a:avLst/>
          </a:prstGeom>
        </p:spPr>
      </p:pic>
      <p:sp>
        <p:nvSpPr>
          <p:cNvPr id="11" name="TextBox 10">
            <a:extLst>
              <a:ext uri="{FF2B5EF4-FFF2-40B4-BE49-F238E27FC236}">
                <a16:creationId xmlns:a16="http://schemas.microsoft.com/office/drawing/2014/main" id="{01927E49-F837-F00D-A158-CB18E9E52338}"/>
              </a:ext>
            </a:extLst>
          </p:cNvPr>
          <p:cNvSpPr txBox="1"/>
          <p:nvPr/>
        </p:nvSpPr>
        <p:spPr>
          <a:xfrm>
            <a:off x="10541464" y="387806"/>
            <a:ext cx="1650536" cy="461665"/>
          </a:xfrm>
          <a:prstGeom prst="rect">
            <a:avLst/>
          </a:prstGeom>
          <a:noFill/>
        </p:spPr>
        <p:txBody>
          <a:bodyPr wrap="square" rtlCol="0">
            <a:spAutoFit/>
          </a:bodyPr>
          <a:lstStyle/>
          <a:p>
            <a:r>
              <a:rPr lang="en-US" sz="2400" b="1" i="1" dirty="0">
                <a:solidFill>
                  <a:schemeClr val="tx2">
                    <a:lumMod val="75000"/>
                  </a:schemeClr>
                </a:solidFill>
              </a:rPr>
              <a:t>29002</a:t>
            </a:r>
          </a:p>
        </p:txBody>
      </p:sp>
    </p:spTree>
    <p:extLst>
      <p:ext uri="{BB962C8B-B14F-4D97-AF65-F5344CB8AC3E}">
        <p14:creationId xmlns:p14="http://schemas.microsoft.com/office/powerpoint/2010/main" val="2995370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252BD9-6226-6371-4257-BC40B4AE3C27}"/>
              </a:ext>
            </a:extLst>
          </p:cNvPr>
          <p:cNvSpPr txBox="1"/>
          <p:nvPr/>
        </p:nvSpPr>
        <p:spPr>
          <a:xfrm>
            <a:off x="330201" y="396352"/>
            <a:ext cx="11521440" cy="584775"/>
          </a:xfrm>
          <a:prstGeom prst="rect">
            <a:avLst/>
          </a:prstGeom>
          <a:noFill/>
        </p:spPr>
        <p:txBody>
          <a:bodyPr wrap="square" rtlCol="0">
            <a:spAutoFit/>
          </a:bodyPr>
          <a:lstStyle/>
          <a:p>
            <a:r>
              <a:rPr lang="en-US" sz="3200" b="1" dirty="0">
                <a:solidFill>
                  <a:schemeClr val="tx2">
                    <a:lumMod val="75000"/>
                  </a:schemeClr>
                </a:solidFill>
              </a:rPr>
              <a:t>Introduction</a:t>
            </a:r>
          </a:p>
        </p:txBody>
      </p:sp>
      <p:sp>
        <p:nvSpPr>
          <p:cNvPr id="5" name="TextBox 4">
            <a:extLst>
              <a:ext uri="{FF2B5EF4-FFF2-40B4-BE49-F238E27FC236}">
                <a16:creationId xmlns:a16="http://schemas.microsoft.com/office/drawing/2014/main" id="{A1651BCA-DD82-43D0-C5EA-540538A70CB5}"/>
              </a:ext>
            </a:extLst>
          </p:cNvPr>
          <p:cNvSpPr txBox="1"/>
          <p:nvPr/>
        </p:nvSpPr>
        <p:spPr>
          <a:xfrm>
            <a:off x="330201" y="1234553"/>
            <a:ext cx="11521440" cy="400110"/>
          </a:xfrm>
          <a:prstGeom prst="rect">
            <a:avLst/>
          </a:prstGeom>
          <a:noFill/>
        </p:spPr>
        <p:txBody>
          <a:bodyPr wrap="square" rtlCol="0">
            <a:spAutoFit/>
          </a:bodyPr>
          <a:lstStyle/>
          <a:p>
            <a:r>
              <a:rPr lang="en-US" sz="2000" dirty="0" i="1">
                <a:solidFill>
                  <a:srgbClr val="147A77"/>
                </a:solidFill>
                <a:latin typeface="+mj-lt"/>
              </a:rPr>
              <a:t>Chest X-rays are the first test for pneumonia, but four conditions can look alike</a:t>
            </a:r>
          </a:p>
        </p:txBody>
      </p:sp>
      <p:sp>
        <p:nvSpPr>
          <p:cNvPr id="6" name="TextBox 5"/>
          <p:cNvSpPr txBox="1"/>
          <p:nvPr/>
        </p:nvSpPr>
        <p:spPr>
          <a:xfrm>
            <a:off x="411480" y="1783080"/>
            <a:ext cx="5120640" cy="365760"/>
          </a:xfrm>
          <a:prstGeom prst="rect">
            <a:avLst/>
          </a:prstGeom>
          <a:noFill/>
        </p:spPr>
        <p:txBody>
          <a:bodyPr wrap="square" anchor="t" lIns="36576" rIns="36576" tIns="36576" bIns="36576">
            <a:spAutoFit/>
          </a:bodyPr>
          <a:lstStyle/>
          <a:p>
            <a:pPr algn="l">
              <a:spcAft>
                <a:spcPts val="600"/>
              </a:spcAft>
            </a:pPr>
            <a:r>
              <a:rPr sz="1800" b="1" i="0">
                <a:solidFill>
                  <a:srgbClr val="17375E"/>
                </a:solidFill>
              </a:rPr>
              <a:t>Four classes we separate</a:t>
            </a:r>
          </a:p>
        </p:txBody>
      </p:sp>
      <p:sp>
        <p:nvSpPr>
          <p:cNvPr id="7" name="Rounded Rectangle 6"/>
          <p:cNvSpPr/>
          <p:nvPr/>
        </p:nvSpPr>
        <p:spPr>
          <a:xfrm>
            <a:off x="411480" y="2240280"/>
            <a:ext cx="2423160" cy="914400"/>
          </a:xfrm>
          <a:prstGeom prst="roundRect">
            <a:avLst>
              <a:gd name="adj" fmla="val 8000"/>
            </a:avLst>
          </a:prstGeom>
          <a:solidFill>
            <a:srgbClr val="E4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48640" y="2395728"/>
            <a:ext cx="603504" cy="603504"/>
          </a:xfrm>
          <a:prstGeom prst="ellipse">
            <a:avLst/>
          </a:prstGeom>
          <a:solidFill>
            <a:srgbClr val="22A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aCheckCircle_w.png"/>
          <p:cNvPicPr>
            <a:picLocks noChangeAspect="1"/>
          </p:cNvPicPr>
          <p:nvPr/>
        </p:nvPicPr>
        <p:blipFill>
          <a:blip r:embed="rId3"/>
          <a:stretch>
            <a:fillRect/>
          </a:stretch>
        </p:blipFill>
        <p:spPr>
          <a:xfrm>
            <a:off x="693480" y="2540568"/>
            <a:ext cx="313822" cy="313822"/>
          </a:xfrm>
          <a:prstGeom prst="rect">
            <a:avLst/>
          </a:prstGeom>
        </p:spPr>
      </p:pic>
      <p:sp>
        <p:nvSpPr>
          <p:cNvPr id="10" name="TextBox 9"/>
          <p:cNvSpPr txBox="1"/>
          <p:nvPr/>
        </p:nvSpPr>
        <p:spPr>
          <a:xfrm>
            <a:off x="1252728" y="2240280"/>
            <a:ext cx="1536192" cy="914400"/>
          </a:xfrm>
          <a:prstGeom prst="rect">
            <a:avLst/>
          </a:prstGeom>
          <a:noFill/>
        </p:spPr>
        <p:txBody>
          <a:bodyPr wrap="square" anchor="ctr" lIns="36576" rIns="36576" tIns="36576" bIns="36576">
            <a:spAutoFit/>
          </a:bodyPr>
          <a:lstStyle/>
          <a:p>
            <a:pPr algn="l">
              <a:spcAft>
                <a:spcPts val="600"/>
              </a:spcAft>
            </a:pPr>
            <a:r>
              <a:rPr sz="1600" b="1" i="0">
                <a:solidFill>
                  <a:srgbClr val="17375E"/>
                </a:solidFill>
              </a:rPr>
              <a:t>Normal</a:t>
            </a:r>
          </a:p>
        </p:txBody>
      </p:sp>
      <p:sp>
        <p:nvSpPr>
          <p:cNvPr id="11" name="Rounded Rectangle 10"/>
          <p:cNvSpPr/>
          <p:nvPr/>
        </p:nvSpPr>
        <p:spPr>
          <a:xfrm>
            <a:off x="3017520" y="2240280"/>
            <a:ext cx="2423160" cy="914400"/>
          </a:xfrm>
          <a:prstGeom prst="roundRect">
            <a:avLst>
              <a:gd name="adj" fmla="val 8000"/>
            </a:avLst>
          </a:prstGeom>
          <a:solidFill>
            <a:srgbClr val="E4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154680" y="2395728"/>
            <a:ext cx="603504" cy="603504"/>
          </a:xfrm>
          <a:prstGeom prst="ellipse">
            <a:avLst/>
          </a:prstGeom>
          <a:solidFill>
            <a:srgbClr val="22A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aGlobe_w.png"/>
          <p:cNvPicPr>
            <a:picLocks noChangeAspect="1"/>
          </p:cNvPicPr>
          <p:nvPr/>
        </p:nvPicPr>
        <p:blipFill>
          <a:blip r:embed="rId4"/>
          <a:stretch>
            <a:fillRect/>
          </a:stretch>
        </p:blipFill>
        <p:spPr>
          <a:xfrm>
            <a:off x="3299520" y="2540568"/>
            <a:ext cx="313822" cy="313822"/>
          </a:xfrm>
          <a:prstGeom prst="rect">
            <a:avLst/>
          </a:prstGeom>
        </p:spPr>
      </p:pic>
      <p:sp>
        <p:nvSpPr>
          <p:cNvPr id="14" name="TextBox 13"/>
          <p:cNvSpPr txBox="1"/>
          <p:nvPr/>
        </p:nvSpPr>
        <p:spPr>
          <a:xfrm>
            <a:off x="3858768" y="2240280"/>
            <a:ext cx="1536192" cy="914400"/>
          </a:xfrm>
          <a:prstGeom prst="rect">
            <a:avLst/>
          </a:prstGeom>
          <a:noFill/>
        </p:spPr>
        <p:txBody>
          <a:bodyPr wrap="square" anchor="ctr" lIns="36576" rIns="36576" tIns="36576" bIns="36576">
            <a:spAutoFit/>
          </a:bodyPr>
          <a:lstStyle/>
          <a:p>
            <a:pPr algn="l">
              <a:spcAft>
                <a:spcPts val="600"/>
              </a:spcAft>
            </a:pPr>
            <a:r>
              <a:rPr sz="1600" b="1" i="0">
                <a:solidFill>
                  <a:srgbClr val="17375E"/>
                </a:solidFill>
              </a:rPr>
              <a:t>COVID-19</a:t>
            </a:r>
          </a:p>
        </p:txBody>
      </p:sp>
      <p:sp>
        <p:nvSpPr>
          <p:cNvPr id="15" name="Rounded Rectangle 14"/>
          <p:cNvSpPr/>
          <p:nvPr/>
        </p:nvSpPr>
        <p:spPr>
          <a:xfrm>
            <a:off x="411480" y="3337560"/>
            <a:ext cx="2423160" cy="914400"/>
          </a:xfrm>
          <a:prstGeom prst="roundRect">
            <a:avLst>
              <a:gd name="adj" fmla="val 8000"/>
            </a:avLst>
          </a:prstGeom>
          <a:solidFill>
            <a:srgbClr val="E4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48640" y="3493008"/>
            <a:ext cx="603504" cy="603504"/>
          </a:xfrm>
          <a:prstGeom prst="ellipse">
            <a:avLst/>
          </a:prstGeom>
          <a:solidFill>
            <a:srgbClr val="22A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FaBacterium_w.png"/>
          <p:cNvPicPr>
            <a:picLocks noChangeAspect="1"/>
          </p:cNvPicPr>
          <p:nvPr/>
        </p:nvPicPr>
        <p:blipFill>
          <a:blip r:embed="rId5"/>
          <a:stretch>
            <a:fillRect/>
          </a:stretch>
        </p:blipFill>
        <p:spPr>
          <a:xfrm>
            <a:off x="693480" y="3637848"/>
            <a:ext cx="313822" cy="313822"/>
          </a:xfrm>
          <a:prstGeom prst="rect">
            <a:avLst/>
          </a:prstGeom>
        </p:spPr>
      </p:pic>
      <p:sp>
        <p:nvSpPr>
          <p:cNvPr id="18" name="TextBox 17"/>
          <p:cNvSpPr txBox="1"/>
          <p:nvPr/>
        </p:nvSpPr>
        <p:spPr>
          <a:xfrm>
            <a:off x="1252728" y="3337560"/>
            <a:ext cx="1536192" cy="914400"/>
          </a:xfrm>
          <a:prstGeom prst="rect">
            <a:avLst/>
          </a:prstGeom>
          <a:noFill/>
        </p:spPr>
        <p:txBody>
          <a:bodyPr wrap="square" anchor="ctr" lIns="36576" rIns="36576" tIns="36576" bIns="36576">
            <a:spAutoFit/>
          </a:bodyPr>
          <a:lstStyle/>
          <a:p>
            <a:pPr algn="l">
              <a:spcAft>
                <a:spcPts val="600"/>
              </a:spcAft>
            </a:pPr>
            <a:r>
              <a:rPr sz="1600" b="1" i="0">
                <a:solidFill>
                  <a:srgbClr val="17375E"/>
                </a:solidFill>
              </a:rPr>
              <a:t>Bacterial pneumonia</a:t>
            </a:r>
          </a:p>
        </p:txBody>
      </p:sp>
      <p:sp>
        <p:nvSpPr>
          <p:cNvPr id="19" name="Rounded Rectangle 18"/>
          <p:cNvSpPr/>
          <p:nvPr/>
        </p:nvSpPr>
        <p:spPr>
          <a:xfrm>
            <a:off x="3017520" y="3337560"/>
            <a:ext cx="2423160" cy="914400"/>
          </a:xfrm>
          <a:prstGeom prst="roundRect">
            <a:avLst>
              <a:gd name="adj" fmla="val 8000"/>
            </a:avLst>
          </a:prstGeom>
          <a:solidFill>
            <a:srgbClr val="E4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154680" y="3493008"/>
            <a:ext cx="603504" cy="603504"/>
          </a:xfrm>
          <a:prstGeom prst="ellipse">
            <a:avLst/>
          </a:prstGeom>
          <a:solidFill>
            <a:srgbClr val="22A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FaVirus_w.png"/>
          <p:cNvPicPr>
            <a:picLocks noChangeAspect="1"/>
          </p:cNvPicPr>
          <p:nvPr/>
        </p:nvPicPr>
        <p:blipFill>
          <a:blip r:embed="rId6"/>
          <a:stretch>
            <a:fillRect/>
          </a:stretch>
        </p:blipFill>
        <p:spPr>
          <a:xfrm>
            <a:off x="3299520" y="3637848"/>
            <a:ext cx="313822" cy="313822"/>
          </a:xfrm>
          <a:prstGeom prst="rect">
            <a:avLst/>
          </a:prstGeom>
        </p:spPr>
      </p:pic>
      <p:sp>
        <p:nvSpPr>
          <p:cNvPr id="22" name="TextBox 21"/>
          <p:cNvSpPr txBox="1"/>
          <p:nvPr/>
        </p:nvSpPr>
        <p:spPr>
          <a:xfrm>
            <a:off x="3858768" y="3337560"/>
            <a:ext cx="1536192" cy="914400"/>
          </a:xfrm>
          <a:prstGeom prst="rect">
            <a:avLst/>
          </a:prstGeom>
          <a:noFill/>
        </p:spPr>
        <p:txBody>
          <a:bodyPr wrap="square" anchor="ctr" lIns="36576" rIns="36576" tIns="36576" bIns="36576">
            <a:spAutoFit/>
          </a:bodyPr>
          <a:lstStyle/>
          <a:p>
            <a:pPr algn="l">
              <a:spcAft>
                <a:spcPts val="600"/>
              </a:spcAft>
            </a:pPr>
            <a:r>
              <a:rPr sz="1600" b="1" i="0">
                <a:solidFill>
                  <a:srgbClr val="17375E"/>
                </a:solidFill>
              </a:rPr>
              <a:t>Viral pneumonia</a:t>
            </a:r>
          </a:p>
        </p:txBody>
      </p:sp>
      <p:sp>
        <p:nvSpPr>
          <p:cNvPr id="23" name="TextBox 22"/>
          <p:cNvSpPr txBox="1"/>
          <p:nvPr/>
        </p:nvSpPr>
        <p:spPr>
          <a:xfrm>
            <a:off x="411480" y="4526280"/>
            <a:ext cx="5120640" cy="731520"/>
          </a:xfrm>
          <a:prstGeom prst="rect">
            <a:avLst/>
          </a:prstGeom>
          <a:noFill/>
        </p:spPr>
        <p:txBody>
          <a:bodyPr wrap="square" anchor="t" lIns="36576" rIns="36576" tIns="36576" bIns="36576">
            <a:spAutoFit/>
          </a:bodyPr>
          <a:lstStyle/>
          <a:p>
            <a:pPr algn="l">
              <a:spcAft>
                <a:spcPts val="600"/>
              </a:spcAft>
            </a:pPr>
            <a:r>
              <a:rPr sz="1500" b="0" i="1">
                <a:solidFill>
                  <a:srgbClr val="404040"/>
                </a:solidFill>
              </a:rPr>
              <a:t>Different causes need different treatment: antibiotics, isolation or follow-up.</a:t>
            </a:r>
          </a:p>
        </p:txBody>
      </p:sp>
      <p:sp>
        <p:nvSpPr>
          <p:cNvPr id="24" name="TextBox 23"/>
          <p:cNvSpPr txBox="1"/>
          <p:nvPr/>
        </p:nvSpPr>
        <p:spPr>
          <a:xfrm>
            <a:off x="5989320" y="1783080"/>
            <a:ext cx="5760720" cy="365760"/>
          </a:xfrm>
          <a:prstGeom prst="rect">
            <a:avLst/>
          </a:prstGeom>
          <a:noFill/>
        </p:spPr>
        <p:txBody>
          <a:bodyPr wrap="square" anchor="t" lIns="36576" rIns="36576" tIns="36576" bIns="36576">
            <a:spAutoFit/>
          </a:bodyPr>
          <a:lstStyle/>
          <a:p>
            <a:pPr algn="l">
              <a:spcAft>
                <a:spcPts val="600"/>
              </a:spcAft>
            </a:pPr>
            <a:r>
              <a:rPr sz="1800" b="1" i="0">
                <a:solidFill>
                  <a:srgbClr val="17375E"/>
                </a:solidFill>
              </a:rPr>
              <a:t>Gaps this study addresses</a:t>
            </a:r>
          </a:p>
        </p:txBody>
      </p:sp>
      <p:sp>
        <p:nvSpPr>
          <p:cNvPr id="25" name="Oval 24"/>
          <p:cNvSpPr/>
          <p:nvPr/>
        </p:nvSpPr>
        <p:spPr>
          <a:xfrm>
            <a:off x="5989320" y="2295144"/>
            <a:ext cx="438912" cy="438912"/>
          </a:xfrm>
          <a:prstGeom prst="ellipse">
            <a:avLst/>
          </a:prstGeom>
          <a:solidFill>
            <a:srgbClr val="DE6C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89320" y="2295144"/>
            <a:ext cx="438912" cy="438912"/>
          </a:xfrm>
          <a:prstGeom prst="rect">
            <a:avLst/>
          </a:prstGeom>
          <a:noFill/>
        </p:spPr>
        <p:txBody>
          <a:bodyPr wrap="square" anchor="ctr" lIns="36576" rIns="36576" tIns="36576" bIns="36576">
            <a:spAutoFit/>
          </a:bodyPr>
          <a:lstStyle/>
          <a:p>
            <a:pPr algn="ctr">
              <a:spcAft>
                <a:spcPts val="600"/>
              </a:spcAft>
            </a:pPr>
            <a:r>
              <a:rPr sz="1600" b="1" i="0">
                <a:solidFill>
                  <a:srgbClr val="FFFFFF"/>
                </a:solidFill>
              </a:rPr>
              <a:t>1</a:t>
            </a:r>
          </a:p>
        </p:txBody>
      </p:sp>
      <p:sp>
        <p:nvSpPr>
          <p:cNvPr id="27" name="TextBox 26"/>
          <p:cNvSpPr txBox="1"/>
          <p:nvPr/>
        </p:nvSpPr>
        <p:spPr>
          <a:xfrm>
            <a:off x="6583680" y="2240280"/>
            <a:ext cx="5212080" cy="566928"/>
          </a:xfrm>
          <a:prstGeom prst="rect">
            <a:avLst/>
          </a:prstGeom>
          <a:noFill/>
        </p:spPr>
        <p:txBody>
          <a:bodyPr wrap="square" anchor="ctr" lIns="36576" rIns="36576" tIns="36576" bIns="36576">
            <a:spAutoFit/>
          </a:bodyPr>
          <a:lstStyle/>
          <a:p>
            <a:pPr algn="l">
              <a:spcAft>
                <a:spcPts val="600"/>
              </a:spcAft>
            </a:pPr>
            <a:r>
              <a:rPr sz="1600" b="0" i="0">
                <a:solidFill>
                  <a:srgbClr val="404040"/>
                </a:solidFill>
              </a:rPr>
              <a:t>Most studies are binary (normal vs. abnormal)</a:t>
            </a:r>
          </a:p>
        </p:txBody>
      </p:sp>
      <p:sp>
        <p:nvSpPr>
          <p:cNvPr id="28" name="Oval 27"/>
          <p:cNvSpPr/>
          <p:nvPr/>
        </p:nvSpPr>
        <p:spPr>
          <a:xfrm>
            <a:off x="5989320" y="2953512"/>
            <a:ext cx="438912" cy="438912"/>
          </a:xfrm>
          <a:prstGeom prst="ellipse">
            <a:avLst/>
          </a:prstGeom>
          <a:solidFill>
            <a:srgbClr val="DE6C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89320" y="2953512"/>
            <a:ext cx="438912" cy="438912"/>
          </a:xfrm>
          <a:prstGeom prst="rect">
            <a:avLst/>
          </a:prstGeom>
          <a:noFill/>
        </p:spPr>
        <p:txBody>
          <a:bodyPr wrap="square" anchor="ctr" lIns="36576" rIns="36576" tIns="36576" bIns="36576">
            <a:spAutoFit/>
          </a:bodyPr>
          <a:lstStyle/>
          <a:p>
            <a:pPr algn="ctr">
              <a:spcAft>
                <a:spcPts val="600"/>
              </a:spcAft>
            </a:pPr>
            <a:r>
              <a:rPr sz="1600" b="1" i="0">
                <a:solidFill>
                  <a:srgbClr val="FFFFFF"/>
                </a:solidFill>
              </a:rPr>
              <a:t>2</a:t>
            </a:r>
          </a:p>
        </p:txBody>
      </p:sp>
      <p:sp>
        <p:nvSpPr>
          <p:cNvPr id="30" name="TextBox 29"/>
          <p:cNvSpPr txBox="1"/>
          <p:nvPr/>
        </p:nvSpPr>
        <p:spPr>
          <a:xfrm>
            <a:off x="6583680" y="2898648"/>
            <a:ext cx="5212080" cy="566928"/>
          </a:xfrm>
          <a:prstGeom prst="rect">
            <a:avLst/>
          </a:prstGeom>
          <a:noFill/>
        </p:spPr>
        <p:txBody>
          <a:bodyPr wrap="square" anchor="ctr" lIns="36576" rIns="36576" tIns="36576" bIns="36576">
            <a:spAutoFit/>
          </a:bodyPr>
          <a:lstStyle/>
          <a:p>
            <a:pPr algn="l">
              <a:spcAft>
                <a:spcPts val="600"/>
              </a:spcAft>
            </a:pPr>
            <a:r>
              <a:rPr sz="1600" b="0" i="0">
                <a:solidFill>
                  <a:srgbClr val="404040"/>
                </a:solidFill>
              </a:rPr>
              <a:t>Few compare DenseNet121, EfficientNetV2B3 and EfficientNetV2S on one dataset and pipeline</a:t>
            </a:r>
          </a:p>
        </p:txBody>
      </p:sp>
      <p:sp>
        <p:nvSpPr>
          <p:cNvPr id="31" name="Oval 30"/>
          <p:cNvSpPr/>
          <p:nvPr/>
        </p:nvSpPr>
        <p:spPr>
          <a:xfrm>
            <a:off x="5989320" y="3611880"/>
            <a:ext cx="438912" cy="438912"/>
          </a:xfrm>
          <a:prstGeom prst="ellipse">
            <a:avLst/>
          </a:prstGeom>
          <a:solidFill>
            <a:srgbClr val="DE6C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89320" y="3611880"/>
            <a:ext cx="438912" cy="438912"/>
          </a:xfrm>
          <a:prstGeom prst="rect">
            <a:avLst/>
          </a:prstGeom>
          <a:noFill/>
        </p:spPr>
        <p:txBody>
          <a:bodyPr wrap="square" anchor="ctr" lIns="36576" rIns="36576" tIns="36576" bIns="36576">
            <a:spAutoFit/>
          </a:bodyPr>
          <a:lstStyle/>
          <a:p>
            <a:pPr algn="ctr">
              <a:spcAft>
                <a:spcPts val="600"/>
              </a:spcAft>
            </a:pPr>
            <a:r>
              <a:rPr sz="1600" b="1" i="0">
                <a:solidFill>
                  <a:srgbClr val="FFFFFF"/>
                </a:solidFill>
              </a:rPr>
              <a:t>3</a:t>
            </a:r>
          </a:p>
        </p:txBody>
      </p:sp>
      <p:sp>
        <p:nvSpPr>
          <p:cNvPr id="33" name="TextBox 32"/>
          <p:cNvSpPr txBox="1"/>
          <p:nvPr/>
        </p:nvSpPr>
        <p:spPr>
          <a:xfrm>
            <a:off x="6583680" y="3557016"/>
            <a:ext cx="5212080" cy="566928"/>
          </a:xfrm>
          <a:prstGeom prst="rect">
            <a:avLst/>
          </a:prstGeom>
          <a:noFill/>
        </p:spPr>
        <p:txBody>
          <a:bodyPr wrap="square" anchor="ctr" lIns="36576" rIns="36576" tIns="36576" bIns="36576">
            <a:spAutoFit/>
          </a:bodyPr>
          <a:lstStyle/>
          <a:p>
            <a:pPr algn="l">
              <a:spcAft>
                <a:spcPts val="600"/>
              </a:spcAft>
            </a:pPr>
            <a:r>
              <a:rPr sz="1600" b="0" i="0">
                <a:solidFill>
                  <a:srgbClr val="404040"/>
                </a:solidFill>
              </a:rPr>
              <a:t>Grad-CAM is usually an add-on, not part of the workflow</a:t>
            </a:r>
          </a:p>
        </p:txBody>
      </p:sp>
      <p:sp>
        <p:nvSpPr>
          <p:cNvPr id="34" name="Oval 33"/>
          <p:cNvSpPr/>
          <p:nvPr/>
        </p:nvSpPr>
        <p:spPr>
          <a:xfrm>
            <a:off x="5989320" y="4270248"/>
            <a:ext cx="438912" cy="438912"/>
          </a:xfrm>
          <a:prstGeom prst="ellipse">
            <a:avLst/>
          </a:prstGeom>
          <a:solidFill>
            <a:srgbClr val="DE6C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89320" y="4270248"/>
            <a:ext cx="438912" cy="438912"/>
          </a:xfrm>
          <a:prstGeom prst="rect">
            <a:avLst/>
          </a:prstGeom>
          <a:noFill/>
        </p:spPr>
        <p:txBody>
          <a:bodyPr wrap="square" anchor="ctr" lIns="36576" rIns="36576" tIns="36576" bIns="36576">
            <a:spAutoFit/>
          </a:bodyPr>
          <a:lstStyle/>
          <a:p>
            <a:pPr algn="ctr">
              <a:spcAft>
                <a:spcPts val="600"/>
              </a:spcAft>
            </a:pPr>
            <a:r>
              <a:rPr sz="1600" b="1" i="0">
                <a:solidFill>
                  <a:srgbClr val="FFFFFF"/>
                </a:solidFill>
              </a:rPr>
              <a:t>4</a:t>
            </a:r>
          </a:p>
        </p:txBody>
      </p:sp>
      <p:sp>
        <p:nvSpPr>
          <p:cNvPr id="36" name="TextBox 35"/>
          <p:cNvSpPr txBox="1"/>
          <p:nvPr/>
        </p:nvSpPr>
        <p:spPr>
          <a:xfrm>
            <a:off x="6583680" y="4215384"/>
            <a:ext cx="5212080" cy="566928"/>
          </a:xfrm>
          <a:prstGeom prst="rect">
            <a:avLst/>
          </a:prstGeom>
          <a:noFill/>
        </p:spPr>
        <p:txBody>
          <a:bodyPr wrap="square" anchor="ctr" lIns="36576" rIns="36576" tIns="36576" bIns="36576">
            <a:spAutoFit/>
          </a:bodyPr>
          <a:lstStyle/>
          <a:p>
            <a:pPr algn="l">
              <a:spcAft>
                <a:spcPts val="600"/>
              </a:spcAft>
            </a:pPr>
            <a:r>
              <a:rPr sz="1600" b="0" i="0">
                <a:solidFill>
                  <a:srgbClr val="404040"/>
                </a:solidFill>
              </a:rPr>
              <a:t>Few studies deliver a complete, deployable system</a:t>
            </a:r>
          </a:p>
        </p:txBody>
      </p:sp>
      <p:sp>
        <p:nvSpPr>
          <p:cNvPr id="37" name="Rounded Rectangle 36"/>
          <p:cNvSpPr/>
          <p:nvPr/>
        </p:nvSpPr>
        <p:spPr>
          <a:xfrm>
            <a:off x="5989320" y="4754880"/>
            <a:ext cx="5806440" cy="594360"/>
          </a:xfrm>
          <a:prstGeom prst="roundRect">
            <a:avLst>
              <a:gd name="adj" fmla="val 8000"/>
            </a:avLst>
          </a:prstGeom>
          <a:solidFill>
            <a:srgbClr val="FCEC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80760" y="4754880"/>
            <a:ext cx="5669280" cy="594360"/>
          </a:xfrm>
          <a:prstGeom prst="rect">
            <a:avLst/>
          </a:prstGeom>
          <a:noFill/>
        </p:spPr>
        <p:txBody>
          <a:bodyPr wrap="square" anchor="ctr" lIns="36576" rIns="36576" tIns="36576" bIns="36576">
            <a:spAutoFit/>
          </a:bodyPr>
          <a:lstStyle/>
          <a:p>
            <a:pPr algn="l">
              <a:spcAft>
                <a:spcPts val="600"/>
              </a:spcAft>
            </a:pPr>
            <a:r>
              <a:rPr sz="1500" b="1" i="0">
                <a:solidFill>
                  <a:srgbClr val="DE6C0B"/>
                </a:solidFill>
              </a:rPr>
              <a:t>Our aim: </a:t>
            </a:r>
            <a:r>
              <a:rPr sz="1500" b="0" i="0">
                <a:solidFill>
                  <a:srgbClr val="404040"/>
                </a:solidFill>
              </a:rPr>
              <a:t>four-class classification + Grad-CAM + an end-to-end web platform</a:t>
            </a:r>
          </a:p>
        </p:txBody>
      </p:sp>
    </p:spTree>
    <p:extLst>
      <p:ext uri="{BB962C8B-B14F-4D97-AF65-F5344CB8AC3E}">
        <p14:creationId xmlns:p14="http://schemas.microsoft.com/office/powerpoint/2010/main" val="493455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ABBE206-537F-7F7A-57E0-D001F33A8C5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B3380A8-55F5-636C-8F17-CB77F278E7CC}"/>
              </a:ext>
            </a:extLst>
          </p:cNvPr>
          <p:cNvSpPr txBox="1"/>
          <p:nvPr/>
        </p:nvSpPr>
        <p:spPr>
          <a:xfrm>
            <a:off x="330201" y="396352"/>
            <a:ext cx="1152144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F497D">
                    <a:lumMod val="75000"/>
                  </a:srgbClr>
                </a:solidFill>
                <a:effectLst/>
                <a:uLnTx/>
                <a:uFillTx/>
                <a:latin typeface="Calibri"/>
                <a:ea typeface="+mn-ea"/>
                <a:cs typeface="+mn-cs"/>
              </a:rPr>
              <a:t>Literature Review</a:t>
            </a:r>
          </a:p>
        </p:txBody>
      </p:sp>
      <p:sp>
        <p:nvSpPr>
          <p:cNvPr id="5" name="TextBox 4">
            <a:extLst>
              <a:ext uri="{FF2B5EF4-FFF2-40B4-BE49-F238E27FC236}">
                <a16:creationId xmlns:a16="http://schemas.microsoft.com/office/drawing/2014/main" id="{429EC26C-DCE1-FD7A-0D13-66926F89E5FC}"/>
              </a:ext>
            </a:extLst>
          </p:cNvPr>
          <p:cNvSpPr txBox="1"/>
          <p:nvPr/>
        </p:nvSpPr>
        <p:spPr>
          <a:xfrm>
            <a:off x="330201" y="1234553"/>
            <a:ext cx="1152144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147A77">
                    <a:lumMod val="75000"/>
                  </a:srgbClr>
                </a:solidFill>
                <a:effectLst/>
                <a:uLnTx/>
                <a:uFillTx/>
                <a:latin typeface="Calibri"/>
                <a:ea typeface="+mn-ea"/>
                <a:cs typeface="+mn-cs"/>
              </a:rPr>
              <a:t>Four ideas from earlier work shape our design</a:t>
            </a:r>
          </a:p>
        </p:txBody>
      </p:sp>
      <p:sp>
        <p:nvSpPr>
          <p:cNvPr id="6" name="Rounded Rectangle 5"/>
          <p:cNvSpPr/>
          <p:nvPr/>
        </p:nvSpPr>
        <p:spPr>
          <a:xfrm>
            <a:off x="411480" y="1783080"/>
            <a:ext cx="5577840" cy="1325880"/>
          </a:xfrm>
          <a:prstGeom prst="roundRect">
            <a:avLst>
              <a:gd name="adj" fmla="val 8000"/>
            </a:avLst>
          </a:prstGeom>
          <a:solidFill>
            <a:srgbClr val="E4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94360" y="2112264"/>
            <a:ext cx="658368" cy="658368"/>
          </a:xfrm>
          <a:prstGeom prst="ellipse">
            <a:avLst/>
          </a:prstGeom>
          <a:solidFill>
            <a:srgbClr val="22A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aProjectDiagram_w.png"/>
          <p:cNvPicPr>
            <a:picLocks noChangeAspect="1"/>
          </p:cNvPicPr>
          <p:nvPr/>
        </p:nvPicPr>
        <p:blipFill>
          <a:blip r:embed="rId3"/>
          <a:stretch>
            <a:fillRect/>
          </a:stretch>
        </p:blipFill>
        <p:spPr>
          <a:xfrm>
            <a:off x="752368" y="2270272"/>
            <a:ext cx="342351" cy="342351"/>
          </a:xfrm>
          <a:prstGeom prst="rect">
            <a:avLst/>
          </a:prstGeom>
        </p:spPr>
      </p:pic>
      <p:sp>
        <p:nvSpPr>
          <p:cNvPr id="9" name="TextBox 8"/>
          <p:cNvSpPr txBox="1"/>
          <p:nvPr/>
        </p:nvSpPr>
        <p:spPr>
          <a:xfrm>
            <a:off x="1417320" y="1874519"/>
            <a:ext cx="4480560" cy="365760"/>
          </a:xfrm>
          <a:prstGeom prst="rect">
            <a:avLst/>
          </a:prstGeom>
          <a:noFill/>
        </p:spPr>
        <p:txBody>
          <a:bodyPr wrap="square" anchor="t" lIns="36576" rIns="36576" tIns="36576" bIns="36576">
            <a:spAutoFit/>
          </a:bodyPr>
          <a:lstStyle/>
          <a:p>
            <a:pPr algn="l">
              <a:spcAft>
                <a:spcPts val="600"/>
              </a:spcAft>
            </a:pPr>
            <a:r>
              <a:rPr sz="1700" b="1" i="0">
                <a:solidFill>
                  <a:srgbClr val="17375E"/>
                </a:solidFill>
              </a:rPr>
              <a:t>DenseNet [18]</a:t>
            </a:r>
          </a:p>
        </p:txBody>
      </p:sp>
      <p:sp>
        <p:nvSpPr>
          <p:cNvPr id="10" name="TextBox 9"/>
          <p:cNvSpPr txBox="1"/>
          <p:nvPr/>
        </p:nvSpPr>
        <p:spPr>
          <a:xfrm>
            <a:off x="1417320" y="2240280"/>
            <a:ext cx="4480560" cy="868680"/>
          </a:xfrm>
          <a:prstGeom prst="rect">
            <a:avLst/>
          </a:prstGeom>
          <a:noFill/>
        </p:spPr>
        <p:txBody>
          <a:bodyPr wrap="square" anchor="t" lIns="36576" rIns="36576" tIns="36576" bIns="36576">
            <a:spAutoFit/>
          </a:bodyPr>
          <a:lstStyle/>
          <a:p>
            <a:pPr algn="l">
              <a:spcAft>
                <a:spcPts val="600"/>
              </a:spcAft>
            </a:pPr>
            <a:r>
              <a:rPr sz="1400" b="0" i="0">
                <a:solidFill>
                  <a:srgbClr val="404040"/>
                </a:solidFill>
              </a:rPr>
              <a:t>Each layer reuses the features of all earlier layers. CheXNet [7] used DenseNet to reach radiologist-level pneumonia detection.</a:t>
            </a:r>
          </a:p>
        </p:txBody>
      </p:sp>
      <p:sp>
        <p:nvSpPr>
          <p:cNvPr id="11" name="Rounded Rectangle 10"/>
          <p:cNvSpPr/>
          <p:nvPr/>
        </p:nvSpPr>
        <p:spPr>
          <a:xfrm>
            <a:off x="6172200" y="1783080"/>
            <a:ext cx="5577840" cy="1325880"/>
          </a:xfrm>
          <a:prstGeom prst="roundRect">
            <a:avLst>
              <a:gd name="adj" fmla="val 8000"/>
            </a:avLst>
          </a:prstGeom>
          <a:solidFill>
            <a:srgbClr val="E4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355080" y="2112264"/>
            <a:ext cx="658368" cy="658368"/>
          </a:xfrm>
          <a:prstGeom prst="ellipse">
            <a:avLst/>
          </a:prstGeom>
          <a:solidFill>
            <a:srgbClr val="22A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aLayerGroup_w.png"/>
          <p:cNvPicPr>
            <a:picLocks noChangeAspect="1"/>
          </p:cNvPicPr>
          <p:nvPr/>
        </p:nvPicPr>
        <p:blipFill>
          <a:blip r:embed="rId4"/>
          <a:stretch>
            <a:fillRect/>
          </a:stretch>
        </p:blipFill>
        <p:spPr>
          <a:xfrm>
            <a:off x="6513088" y="2270272"/>
            <a:ext cx="342351" cy="342351"/>
          </a:xfrm>
          <a:prstGeom prst="rect">
            <a:avLst/>
          </a:prstGeom>
        </p:spPr>
      </p:pic>
      <p:sp>
        <p:nvSpPr>
          <p:cNvPr id="14" name="TextBox 13"/>
          <p:cNvSpPr txBox="1"/>
          <p:nvPr/>
        </p:nvSpPr>
        <p:spPr>
          <a:xfrm>
            <a:off x="7178040" y="1874519"/>
            <a:ext cx="4480560" cy="365760"/>
          </a:xfrm>
          <a:prstGeom prst="rect">
            <a:avLst/>
          </a:prstGeom>
          <a:noFill/>
        </p:spPr>
        <p:txBody>
          <a:bodyPr wrap="square" anchor="t" lIns="36576" rIns="36576" tIns="36576" bIns="36576">
            <a:spAutoFit/>
          </a:bodyPr>
          <a:lstStyle/>
          <a:p>
            <a:pPr algn="l">
              <a:spcAft>
                <a:spcPts val="600"/>
              </a:spcAft>
            </a:pPr>
            <a:r>
              <a:rPr sz="1700" b="1" i="0">
                <a:solidFill>
                  <a:srgbClr val="17375E"/>
                </a:solidFill>
              </a:rPr>
              <a:t>EfficientNet and V2 [19], [20]</a:t>
            </a:r>
          </a:p>
        </p:txBody>
      </p:sp>
      <p:sp>
        <p:nvSpPr>
          <p:cNvPr id="15" name="TextBox 14"/>
          <p:cNvSpPr txBox="1"/>
          <p:nvPr/>
        </p:nvSpPr>
        <p:spPr>
          <a:xfrm>
            <a:off x="7178040" y="2240280"/>
            <a:ext cx="4480560" cy="868680"/>
          </a:xfrm>
          <a:prstGeom prst="rect">
            <a:avLst/>
          </a:prstGeom>
          <a:noFill/>
        </p:spPr>
        <p:txBody>
          <a:bodyPr wrap="square" anchor="t" lIns="36576" rIns="36576" tIns="36576" bIns="36576">
            <a:spAutoFit/>
          </a:bodyPr>
          <a:lstStyle/>
          <a:p>
            <a:pPr algn="l">
              <a:spcAft>
                <a:spcPts val="600"/>
              </a:spcAft>
            </a:pPr>
            <a:r>
              <a:rPr sz="1400" b="0" i="0">
                <a:solidFill>
                  <a:srgbClr val="404040"/>
                </a:solidFill>
              </a:rPr>
              <a:t>Scales depth, width and input size together. V2 adds Fused-MBConv blocks for faster training.</a:t>
            </a:r>
          </a:p>
        </p:txBody>
      </p:sp>
      <p:sp>
        <p:nvSpPr>
          <p:cNvPr id="16" name="Rounded Rectangle 15"/>
          <p:cNvSpPr/>
          <p:nvPr/>
        </p:nvSpPr>
        <p:spPr>
          <a:xfrm>
            <a:off x="411480" y="3264408"/>
            <a:ext cx="5577840" cy="1325880"/>
          </a:xfrm>
          <a:prstGeom prst="roundRect">
            <a:avLst>
              <a:gd name="adj" fmla="val 8000"/>
            </a:avLst>
          </a:prstGeom>
          <a:solidFill>
            <a:srgbClr val="E4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94360" y="3593592"/>
            <a:ext cx="658368" cy="658368"/>
          </a:xfrm>
          <a:prstGeom prst="ellipse">
            <a:avLst/>
          </a:prstGeom>
          <a:solidFill>
            <a:srgbClr val="22A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FaExchangeAlt_w.png"/>
          <p:cNvPicPr>
            <a:picLocks noChangeAspect="1"/>
          </p:cNvPicPr>
          <p:nvPr/>
        </p:nvPicPr>
        <p:blipFill>
          <a:blip r:embed="rId5"/>
          <a:stretch>
            <a:fillRect/>
          </a:stretch>
        </p:blipFill>
        <p:spPr>
          <a:xfrm>
            <a:off x="752368" y="3751600"/>
            <a:ext cx="342351" cy="342351"/>
          </a:xfrm>
          <a:prstGeom prst="rect">
            <a:avLst/>
          </a:prstGeom>
        </p:spPr>
      </p:pic>
      <p:sp>
        <p:nvSpPr>
          <p:cNvPr id="19" name="TextBox 18"/>
          <p:cNvSpPr txBox="1"/>
          <p:nvPr/>
        </p:nvSpPr>
        <p:spPr>
          <a:xfrm>
            <a:off x="1417320" y="3355848"/>
            <a:ext cx="4480560" cy="365760"/>
          </a:xfrm>
          <a:prstGeom prst="rect">
            <a:avLst/>
          </a:prstGeom>
          <a:noFill/>
        </p:spPr>
        <p:txBody>
          <a:bodyPr wrap="square" anchor="t" lIns="36576" rIns="36576" tIns="36576" bIns="36576">
            <a:spAutoFit/>
          </a:bodyPr>
          <a:lstStyle/>
          <a:p>
            <a:pPr algn="l">
              <a:spcAft>
                <a:spcPts val="600"/>
              </a:spcAft>
            </a:pPr>
            <a:r>
              <a:rPr sz="1700" b="1" i="0">
                <a:solidFill>
                  <a:srgbClr val="17375E"/>
                </a:solidFill>
              </a:rPr>
              <a:t>Transfer learning [11], [12]</a:t>
            </a:r>
          </a:p>
        </p:txBody>
      </p:sp>
      <p:sp>
        <p:nvSpPr>
          <p:cNvPr id="20" name="TextBox 19"/>
          <p:cNvSpPr txBox="1"/>
          <p:nvPr/>
        </p:nvSpPr>
        <p:spPr>
          <a:xfrm>
            <a:off x="1417320" y="3721608"/>
            <a:ext cx="4480560" cy="868680"/>
          </a:xfrm>
          <a:prstGeom prst="rect">
            <a:avLst/>
          </a:prstGeom>
          <a:noFill/>
        </p:spPr>
        <p:txBody>
          <a:bodyPr wrap="square" anchor="t" lIns="36576" rIns="36576" tIns="36576" bIns="36576">
            <a:spAutoFit/>
          </a:bodyPr>
          <a:lstStyle/>
          <a:p>
            <a:pPr algn="l">
              <a:spcAft>
                <a:spcPts val="600"/>
              </a:spcAft>
            </a:pPr>
            <a:r>
              <a:rPr sz="1400" b="0" i="0">
                <a:solidFill>
                  <a:srgbClr val="404040"/>
                </a:solidFill>
              </a:rPr>
              <a:t>Fine-tuning ImageNet-pretrained [22] networks beats training from scratch on small medical datasets.</a:t>
            </a:r>
          </a:p>
        </p:txBody>
      </p:sp>
      <p:sp>
        <p:nvSpPr>
          <p:cNvPr id="21" name="Rounded Rectangle 20"/>
          <p:cNvSpPr/>
          <p:nvPr/>
        </p:nvSpPr>
        <p:spPr>
          <a:xfrm>
            <a:off x="6172200" y="3264408"/>
            <a:ext cx="5577840" cy="1325880"/>
          </a:xfrm>
          <a:prstGeom prst="roundRect">
            <a:avLst>
              <a:gd name="adj" fmla="val 8000"/>
            </a:avLst>
          </a:prstGeom>
          <a:solidFill>
            <a:srgbClr val="E4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355080" y="3593592"/>
            <a:ext cx="658368" cy="658368"/>
          </a:xfrm>
          <a:prstGeom prst="ellipse">
            <a:avLst/>
          </a:prstGeom>
          <a:solidFill>
            <a:srgbClr val="22A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FaEye_w.png"/>
          <p:cNvPicPr>
            <a:picLocks noChangeAspect="1"/>
          </p:cNvPicPr>
          <p:nvPr/>
        </p:nvPicPr>
        <p:blipFill>
          <a:blip r:embed="rId6"/>
          <a:stretch>
            <a:fillRect/>
          </a:stretch>
        </p:blipFill>
        <p:spPr>
          <a:xfrm>
            <a:off x="6513088" y="3751600"/>
            <a:ext cx="342351" cy="342351"/>
          </a:xfrm>
          <a:prstGeom prst="rect">
            <a:avLst/>
          </a:prstGeom>
        </p:spPr>
      </p:pic>
      <p:sp>
        <p:nvSpPr>
          <p:cNvPr id="24" name="TextBox 23"/>
          <p:cNvSpPr txBox="1"/>
          <p:nvPr/>
        </p:nvSpPr>
        <p:spPr>
          <a:xfrm>
            <a:off x="7178040" y="3355848"/>
            <a:ext cx="4480560" cy="365760"/>
          </a:xfrm>
          <a:prstGeom prst="rect">
            <a:avLst/>
          </a:prstGeom>
          <a:noFill/>
        </p:spPr>
        <p:txBody>
          <a:bodyPr wrap="square" anchor="t" lIns="36576" rIns="36576" tIns="36576" bIns="36576">
            <a:spAutoFit/>
          </a:bodyPr>
          <a:lstStyle/>
          <a:p>
            <a:pPr algn="l">
              <a:spcAft>
                <a:spcPts val="600"/>
              </a:spcAft>
            </a:pPr>
            <a:r>
              <a:rPr sz="1700" b="1" i="0">
                <a:solidFill>
                  <a:srgbClr val="17375E"/>
                </a:solidFill>
              </a:rPr>
              <a:t>Explainability [13]-[15]</a:t>
            </a:r>
          </a:p>
        </p:txBody>
      </p:sp>
      <p:sp>
        <p:nvSpPr>
          <p:cNvPr id="25" name="TextBox 24"/>
          <p:cNvSpPr txBox="1"/>
          <p:nvPr/>
        </p:nvSpPr>
        <p:spPr>
          <a:xfrm>
            <a:off x="7178040" y="3721608"/>
            <a:ext cx="4480560" cy="868680"/>
          </a:xfrm>
          <a:prstGeom prst="rect">
            <a:avLst/>
          </a:prstGeom>
          <a:noFill/>
        </p:spPr>
        <p:txBody>
          <a:bodyPr wrap="square" anchor="t" lIns="36576" rIns="36576" tIns="36576" bIns="36576">
            <a:spAutoFit/>
          </a:bodyPr>
          <a:lstStyle/>
          <a:p>
            <a:pPr algn="l">
              <a:spcAft>
                <a:spcPts val="600"/>
              </a:spcAft>
            </a:pPr>
            <a:r>
              <a:rPr sz="1400" b="0" i="0">
                <a:solidFill>
                  <a:srgbClr val="404040"/>
                </a:solidFill>
              </a:rPr>
              <a:t>Grad-CAM highlights the image regions behind a prediction, which clinicians need before they trust it.</a:t>
            </a:r>
          </a:p>
        </p:txBody>
      </p:sp>
      <p:sp>
        <p:nvSpPr>
          <p:cNvPr id="26" name="Rounded Rectangle 25"/>
          <p:cNvSpPr/>
          <p:nvPr/>
        </p:nvSpPr>
        <p:spPr>
          <a:xfrm>
            <a:off x="411480" y="4818888"/>
            <a:ext cx="11338560" cy="530352"/>
          </a:xfrm>
          <a:prstGeom prst="roundRect">
            <a:avLst>
              <a:gd name="adj" fmla="val 8000"/>
            </a:avLst>
          </a:prstGeom>
          <a:solidFill>
            <a:srgbClr val="FCEC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4818888"/>
            <a:ext cx="11155680" cy="530352"/>
          </a:xfrm>
          <a:prstGeom prst="rect">
            <a:avLst/>
          </a:prstGeom>
          <a:noFill/>
        </p:spPr>
        <p:txBody>
          <a:bodyPr wrap="square" anchor="ctr" lIns="36576" rIns="36576" tIns="36576" bIns="36576">
            <a:spAutoFit/>
          </a:bodyPr>
          <a:lstStyle/>
          <a:p>
            <a:pPr algn="l">
              <a:spcAft>
                <a:spcPts val="600"/>
              </a:spcAft>
            </a:pPr>
            <a:r>
              <a:rPr sz="1500" b="1" i="0">
                <a:solidFill>
                  <a:srgbClr val="DE6C0B"/>
                </a:solidFill>
              </a:rPr>
              <a:t>Gap: </a:t>
            </a:r>
            <a:r>
              <a:rPr sz="1500" b="0" i="0">
                <a:solidFill>
                  <a:srgbClr val="404040"/>
                </a:solidFill>
              </a:rPr>
              <a:t>COVID-19 studies [8]-[10] were binary or three-class; the four-class split, including bacterial vs. viral, was not covered in one framework.</a:t>
            </a:r>
          </a:p>
        </p:txBody>
      </p:sp>
    </p:spTree>
    <p:extLst>
      <p:ext uri="{BB962C8B-B14F-4D97-AF65-F5344CB8AC3E}">
        <p14:creationId xmlns:p14="http://schemas.microsoft.com/office/powerpoint/2010/main" val="954728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1EA8F45-B6B8-E22B-8763-FE7B88ADAF9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E03FA31-C37F-5BB1-73E1-F55CDF1DB0EE}"/>
              </a:ext>
            </a:extLst>
          </p:cNvPr>
          <p:cNvSpPr txBox="1"/>
          <p:nvPr/>
        </p:nvSpPr>
        <p:spPr>
          <a:xfrm>
            <a:off x="330201" y="396352"/>
            <a:ext cx="1152144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F497D">
                    <a:lumMod val="75000"/>
                  </a:srgbClr>
                </a:solidFill>
                <a:effectLst/>
                <a:uLnTx/>
                <a:uFillTx/>
                <a:latin typeface="Calibri"/>
                <a:ea typeface="+mn-ea"/>
                <a:cs typeface="+mn-cs"/>
              </a:rPr>
              <a:t>Methodology: Dataset and Preprocessing</a:t>
            </a:r>
          </a:p>
        </p:txBody>
      </p:sp>
      <p:sp>
        <p:nvSpPr>
          <p:cNvPr id="5" name="TextBox 4">
            <a:extLst>
              <a:ext uri="{FF2B5EF4-FFF2-40B4-BE49-F238E27FC236}">
                <a16:creationId xmlns:a16="http://schemas.microsoft.com/office/drawing/2014/main" id="{241C0073-81C6-9FFD-8564-AEFE40488F02}"/>
              </a:ext>
            </a:extLst>
          </p:cNvPr>
          <p:cNvSpPr txBox="1"/>
          <p:nvPr/>
        </p:nvSpPr>
        <p:spPr>
          <a:xfrm>
            <a:off x="330201" y="1234553"/>
            <a:ext cx="1152144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147A77">
                    <a:lumMod val="75000"/>
                  </a:srgbClr>
                </a:solidFill>
                <a:effectLst/>
                <a:uLnTx/>
                <a:uFillTx/>
                <a:latin typeface="Calibri"/>
                <a:ea typeface="+mn-ea"/>
                <a:cs typeface="+mn-cs"/>
              </a:rPr>
              <a:t>9,209 chest X-rays in four classes, one shared 70/15/15 split</a:t>
            </a:r>
          </a:p>
        </p:txBody>
      </p:sp>
      <p:graphicFrame>
        <p:nvGraphicFramePr>
          <p:cNvPr id="6" name="Chart 5"/>
          <p:cNvGraphicFramePr>
            <a:graphicFrameLocks noGrp="1"/>
          </p:cNvGraphicFramePr>
          <p:nvPr/>
        </p:nvGraphicFramePr>
        <p:xfrm>
          <a:off x="411480" y="1783080"/>
          <a:ext cx="5486400" cy="3566160"/>
        </p:xfrm>
        <a:graphic>
          <a:graphicData uri="http://schemas.openxmlformats.org/drawingml/2006/chart">
            <c:chart xmlns:c="http://schemas.openxmlformats.org/drawingml/2006/chart" r:id="rId3"/>
          </a:graphicData>
        </a:graphic>
      </p:graphicFrame>
      <p:sp>
        <p:nvSpPr>
          <p:cNvPr id="7" name="TextBox 6"/>
          <p:cNvSpPr txBox="1"/>
          <p:nvPr/>
        </p:nvSpPr>
        <p:spPr>
          <a:xfrm>
            <a:off x="6263640" y="1783080"/>
            <a:ext cx="5486400" cy="365760"/>
          </a:xfrm>
          <a:prstGeom prst="rect">
            <a:avLst/>
          </a:prstGeom>
          <a:noFill/>
        </p:spPr>
        <p:txBody>
          <a:bodyPr wrap="square" anchor="t" lIns="36576" rIns="36576" tIns="36576" bIns="36576">
            <a:spAutoFit/>
          </a:bodyPr>
          <a:lstStyle/>
          <a:p>
            <a:pPr algn="l">
              <a:spcAft>
                <a:spcPts val="600"/>
              </a:spcAft>
            </a:pPr>
            <a:r>
              <a:rPr sz="1800" b="1" i="0">
                <a:solidFill>
                  <a:srgbClr val="17375E"/>
                </a:solidFill>
              </a:rPr>
              <a:t>Shared stratified split</a:t>
            </a:r>
          </a:p>
        </p:txBody>
      </p:sp>
      <p:sp>
        <p:nvSpPr>
          <p:cNvPr id="8" name="Rounded Rectangle 7"/>
          <p:cNvSpPr/>
          <p:nvPr/>
        </p:nvSpPr>
        <p:spPr>
          <a:xfrm>
            <a:off x="6263640" y="2194560"/>
            <a:ext cx="1737360" cy="960120"/>
          </a:xfrm>
          <a:prstGeom prst="roundRect">
            <a:avLst>
              <a:gd name="adj" fmla="val 8000"/>
            </a:avLst>
          </a:prstGeom>
          <a:solidFill>
            <a:srgbClr val="E4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2221992"/>
            <a:ext cx="1737360" cy="548640"/>
          </a:xfrm>
          <a:prstGeom prst="rect">
            <a:avLst/>
          </a:prstGeom>
          <a:noFill/>
        </p:spPr>
        <p:txBody>
          <a:bodyPr wrap="square" anchor="t" lIns="36576" rIns="36576" tIns="36576" bIns="36576">
            <a:spAutoFit/>
          </a:bodyPr>
          <a:lstStyle/>
          <a:p>
            <a:pPr algn="ctr">
              <a:spcAft>
                <a:spcPts val="600"/>
              </a:spcAft>
            </a:pPr>
            <a:r>
              <a:rPr sz="2800" b="1" i="0">
                <a:solidFill>
                  <a:srgbClr val="147A77"/>
                </a:solidFill>
              </a:rPr>
              <a:t>6,446</a:t>
            </a:r>
          </a:p>
        </p:txBody>
      </p:sp>
      <p:sp>
        <p:nvSpPr>
          <p:cNvPr id="10" name="TextBox 9"/>
          <p:cNvSpPr txBox="1"/>
          <p:nvPr/>
        </p:nvSpPr>
        <p:spPr>
          <a:xfrm>
            <a:off x="6263640" y="2724912"/>
            <a:ext cx="1737360" cy="365760"/>
          </a:xfrm>
          <a:prstGeom prst="rect">
            <a:avLst/>
          </a:prstGeom>
          <a:noFill/>
        </p:spPr>
        <p:txBody>
          <a:bodyPr wrap="square" anchor="t" lIns="36576" rIns="36576" tIns="36576" bIns="36576">
            <a:spAutoFit/>
          </a:bodyPr>
          <a:lstStyle/>
          <a:p>
            <a:pPr algn="ctr">
              <a:spcAft>
                <a:spcPts val="600"/>
              </a:spcAft>
            </a:pPr>
            <a:r>
              <a:rPr sz="1400" b="0" i="0">
                <a:solidFill>
                  <a:srgbClr val="404040"/>
                </a:solidFill>
              </a:rPr>
              <a:t>training</a:t>
            </a:r>
          </a:p>
        </p:txBody>
      </p:sp>
      <p:sp>
        <p:nvSpPr>
          <p:cNvPr id="11" name="Rounded Rectangle 10"/>
          <p:cNvSpPr/>
          <p:nvPr/>
        </p:nvSpPr>
        <p:spPr>
          <a:xfrm>
            <a:off x="8138159" y="2194560"/>
            <a:ext cx="1737360" cy="960120"/>
          </a:xfrm>
          <a:prstGeom prst="roundRect">
            <a:avLst>
              <a:gd name="adj" fmla="val 8000"/>
            </a:avLst>
          </a:prstGeom>
          <a:solidFill>
            <a:srgbClr val="E4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59" y="2221992"/>
            <a:ext cx="1737360" cy="548640"/>
          </a:xfrm>
          <a:prstGeom prst="rect">
            <a:avLst/>
          </a:prstGeom>
          <a:noFill/>
        </p:spPr>
        <p:txBody>
          <a:bodyPr wrap="square" anchor="t" lIns="36576" rIns="36576" tIns="36576" bIns="36576">
            <a:spAutoFit/>
          </a:bodyPr>
          <a:lstStyle/>
          <a:p>
            <a:pPr algn="ctr">
              <a:spcAft>
                <a:spcPts val="600"/>
              </a:spcAft>
            </a:pPr>
            <a:r>
              <a:rPr sz="2800" b="1" i="0">
                <a:solidFill>
                  <a:srgbClr val="147A77"/>
                </a:solidFill>
              </a:rPr>
              <a:t>1,381</a:t>
            </a:r>
          </a:p>
        </p:txBody>
      </p:sp>
      <p:sp>
        <p:nvSpPr>
          <p:cNvPr id="13" name="TextBox 12"/>
          <p:cNvSpPr txBox="1"/>
          <p:nvPr/>
        </p:nvSpPr>
        <p:spPr>
          <a:xfrm>
            <a:off x="8138159" y="2724912"/>
            <a:ext cx="1737360" cy="365760"/>
          </a:xfrm>
          <a:prstGeom prst="rect">
            <a:avLst/>
          </a:prstGeom>
          <a:noFill/>
        </p:spPr>
        <p:txBody>
          <a:bodyPr wrap="square" anchor="t" lIns="36576" rIns="36576" tIns="36576" bIns="36576">
            <a:spAutoFit/>
          </a:bodyPr>
          <a:lstStyle/>
          <a:p>
            <a:pPr algn="ctr">
              <a:spcAft>
                <a:spcPts val="600"/>
              </a:spcAft>
            </a:pPr>
            <a:r>
              <a:rPr sz="1400" b="0" i="0">
                <a:solidFill>
                  <a:srgbClr val="404040"/>
                </a:solidFill>
              </a:rPr>
              <a:t>validation</a:t>
            </a:r>
          </a:p>
        </p:txBody>
      </p:sp>
      <p:sp>
        <p:nvSpPr>
          <p:cNvPr id="14" name="Rounded Rectangle 13"/>
          <p:cNvSpPr/>
          <p:nvPr/>
        </p:nvSpPr>
        <p:spPr>
          <a:xfrm>
            <a:off x="10012680" y="2194560"/>
            <a:ext cx="1737360" cy="960120"/>
          </a:xfrm>
          <a:prstGeom prst="roundRect">
            <a:avLst>
              <a:gd name="adj" fmla="val 8000"/>
            </a:avLst>
          </a:prstGeom>
          <a:solidFill>
            <a:srgbClr val="E4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12680" y="2221992"/>
            <a:ext cx="1737360" cy="548640"/>
          </a:xfrm>
          <a:prstGeom prst="rect">
            <a:avLst/>
          </a:prstGeom>
          <a:noFill/>
        </p:spPr>
        <p:txBody>
          <a:bodyPr wrap="square" anchor="t" lIns="36576" rIns="36576" tIns="36576" bIns="36576">
            <a:spAutoFit/>
          </a:bodyPr>
          <a:lstStyle/>
          <a:p>
            <a:pPr algn="ctr">
              <a:spcAft>
                <a:spcPts val="600"/>
              </a:spcAft>
            </a:pPr>
            <a:r>
              <a:rPr sz="2800" b="1" i="0">
                <a:solidFill>
                  <a:srgbClr val="147A77"/>
                </a:solidFill>
              </a:rPr>
              <a:t>1,382</a:t>
            </a:r>
          </a:p>
        </p:txBody>
      </p:sp>
      <p:sp>
        <p:nvSpPr>
          <p:cNvPr id="16" name="TextBox 15"/>
          <p:cNvSpPr txBox="1"/>
          <p:nvPr/>
        </p:nvSpPr>
        <p:spPr>
          <a:xfrm>
            <a:off x="10012680" y="2724912"/>
            <a:ext cx="1737360" cy="365760"/>
          </a:xfrm>
          <a:prstGeom prst="rect">
            <a:avLst/>
          </a:prstGeom>
          <a:noFill/>
        </p:spPr>
        <p:txBody>
          <a:bodyPr wrap="square" anchor="t" lIns="36576" rIns="36576" tIns="36576" bIns="36576">
            <a:spAutoFit/>
          </a:bodyPr>
          <a:lstStyle/>
          <a:p>
            <a:pPr algn="ctr">
              <a:spcAft>
                <a:spcPts val="600"/>
              </a:spcAft>
            </a:pPr>
            <a:r>
              <a:rPr sz="1400" b="0" i="0">
                <a:solidFill>
                  <a:srgbClr val="404040"/>
                </a:solidFill>
              </a:rPr>
              <a:t>test</a:t>
            </a:r>
          </a:p>
        </p:txBody>
      </p:sp>
      <p:sp>
        <p:nvSpPr>
          <p:cNvPr id="17" name="TextBox 16"/>
          <p:cNvSpPr txBox="1"/>
          <p:nvPr/>
        </p:nvSpPr>
        <p:spPr>
          <a:xfrm>
            <a:off x="6263640" y="3337560"/>
            <a:ext cx="5486400" cy="2011680"/>
          </a:xfrm>
          <a:prstGeom prst="rect">
            <a:avLst/>
          </a:prstGeom>
          <a:noFill/>
        </p:spPr>
        <p:txBody>
          <a:bodyPr wrap="square" anchor="t" lIns="36576" rIns="36576" tIns="36576" bIns="36576">
            <a:spAutoFit/>
          </a:bodyPr>
          <a:lstStyle/>
          <a:p>
            <a:pPr algn="l" marL="228600" indent="-201168">
              <a:spcAft>
                <a:spcPts val="500"/>
              </a:spcAft>
              <a:buClr>
                <a:srgbClr val="22A4A0"/>
              </a:buClr>
              <a:buChar char="•"/>
            </a:pPr>
            <a:r>
              <a:rPr sz="1500" b="0" i="0">
                <a:solidFill>
                  <a:srgbClr val="404040"/>
                </a:solidFill>
              </a:rPr>
              <a:t>Resized to 224×224 (DenseNet121) or 300×300 (EfficientNetV2)</a:t>
            </a:r>
          </a:p>
          <a:p>
            <a:pPr algn="l" marL="228600" indent="-201168">
              <a:spcAft>
                <a:spcPts val="500"/>
              </a:spcAft>
              <a:buClr>
                <a:srgbClr val="22A4A0"/>
              </a:buClr>
              <a:buChar char="•"/>
            </a:pPr>
            <a:r>
              <a:rPr sz="1500" b="0" i="0">
                <a:solidFill>
                  <a:srgbClr val="404040"/>
                </a:solidFill>
              </a:rPr>
              <a:t>Grayscale channel copied to 3 channels for ImageNet weights</a:t>
            </a:r>
          </a:p>
          <a:p>
            <a:pPr algn="l" marL="228600" indent="-201168">
              <a:spcAft>
                <a:spcPts val="500"/>
              </a:spcAft>
              <a:buClr>
                <a:srgbClr val="22A4A0"/>
              </a:buClr>
              <a:buChar char="•"/>
            </a:pPr>
            <a:r>
              <a:rPr sz="1500" b="0" i="0">
                <a:solidFill>
                  <a:srgbClr val="404040"/>
                </a:solidFill>
              </a:rPr>
              <a:t>Augmentation on training images only: rotation, shift, zoom, shear, flip</a:t>
            </a:r>
          </a:p>
          <a:p>
            <a:pPr algn="l" marL="228600" indent="-201168">
              <a:spcAft>
                <a:spcPts val="500"/>
              </a:spcAft>
              <a:buClr>
                <a:srgbClr val="22A4A0"/>
              </a:buClr>
              <a:buChar char="•"/>
            </a:pPr>
            <a:r>
              <a:rPr sz="1500" b="0" i="0">
                <a:solidFill>
                  <a:srgbClr val="404040"/>
                </a:solidFill>
              </a:rPr>
              <a:t>Balanced class weights in the loss for the class imbalance</a:t>
            </a:r>
          </a:p>
        </p:txBody>
      </p:sp>
    </p:spTree>
    <p:extLst>
      <p:ext uri="{BB962C8B-B14F-4D97-AF65-F5344CB8AC3E}">
        <p14:creationId xmlns:p14="http://schemas.microsoft.com/office/powerpoint/2010/main" val="2215674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835D209-7441-DD8E-F105-EB39C108E48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B495C86-39F3-98D4-E9B8-731AE6268298}"/>
              </a:ext>
            </a:extLst>
          </p:cNvPr>
          <p:cNvSpPr txBox="1"/>
          <p:nvPr/>
        </p:nvSpPr>
        <p:spPr>
          <a:xfrm>
            <a:off x="330201" y="396352"/>
            <a:ext cx="1152144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F497D">
                    <a:lumMod val="75000"/>
                  </a:srgbClr>
                </a:solidFill>
                <a:effectLst/>
                <a:uLnTx/>
                <a:uFillTx/>
                <a:latin typeface="Calibri"/>
                <a:ea typeface="+mn-ea"/>
                <a:cs typeface="+mn-cs"/>
              </a:rPr>
              <a:t>Methodology: Model Architectures and Training</a:t>
            </a:r>
          </a:p>
        </p:txBody>
      </p:sp>
      <p:sp>
        <p:nvSpPr>
          <p:cNvPr id="5" name="TextBox 4">
            <a:extLst>
              <a:ext uri="{FF2B5EF4-FFF2-40B4-BE49-F238E27FC236}">
                <a16:creationId xmlns:a16="http://schemas.microsoft.com/office/drawing/2014/main" id="{D79D058F-920A-129C-2E3B-41173A389575}"/>
              </a:ext>
            </a:extLst>
          </p:cNvPr>
          <p:cNvSpPr txBox="1"/>
          <p:nvPr/>
        </p:nvSpPr>
        <p:spPr>
          <a:xfrm>
            <a:off x="330201" y="1234553"/>
            <a:ext cx="1152144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147A77">
                    <a:lumMod val="75000"/>
                  </a:srgbClr>
                </a:solidFill>
                <a:effectLst/>
                <a:uLnTx/>
                <a:uFillTx/>
                <a:latin typeface="Calibri"/>
                <a:ea typeface="+mn-ea"/>
                <a:cs typeface="+mn-cs"/>
              </a:rPr>
              <a:t>Three pretrained backbones, one shared head design, two training stages</a:t>
            </a:r>
          </a:p>
        </p:txBody>
      </p:sp>
      <p:graphicFrame>
        <p:nvGraphicFramePr>
          <p:cNvPr id="6" name="Table 5"/>
          <p:cNvGraphicFramePr>
            <a:graphicFrameLocks noGrp="1"/>
          </p:cNvGraphicFramePr>
          <p:nvPr/>
        </p:nvGraphicFramePr>
        <p:xfrm>
          <a:off x="411480" y="1783080"/>
          <a:ext cx="6035040" cy="2304288"/>
        </p:xfrm>
        <a:graphic>
          <a:graphicData uri="http://schemas.openxmlformats.org/drawingml/2006/table">
            <a:tbl>
              <a:tblPr firstRow="1" bandRow="0">
                <a:tableStyleId>{5C22544A-7EE6-4342-B048-85BDC9FD1C3A}</a:tableStyleId>
              </a:tblPr>
              <a:tblGrid>
                <a:gridCol w="1737360"/>
                <a:gridCol w="1463040"/>
                <a:gridCol w="1417320"/>
                <a:gridCol w="1417320"/>
              </a:tblGrid>
              <a:tr h="384048">
                <a:tc>
                  <a:txBody>
                    <a:bodyPr wrap="square"/>
                    <a:lstStyle/>
                    <a:p>
                      <a:r>
                        <a:rPr sz="1400" b="1">
                          <a:solidFill>
                            <a:srgbClr val="FFFFFF"/>
                          </a:solidFill>
                        </a:rPr>
                        <a:t>Setting</a:t>
                      </a:r>
                    </a:p>
                  </a:txBody>
                  <a:tcPr marL="54864" marR="54864" marT="27432" marB="27432" anchor="ctr">
                    <a:solidFill>
                      <a:srgbClr val="22A4A0"/>
                    </a:solidFill>
                  </a:tcPr>
                </a:tc>
                <a:tc>
                  <a:txBody>
                    <a:bodyPr wrap="square"/>
                    <a:lstStyle/>
                    <a:p>
                      <a:r>
                        <a:rPr sz="1400" b="1">
                          <a:solidFill>
                            <a:srgbClr val="FFFFFF"/>
                          </a:solidFill>
                        </a:rPr>
                        <a:t>DenseNet121</a:t>
                      </a:r>
                    </a:p>
                  </a:txBody>
                  <a:tcPr marL="54864" marR="54864" marT="27432" marB="27432" anchor="ctr">
                    <a:solidFill>
                      <a:srgbClr val="22A4A0"/>
                    </a:solidFill>
                  </a:tcPr>
                </a:tc>
                <a:tc>
                  <a:txBody>
                    <a:bodyPr wrap="square"/>
                    <a:lstStyle/>
                    <a:p>
                      <a:r>
                        <a:rPr sz="1400" b="1">
                          <a:solidFill>
                            <a:srgbClr val="FFFFFF"/>
                          </a:solidFill>
                        </a:rPr>
                        <a:t>EffNetV2B3</a:t>
                      </a:r>
                    </a:p>
                  </a:txBody>
                  <a:tcPr marL="54864" marR="54864" marT="27432" marB="27432" anchor="ctr">
                    <a:solidFill>
                      <a:srgbClr val="22A4A0"/>
                    </a:solidFill>
                  </a:tcPr>
                </a:tc>
                <a:tc>
                  <a:txBody>
                    <a:bodyPr wrap="square"/>
                    <a:lstStyle/>
                    <a:p>
                      <a:r>
                        <a:rPr sz="1400" b="1">
                          <a:solidFill>
                            <a:srgbClr val="FFFFFF"/>
                          </a:solidFill>
                        </a:rPr>
                        <a:t>EffNetV2S</a:t>
                      </a:r>
                    </a:p>
                  </a:txBody>
                  <a:tcPr marL="54864" marR="54864" marT="27432" marB="27432" anchor="ctr">
                    <a:solidFill>
                      <a:srgbClr val="22A4A0"/>
                    </a:solidFill>
                  </a:tcPr>
                </a:tc>
              </a:tr>
              <a:tr h="384048">
                <a:tc>
                  <a:txBody>
                    <a:bodyPr wrap="square"/>
                    <a:lstStyle/>
                    <a:p>
                      <a:r>
                        <a:rPr sz="1400" b="0">
                          <a:solidFill>
                            <a:srgbClr val="404040"/>
                          </a:solidFill>
                        </a:rPr>
                        <a:t>Input size</a:t>
                      </a:r>
                    </a:p>
                  </a:txBody>
                  <a:tcPr marL="54864" marR="54864" marT="27432" marB="27432" anchor="ctr">
                    <a:solidFill>
                      <a:srgbClr val="FFFFFF"/>
                    </a:solidFill>
                  </a:tcPr>
                </a:tc>
                <a:tc>
                  <a:txBody>
                    <a:bodyPr wrap="square"/>
                    <a:lstStyle/>
                    <a:p>
                      <a:r>
                        <a:rPr sz="1400" b="0">
                          <a:solidFill>
                            <a:srgbClr val="404040"/>
                          </a:solidFill>
                        </a:rPr>
                        <a:t>224×224</a:t>
                      </a:r>
                    </a:p>
                  </a:txBody>
                  <a:tcPr marL="54864" marR="54864" marT="27432" marB="27432" anchor="ctr">
                    <a:solidFill>
                      <a:srgbClr val="FFFFFF"/>
                    </a:solidFill>
                  </a:tcPr>
                </a:tc>
                <a:tc>
                  <a:txBody>
                    <a:bodyPr wrap="square"/>
                    <a:lstStyle/>
                    <a:p>
                      <a:r>
                        <a:rPr sz="1400" b="0">
                          <a:solidFill>
                            <a:srgbClr val="404040"/>
                          </a:solidFill>
                        </a:rPr>
                        <a:t>300×300</a:t>
                      </a:r>
                    </a:p>
                  </a:txBody>
                  <a:tcPr marL="54864" marR="54864" marT="27432" marB="27432" anchor="ctr">
                    <a:solidFill>
                      <a:srgbClr val="FFFFFF"/>
                    </a:solidFill>
                  </a:tcPr>
                </a:tc>
                <a:tc>
                  <a:txBody>
                    <a:bodyPr wrap="square"/>
                    <a:lstStyle/>
                    <a:p>
                      <a:r>
                        <a:rPr sz="1400" b="0">
                          <a:solidFill>
                            <a:srgbClr val="404040"/>
                          </a:solidFill>
                        </a:rPr>
                        <a:t>300×300</a:t>
                      </a:r>
                    </a:p>
                  </a:txBody>
                  <a:tcPr marL="54864" marR="54864" marT="27432" marB="27432" anchor="ctr">
                    <a:solidFill>
                      <a:srgbClr val="FFFFFF"/>
                    </a:solidFill>
                  </a:tcPr>
                </a:tc>
              </a:tr>
              <a:tr h="384048">
                <a:tc>
                  <a:txBody>
                    <a:bodyPr wrap="square"/>
                    <a:lstStyle/>
                    <a:p>
                      <a:r>
                        <a:rPr sz="1400" b="0">
                          <a:solidFill>
                            <a:srgbClr val="404040"/>
                          </a:solidFill>
                        </a:rPr>
                        <a:t>Core block</a:t>
                      </a:r>
                    </a:p>
                  </a:txBody>
                  <a:tcPr marL="54864" marR="54864" marT="27432" marB="27432" anchor="ctr">
                    <a:solidFill>
                      <a:srgbClr val="E4F4F3"/>
                    </a:solidFill>
                  </a:tcPr>
                </a:tc>
                <a:tc>
                  <a:txBody>
                    <a:bodyPr wrap="square"/>
                    <a:lstStyle/>
                    <a:p>
                      <a:r>
                        <a:rPr sz="1400" b="0">
                          <a:solidFill>
                            <a:srgbClr val="404040"/>
                          </a:solidFill>
                        </a:rPr>
                        <a:t>Dense block</a:t>
                      </a:r>
                    </a:p>
                  </a:txBody>
                  <a:tcPr marL="54864" marR="54864" marT="27432" marB="27432" anchor="ctr">
                    <a:solidFill>
                      <a:srgbClr val="E4F4F3"/>
                    </a:solidFill>
                  </a:tcPr>
                </a:tc>
                <a:tc>
                  <a:txBody>
                    <a:bodyPr wrap="square"/>
                    <a:lstStyle/>
                    <a:p>
                      <a:r>
                        <a:rPr sz="1400" b="0">
                          <a:solidFill>
                            <a:srgbClr val="404040"/>
                          </a:solidFill>
                        </a:rPr>
                        <a:t>Fused-MBConv</a:t>
                      </a:r>
                    </a:p>
                  </a:txBody>
                  <a:tcPr marL="54864" marR="54864" marT="27432" marB="27432" anchor="ctr">
                    <a:solidFill>
                      <a:srgbClr val="E4F4F3"/>
                    </a:solidFill>
                  </a:tcPr>
                </a:tc>
                <a:tc>
                  <a:txBody>
                    <a:bodyPr wrap="square"/>
                    <a:lstStyle/>
                    <a:p>
                      <a:r>
                        <a:rPr sz="1400" b="0">
                          <a:solidFill>
                            <a:srgbClr val="404040"/>
                          </a:solidFill>
                        </a:rPr>
                        <a:t>Fused-MBConv</a:t>
                      </a:r>
                    </a:p>
                  </a:txBody>
                  <a:tcPr marL="54864" marR="54864" marT="27432" marB="27432" anchor="ctr">
                    <a:solidFill>
                      <a:srgbClr val="E4F4F3"/>
                    </a:solidFill>
                  </a:tcPr>
                </a:tc>
              </a:tr>
              <a:tr h="384048">
                <a:tc>
                  <a:txBody>
                    <a:bodyPr wrap="square"/>
                    <a:lstStyle/>
                    <a:p>
                      <a:r>
                        <a:rPr sz="1400" b="0">
                          <a:solidFill>
                            <a:srgbClr val="404040"/>
                          </a:solidFill>
                        </a:rPr>
                        <a:t>Head dense units</a:t>
                      </a:r>
                    </a:p>
                  </a:txBody>
                  <a:tcPr marL="54864" marR="54864" marT="27432" marB="27432" anchor="ctr">
                    <a:solidFill>
                      <a:srgbClr val="FFFFFF"/>
                    </a:solidFill>
                  </a:tcPr>
                </a:tc>
                <a:tc>
                  <a:txBody>
                    <a:bodyPr wrap="square"/>
                    <a:lstStyle/>
                    <a:p>
                      <a:r>
                        <a:rPr sz="1400" b="0">
                          <a:solidFill>
                            <a:srgbClr val="404040"/>
                          </a:solidFill>
                        </a:rPr>
                        <a:t>512, 256</a:t>
                      </a:r>
                    </a:p>
                  </a:txBody>
                  <a:tcPr marL="54864" marR="54864" marT="27432" marB="27432" anchor="ctr">
                    <a:solidFill>
                      <a:srgbClr val="FFFFFF"/>
                    </a:solidFill>
                  </a:tcPr>
                </a:tc>
                <a:tc>
                  <a:txBody>
                    <a:bodyPr wrap="square"/>
                    <a:lstStyle/>
                    <a:p>
                      <a:r>
                        <a:rPr sz="1400" b="0">
                          <a:solidFill>
                            <a:srgbClr val="404040"/>
                          </a:solidFill>
                        </a:rPr>
                        <a:t>640, 320</a:t>
                      </a:r>
                    </a:p>
                  </a:txBody>
                  <a:tcPr marL="54864" marR="54864" marT="27432" marB="27432" anchor="ctr">
                    <a:solidFill>
                      <a:srgbClr val="FFFFFF"/>
                    </a:solidFill>
                  </a:tcPr>
                </a:tc>
                <a:tc>
                  <a:txBody>
                    <a:bodyPr wrap="square"/>
                    <a:lstStyle/>
                    <a:p>
                      <a:r>
                        <a:rPr sz="1400" b="0">
                          <a:solidFill>
                            <a:srgbClr val="404040"/>
                          </a:solidFill>
                        </a:rPr>
                        <a:t>512, 256</a:t>
                      </a:r>
                    </a:p>
                  </a:txBody>
                  <a:tcPr marL="54864" marR="54864" marT="27432" marB="27432" anchor="ctr">
                    <a:solidFill>
                      <a:srgbClr val="FFFFFF"/>
                    </a:solidFill>
                  </a:tcPr>
                </a:tc>
              </a:tr>
              <a:tr h="384048">
                <a:tc>
                  <a:txBody>
                    <a:bodyPr wrap="square"/>
                    <a:lstStyle/>
                    <a:p>
                      <a:r>
                        <a:rPr sz="1400" b="0">
                          <a:solidFill>
                            <a:srgbClr val="404040"/>
                          </a:solidFill>
                        </a:rPr>
                        <a:t>Total parameters</a:t>
                      </a:r>
                    </a:p>
                  </a:txBody>
                  <a:tcPr marL="54864" marR="54864" marT="27432" marB="27432" anchor="ctr">
                    <a:solidFill>
                      <a:srgbClr val="E4F4F3"/>
                    </a:solidFill>
                  </a:tcPr>
                </a:tc>
                <a:tc>
                  <a:txBody>
                    <a:bodyPr wrap="square"/>
                    <a:lstStyle/>
                    <a:p>
                      <a:r>
                        <a:rPr sz="1400" b="0">
                          <a:solidFill>
                            <a:srgbClr val="404040"/>
                          </a:solidFill>
                        </a:rPr>
                        <a:t>7.70 M</a:t>
                      </a:r>
                    </a:p>
                  </a:txBody>
                  <a:tcPr marL="54864" marR="54864" marT="27432" marB="27432" anchor="ctr">
                    <a:solidFill>
                      <a:srgbClr val="E4F4F3"/>
                    </a:solidFill>
                  </a:tcPr>
                </a:tc>
                <a:tc>
                  <a:txBody>
                    <a:bodyPr wrap="square"/>
                    <a:lstStyle/>
                    <a:p>
                      <a:r>
                        <a:rPr sz="1400" b="0">
                          <a:solidFill>
                            <a:srgbClr val="404040"/>
                          </a:solidFill>
                        </a:rPr>
                        <a:t>14.13 M</a:t>
                      </a:r>
                    </a:p>
                  </a:txBody>
                  <a:tcPr marL="54864" marR="54864" marT="27432" marB="27432" anchor="ctr">
                    <a:solidFill>
                      <a:srgbClr val="E4F4F3"/>
                    </a:solidFill>
                  </a:tcPr>
                </a:tc>
                <a:tc>
                  <a:txBody>
                    <a:bodyPr wrap="square"/>
                    <a:lstStyle/>
                    <a:p>
                      <a:r>
                        <a:rPr sz="1400" b="0">
                          <a:solidFill>
                            <a:srgbClr val="404040"/>
                          </a:solidFill>
                        </a:rPr>
                        <a:t>21.12 M</a:t>
                      </a:r>
                    </a:p>
                  </a:txBody>
                  <a:tcPr marL="54864" marR="54864" marT="27432" marB="27432" anchor="ctr">
                    <a:solidFill>
                      <a:srgbClr val="E4F4F3"/>
                    </a:solidFill>
                  </a:tcPr>
                </a:tc>
              </a:tr>
              <a:tr h="384048">
                <a:tc>
                  <a:txBody>
                    <a:bodyPr wrap="square"/>
                    <a:lstStyle/>
                    <a:p>
                      <a:r>
                        <a:rPr sz="1400" b="0">
                          <a:solidFill>
                            <a:srgbClr val="404040"/>
                          </a:solidFill>
                        </a:rPr>
                        <a:t>Batch size</a:t>
                      </a:r>
                    </a:p>
                  </a:txBody>
                  <a:tcPr marL="54864" marR="54864" marT="27432" marB="27432" anchor="ctr">
                    <a:solidFill>
                      <a:srgbClr val="FFFFFF"/>
                    </a:solidFill>
                  </a:tcPr>
                </a:tc>
                <a:tc>
                  <a:txBody>
                    <a:bodyPr wrap="square"/>
                    <a:lstStyle/>
                    <a:p>
                      <a:r>
                        <a:rPr sz="1400" b="0">
                          <a:solidFill>
                            <a:srgbClr val="404040"/>
                          </a:solidFill>
                        </a:rPr>
                        <a:t>32</a:t>
                      </a:r>
                    </a:p>
                  </a:txBody>
                  <a:tcPr marL="54864" marR="54864" marT="27432" marB="27432" anchor="ctr">
                    <a:solidFill>
                      <a:srgbClr val="FFFFFF"/>
                    </a:solidFill>
                  </a:tcPr>
                </a:tc>
                <a:tc>
                  <a:txBody>
                    <a:bodyPr wrap="square"/>
                    <a:lstStyle/>
                    <a:p>
                      <a:r>
                        <a:rPr sz="1400" b="0">
                          <a:solidFill>
                            <a:srgbClr val="404040"/>
                          </a:solidFill>
                        </a:rPr>
                        <a:t>24</a:t>
                      </a:r>
                    </a:p>
                  </a:txBody>
                  <a:tcPr marL="54864" marR="54864" marT="27432" marB="27432" anchor="ctr">
                    <a:solidFill>
                      <a:srgbClr val="FFFFFF"/>
                    </a:solidFill>
                  </a:tcPr>
                </a:tc>
                <a:tc>
                  <a:txBody>
                    <a:bodyPr wrap="square"/>
                    <a:lstStyle/>
                    <a:p>
                      <a:r>
                        <a:rPr sz="1400" b="0">
                          <a:solidFill>
                            <a:srgbClr val="404040"/>
                          </a:solidFill>
                        </a:rPr>
                        <a:t>16</a:t>
                      </a:r>
                    </a:p>
                  </a:txBody>
                  <a:tcPr marL="54864" marR="54864" marT="27432" marB="27432" anchor="ctr">
                    <a:solidFill>
                      <a:srgbClr val="FFFFFF"/>
                    </a:solidFill>
                  </a:tcPr>
                </a:tc>
              </a:tr>
            </a:tbl>
          </a:graphicData>
        </a:graphic>
      </p:graphicFrame>
      <p:sp>
        <p:nvSpPr>
          <p:cNvPr id="7" name="TextBox 6"/>
          <p:cNvSpPr txBox="1"/>
          <p:nvPr/>
        </p:nvSpPr>
        <p:spPr>
          <a:xfrm>
            <a:off x="411480" y="4206240"/>
            <a:ext cx="6035040" cy="1143000"/>
          </a:xfrm>
          <a:prstGeom prst="rect">
            <a:avLst/>
          </a:prstGeom>
          <a:noFill/>
        </p:spPr>
        <p:txBody>
          <a:bodyPr wrap="square" anchor="t" lIns="36576" rIns="36576" tIns="36576" bIns="36576">
            <a:spAutoFit/>
          </a:bodyPr>
          <a:lstStyle/>
          <a:p>
            <a:pPr algn="l">
              <a:spcAft>
                <a:spcPts val="600"/>
              </a:spcAft>
            </a:pPr>
            <a:r>
              <a:rPr sz="1500" b="1" i="0">
                <a:solidFill>
                  <a:srgbClr val="17375E"/>
                </a:solidFill>
              </a:rPr>
              <a:t>Same head for all: </a:t>
            </a:r>
            <a:r>
              <a:rPr sz="1500" b="0" i="0">
                <a:solidFill>
                  <a:srgbClr val="404040"/>
                </a:solidFill>
              </a:rPr>
              <a:t>global average pooling → batch norm → two dense layers with dropout → 4-class softmax</a:t>
            </a:r>
          </a:p>
        </p:txBody>
      </p:sp>
      <p:sp>
        <p:nvSpPr>
          <p:cNvPr id="8" name="TextBox 7"/>
          <p:cNvSpPr txBox="1"/>
          <p:nvPr/>
        </p:nvSpPr>
        <p:spPr>
          <a:xfrm>
            <a:off x="6812280" y="1783080"/>
            <a:ext cx="4937760" cy="365760"/>
          </a:xfrm>
          <a:prstGeom prst="rect">
            <a:avLst/>
          </a:prstGeom>
          <a:noFill/>
        </p:spPr>
        <p:txBody>
          <a:bodyPr wrap="square" anchor="t" lIns="36576" rIns="36576" tIns="36576" bIns="36576">
            <a:spAutoFit/>
          </a:bodyPr>
          <a:lstStyle/>
          <a:p>
            <a:pPr algn="l">
              <a:spcAft>
                <a:spcPts val="600"/>
              </a:spcAft>
            </a:pPr>
            <a:r>
              <a:rPr sz="1800" b="1" i="0">
                <a:solidFill>
                  <a:srgbClr val="17375E"/>
                </a:solidFill>
              </a:rPr>
              <a:t>Two-stage transfer learning</a:t>
            </a:r>
          </a:p>
        </p:txBody>
      </p:sp>
      <p:sp>
        <p:nvSpPr>
          <p:cNvPr id="9" name="Rounded Rectangle 8"/>
          <p:cNvSpPr/>
          <p:nvPr/>
        </p:nvSpPr>
        <p:spPr>
          <a:xfrm>
            <a:off x="6812280" y="2240280"/>
            <a:ext cx="4937760" cy="1097280"/>
          </a:xfrm>
          <a:prstGeom prst="roundRect">
            <a:avLst>
              <a:gd name="adj" fmla="val 8000"/>
            </a:avLst>
          </a:prstGeom>
          <a:solidFill>
            <a:srgbClr val="E4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949440" y="2459736"/>
            <a:ext cx="658368" cy="658368"/>
          </a:xfrm>
          <a:prstGeom prst="ellipse">
            <a:avLst/>
          </a:prstGeom>
          <a:solidFill>
            <a:srgbClr val="22A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aLock_w.png"/>
          <p:cNvPicPr>
            <a:picLocks noChangeAspect="1"/>
          </p:cNvPicPr>
          <p:nvPr/>
        </p:nvPicPr>
        <p:blipFill>
          <a:blip r:embed="rId3"/>
          <a:stretch>
            <a:fillRect/>
          </a:stretch>
        </p:blipFill>
        <p:spPr>
          <a:xfrm>
            <a:off x="7107448" y="2617744"/>
            <a:ext cx="342351" cy="342351"/>
          </a:xfrm>
          <a:prstGeom prst="rect">
            <a:avLst/>
          </a:prstGeom>
        </p:spPr>
      </p:pic>
      <p:sp>
        <p:nvSpPr>
          <p:cNvPr id="12" name="TextBox 11"/>
          <p:cNvSpPr txBox="1"/>
          <p:nvPr/>
        </p:nvSpPr>
        <p:spPr>
          <a:xfrm>
            <a:off x="7772400" y="2313432"/>
            <a:ext cx="3931920" cy="365760"/>
          </a:xfrm>
          <a:prstGeom prst="rect">
            <a:avLst/>
          </a:prstGeom>
          <a:noFill/>
        </p:spPr>
        <p:txBody>
          <a:bodyPr wrap="square" anchor="t" lIns="36576" rIns="36576" tIns="36576" bIns="36576">
            <a:spAutoFit/>
          </a:bodyPr>
          <a:lstStyle/>
          <a:p>
            <a:pPr algn="l">
              <a:spcAft>
                <a:spcPts val="600"/>
              </a:spcAft>
            </a:pPr>
            <a:r>
              <a:rPr sz="1600" b="1" i="0">
                <a:solidFill>
                  <a:srgbClr val="17375E"/>
                </a:solidFill>
              </a:rPr>
              <a:t>Stage 1: train the head</a:t>
            </a:r>
          </a:p>
        </p:txBody>
      </p:sp>
      <p:sp>
        <p:nvSpPr>
          <p:cNvPr id="13" name="TextBox 12"/>
          <p:cNvSpPr txBox="1"/>
          <p:nvPr/>
        </p:nvSpPr>
        <p:spPr>
          <a:xfrm>
            <a:off x="7772400" y="2660904"/>
            <a:ext cx="3931920" cy="676656"/>
          </a:xfrm>
          <a:prstGeom prst="rect">
            <a:avLst/>
          </a:prstGeom>
          <a:noFill/>
        </p:spPr>
        <p:txBody>
          <a:bodyPr wrap="square" anchor="t" lIns="36576" rIns="36576" tIns="36576" bIns="36576">
            <a:spAutoFit/>
          </a:bodyPr>
          <a:lstStyle/>
          <a:p>
            <a:pPr algn="l">
              <a:spcAft>
                <a:spcPts val="600"/>
              </a:spcAft>
            </a:pPr>
            <a:r>
              <a:rPr sz="1400" b="0" i="0">
                <a:solidFill>
                  <a:srgbClr val="404040"/>
                </a:solidFill>
              </a:rPr>
              <a:t>Backbone frozen, up to 10 epochs, learning rate 1×10⁻⁴ (1×10⁻³ for V2B3)</a:t>
            </a:r>
          </a:p>
        </p:txBody>
      </p:sp>
      <p:sp>
        <p:nvSpPr>
          <p:cNvPr id="14" name="Rounded Rectangle 13"/>
          <p:cNvSpPr/>
          <p:nvPr/>
        </p:nvSpPr>
        <p:spPr>
          <a:xfrm>
            <a:off x="6812280" y="3566160"/>
            <a:ext cx="4937760" cy="1097280"/>
          </a:xfrm>
          <a:prstGeom prst="roundRect">
            <a:avLst>
              <a:gd name="adj" fmla="val 8000"/>
            </a:avLst>
          </a:prstGeom>
          <a:solidFill>
            <a:srgbClr val="E4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949440" y="3785616"/>
            <a:ext cx="658368" cy="658368"/>
          </a:xfrm>
          <a:prstGeom prst="ellipse">
            <a:avLst/>
          </a:prstGeom>
          <a:solidFill>
            <a:srgbClr val="DE6C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FaCogs_w.png"/>
          <p:cNvPicPr>
            <a:picLocks noChangeAspect="1"/>
          </p:cNvPicPr>
          <p:nvPr/>
        </p:nvPicPr>
        <p:blipFill>
          <a:blip r:embed="rId4"/>
          <a:stretch>
            <a:fillRect/>
          </a:stretch>
        </p:blipFill>
        <p:spPr>
          <a:xfrm>
            <a:off x="7107448" y="3943624"/>
            <a:ext cx="342351" cy="342351"/>
          </a:xfrm>
          <a:prstGeom prst="rect">
            <a:avLst/>
          </a:prstGeom>
        </p:spPr>
      </p:pic>
      <p:sp>
        <p:nvSpPr>
          <p:cNvPr id="17" name="TextBox 16"/>
          <p:cNvSpPr txBox="1"/>
          <p:nvPr/>
        </p:nvSpPr>
        <p:spPr>
          <a:xfrm>
            <a:off x="7772400" y="3639312"/>
            <a:ext cx="3931920" cy="365760"/>
          </a:xfrm>
          <a:prstGeom prst="rect">
            <a:avLst/>
          </a:prstGeom>
          <a:noFill/>
        </p:spPr>
        <p:txBody>
          <a:bodyPr wrap="square" anchor="t" lIns="36576" rIns="36576" tIns="36576" bIns="36576">
            <a:spAutoFit/>
          </a:bodyPr>
          <a:lstStyle/>
          <a:p>
            <a:pPr algn="l">
              <a:spcAft>
                <a:spcPts val="600"/>
              </a:spcAft>
            </a:pPr>
            <a:r>
              <a:rPr sz="1600" b="1" i="0">
                <a:solidFill>
                  <a:srgbClr val="17375E"/>
                </a:solidFill>
              </a:rPr>
              <a:t>Stage 2: fine-tune</a:t>
            </a:r>
          </a:p>
        </p:txBody>
      </p:sp>
      <p:sp>
        <p:nvSpPr>
          <p:cNvPr id="18" name="TextBox 17"/>
          <p:cNvSpPr txBox="1"/>
          <p:nvPr/>
        </p:nvSpPr>
        <p:spPr>
          <a:xfrm>
            <a:off x="7772400" y="3986784"/>
            <a:ext cx="3931920" cy="676656"/>
          </a:xfrm>
          <a:prstGeom prst="rect">
            <a:avLst/>
          </a:prstGeom>
          <a:noFill/>
        </p:spPr>
        <p:txBody>
          <a:bodyPr wrap="square" anchor="t" lIns="36576" rIns="36576" tIns="36576" bIns="36576">
            <a:spAutoFit/>
          </a:bodyPr>
          <a:lstStyle/>
          <a:p>
            <a:pPr algn="l">
              <a:spcAft>
                <a:spcPts val="600"/>
              </a:spcAft>
            </a:pPr>
            <a:r>
              <a:rPr sz="1400" b="0" i="0">
                <a:solidFill>
                  <a:srgbClr val="404040"/>
                </a:solidFill>
              </a:rPr>
              <a:t>Top backbone layers unfrozen, up to 30 epochs, learning rate 1×10⁻⁵</a:t>
            </a:r>
          </a:p>
        </p:txBody>
      </p:sp>
      <p:sp>
        <p:nvSpPr>
          <p:cNvPr id="19" name="TextBox 18"/>
          <p:cNvSpPr txBox="1"/>
          <p:nvPr/>
        </p:nvSpPr>
        <p:spPr>
          <a:xfrm>
            <a:off x="6812280" y="4892040"/>
            <a:ext cx="4937760" cy="457200"/>
          </a:xfrm>
          <a:prstGeom prst="rect">
            <a:avLst/>
          </a:prstGeom>
          <a:noFill/>
        </p:spPr>
        <p:txBody>
          <a:bodyPr wrap="square" anchor="t" lIns="36576" rIns="36576" tIns="36576" bIns="36576">
            <a:spAutoFit/>
          </a:bodyPr>
          <a:lstStyle/>
          <a:p>
            <a:pPr algn="l">
              <a:spcAft>
                <a:spcPts val="600"/>
              </a:spcAft>
            </a:pPr>
            <a:r>
              <a:rPr sz="1400" b="0" i="0">
                <a:solidFill>
                  <a:srgbClr val="404040"/>
                </a:solidFill>
              </a:rPr>
              <a:t>Adam, cross-entropy, early stopping on validation accuracy</a:t>
            </a:r>
          </a:p>
        </p:txBody>
      </p:sp>
    </p:spTree>
    <p:extLst>
      <p:ext uri="{BB962C8B-B14F-4D97-AF65-F5344CB8AC3E}">
        <p14:creationId xmlns:p14="http://schemas.microsoft.com/office/powerpoint/2010/main" val="2551734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252BD9-6226-6371-4257-BC40B4AE3C27}"/>
              </a:ext>
            </a:extLst>
          </p:cNvPr>
          <p:cNvSpPr txBox="1"/>
          <p:nvPr/>
        </p:nvSpPr>
        <p:spPr>
          <a:xfrm>
            <a:off x="330201" y="396352"/>
            <a:ext cx="11521440" cy="584775"/>
          </a:xfrm>
          <a:prstGeom prst="rect">
            <a:avLst/>
          </a:prstGeom>
          <a:noFill/>
        </p:spPr>
        <p:txBody>
          <a:bodyPr wrap="square" rtlCol="0">
            <a:spAutoFit/>
          </a:bodyPr>
          <a:lstStyle/>
          <a:p>
            <a:r>
              <a:rPr lang="en-US" sz="3200" b="1" dirty="0">
                <a:solidFill>
                  <a:schemeClr val="tx2">
                    <a:lumMod val="75000"/>
                  </a:schemeClr>
                </a:solidFill>
              </a:rPr>
              <a:t>Methodology: Grad-CAM Explainability</a:t>
            </a:r>
          </a:p>
        </p:txBody>
      </p:sp>
      <p:sp>
        <p:nvSpPr>
          <p:cNvPr id="5" name="TextBox 4">
            <a:extLst>
              <a:ext uri="{FF2B5EF4-FFF2-40B4-BE49-F238E27FC236}">
                <a16:creationId xmlns:a16="http://schemas.microsoft.com/office/drawing/2014/main" id="{A1651BCA-DD82-43D0-C5EA-540538A70CB5}"/>
              </a:ext>
            </a:extLst>
          </p:cNvPr>
          <p:cNvSpPr txBox="1"/>
          <p:nvPr/>
        </p:nvSpPr>
        <p:spPr>
          <a:xfrm>
            <a:off x="330201" y="1234553"/>
            <a:ext cx="11521440" cy="400110"/>
          </a:xfrm>
          <a:prstGeom prst="rect">
            <a:avLst/>
          </a:prstGeom>
          <a:noFill/>
        </p:spPr>
        <p:txBody>
          <a:bodyPr wrap="square" rtlCol="0">
            <a:spAutoFit/>
          </a:bodyPr>
          <a:lstStyle/>
          <a:p>
            <a:r>
              <a:rPr lang="en-US" sz="2000" dirty="0" i="1">
                <a:solidFill>
                  <a:srgbClr val="147A77"/>
                </a:solidFill>
                <a:latin typeface="+mj-lt"/>
              </a:rPr>
              <a:t>Heatmaps from the logits, restricted to the lungs by a U-Net</a:t>
            </a:r>
          </a:p>
        </p:txBody>
      </p:sp>
      <p:sp>
        <p:nvSpPr>
          <p:cNvPr id="6" name="Oval 5"/>
          <p:cNvSpPr/>
          <p:nvPr/>
        </p:nvSpPr>
        <p:spPr>
          <a:xfrm>
            <a:off x="914400" y="1737360"/>
            <a:ext cx="640080" cy="640080"/>
          </a:xfrm>
          <a:prstGeom prst="ellipse">
            <a:avLst/>
          </a:prstGeom>
          <a:solidFill>
            <a:srgbClr val="22A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aXRay_w.png"/>
          <p:cNvPicPr>
            <a:picLocks noChangeAspect="1"/>
          </p:cNvPicPr>
          <p:nvPr/>
        </p:nvPicPr>
        <p:blipFill>
          <a:blip r:embed="rId3"/>
          <a:stretch>
            <a:fillRect/>
          </a:stretch>
        </p:blipFill>
        <p:spPr>
          <a:xfrm>
            <a:off x="1068019" y="1890979"/>
            <a:ext cx="332841" cy="332841"/>
          </a:xfrm>
          <a:prstGeom prst="rect">
            <a:avLst/>
          </a:prstGeom>
        </p:spPr>
      </p:pic>
      <p:sp>
        <p:nvSpPr>
          <p:cNvPr id="8" name="TextBox 7"/>
          <p:cNvSpPr txBox="1"/>
          <p:nvPr/>
        </p:nvSpPr>
        <p:spPr>
          <a:xfrm>
            <a:off x="411480" y="2395728"/>
            <a:ext cx="1645920" cy="548640"/>
          </a:xfrm>
          <a:prstGeom prst="rect">
            <a:avLst/>
          </a:prstGeom>
          <a:noFill/>
        </p:spPr>
        <p:txBody>
          <a:bodyPr wrap="square" anchor="t" lIns="36576" rIns="36576" tIns="36576" bIns="36576">
            <a:spAutoFit/>
          </a:bodyPr>
          <a:lstStyle/>
          <a:p>
            <a:pPr algn="ctr">
              <a:spcAft>
                <a:spcPts val="0"/>
              </a:spcAft>
            </a:pPr>
            <a:r>
              <a:rPr sz="1300" b="1" i="0">
                <a:solidFill>
                  <a:srgbClr val="17375E"/>
                </a:solidFill>
              </a:rPr>
              <a:t>Chest X-ray</a:t>
            </a:r>
          </a:p>
        </p:txBody>
      </p:sp>
      <p:sp>
        <p:nvSpPr>
          <p:cNvPr id="9" name="Right Arrow 8"/>
          <p:cNvSpPr/>
          <p:nvPr/>
        </p:nvSpPr>
        <p:spPr>
          <a:xfrm>
            <a:off x="2130552" y="1920240"/>
            <a:ext cx="411480" cy="274320"/>
          </a:xfrm>
          <a:prstGeom prst="rightArrow">
            <a:avLst/>
          </a:prstGeom>
          <a:solidFill>
            <a:srgbClr val="DE6C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246120" y="1737360"/>
            <a:ext cx="640080" cy="640080"/>
          </a:xfrm>
          <a:prstGeom prst="ellipse">
            <a:avLst/>
          </a:prstGeom>
          <a:solidFill>
            <a:srgbClr val="22A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aBrain_w.png"/>
          <p:cNvPicPr>
            <a:picLocks noChangeAspect="1"/>
          </p:cNvPicPr>
          <p:nvPr/>
        </p:nvPicPr>
        <p:blipFill>
          <a:blip r:embed="rId4"/>
          <a:stretch>
            <a:fillRect/>
          </a:stretch>
        </p:blipFill>
        <p:spPr>
          <a:xfrm>
            <a:off x="3399739" y="1890979"/>
            <a:ext cx="332841" cy="332841"/>
          </a:xfrm>
          <a:prstGeom prst="rect">
            <a:avLst/>
          </a:prstGeom>
        </p:spPr>
      </p:pic>
      <p:sp>
        <p:nvSpPr>
          <p:cNvPr id="12" name="TextBox 11"/>
          <p:cNvSpPr txBox="1"/>
          <p:nvPr/>
        </p:nvSpPr>
        <p:spPr>
          <a:xfrm>
            <a:off x="2743200" y="2395728"/>
            <a:ext cx="1645920" cy="548640"/>
          </a:xfrm>
          <a:prstGeom prst="rect">
            <a:avLst/>
          </a:prstGeom>
          <a:noFill/>
        </p:spPr>
        <p:txBody>
          <a:bodyPr wrap="square" anchor="t" lIns="36576" rIns="36576" tIns="36576" bIns="36576">
            <a:spAutoFit/>
          </a:bodyPr>
          <a:lstStyle/>
          <a:p>
            <a:pPr algn="ctr">
              <a:spcAft>
                <a:spcPts val="0"/>
              </a:spcAft>
            </a:pPr>
            <a:r>
              <a:rPr sz="1300" b="1" i="0">
                <a:solidFill>
                  <a:srgbClr val="17375E"/>
                </a:solidFill>
              </a:rPr>
              <a:t>DenseNet121
prediction</a:t>
            </a:r>
          </a:p>
        </p:txBody>
      </p:sp>
      <p:sp>
        <p:nvSpPr>
          <p:cNvPr id="13" name="Right Arrow 12"/>
          <p:cNvSpPr/>
          <p:nvPr/>
        </p:nvSpPr>
        <p:spPr>
          <a:xfrm>
            <a:off x="4462272" y="1920240"/>
            <a:ext cx="411480" cy="274320"/>
          </a:xfrm>
          <a:prstGeom prst="rightArrow">
            <a:avLst/>
          </a:prstGeom>
          <a:solidFill>
            <a:srgbClr val="DE6C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577840" y="1737360"/>
            <a:ext cx="640080" cy="640080"/>
          </a:xfrm>
          <a:prstGeom prst="ellipse">
            <a:avLst/>
          </a:prstGeom>
          <a:solidFill>
            <a:srgbClr val="22A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FaChartBar_w.png"/>
          <p:cNvPicPr>
            <a:picLocks noChangeAspect="1"/>
          </p:cNvPicPr>
          <p:nvPr/>
        </p:nvPicPr>
        <p:blipFill>
          <a:blip r:embed="rId5"/>
          <a:stretch>
            <a:fillRect/>
          </a:stretch>
        </p:blipFill>
        <p:spPr>
          <a:xfrm>
            <a:off x="5731459" y="1890979"/>
            <a:ext cx="332841" cy="332841"/>
          </a:xfrm>
          <a:prstGeom prst="rect">
            <a:avLst/>
          </a:prstGeom>
        </p:spPr>
      </p:pic>
      <p:sp>
        <p:nvSpPr>
          <p:cNvPr id="16" name="TextBox 15"/>
          <p:cNvSpPr txBox="1"/>
          <p:nvPr/>
        </p:nvSpPr>
        <p:spPr>
          <a:xfrm>
            <a:off x="5074920" y="2395728"/>
            <a:ext cx="1645920" cy="548640"/>
          </a:xfrm>
          <a:prstGeom prst="rect">
            <a:avLst/>
          </a:prstGeom>
          <a:noFill/>
        </p:spPr>
        <p:txBody>
          <a:bodyPr wrap="square" anchor="t" lIns="36576" rIns="36576" tIns="36576" bIns="36576">
            <a:spAutoFit/>
          </a:bodyPr>
          <a:lstStyle/>
          <a:p>
            <a:pPr algn="ctr">
              <a:spcAft>
                <a:spcPts val="0"/>
              </a:spcAft>
            </a:pPr>
            <a:r>
              <a:rPr sz="1300" b="1" i="0">
                <a:solidFill>
                  <a:srgbClr val="17375E"/>
                </a:solidFill>
              </a:rPr>
              <a:t>Logit gradients
(7×7 map)</a:t>
            </a:r>
          </a:p>
        </p:txBody>
      </p:sp>
      <p:sp>
        <p:nvSpPr>
          <p:cNvPr id="17" name="Right Arrow 16"/>
          <p:cNvSpPr/>
          <p:nvPr/>
        </p:nvSpPr>
        <p:spPr>
          <a:xfrm>
            <a:off x="6793992" y="1920240"/>
            <a:ext cx="411480" cy="274320"/>
          </a:xfrm>
          <a:prstGeom prst="rightArrow">
            <a:avLst/>
          </a:prstGeom>
          <a:solidFill>
            <a:srgbClr val="DE6C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909560" y="1737360"/>
            <a:ext cx="640080" cy="640080"/>
          </a:xfrm>
          <a:prstGeom prst="ellipse">
            <a:avLst/>
          </a:prstGeom>
          <a:solidFill>
            <a:srgbClr val="22A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FaLungs_w.png"/>
          <p:cNvPicPr>
            <a:picLocks noChangeAspect="1"/>
          </p:cNvPicPr>
          <p:nvPr/>
        </p:nvPicPr>
        <p:blipFill>
          <a:blip r:embed="rId6"/>
          <a:stretch>
            <a:fillRect/>
          </a:stretch>
        </p:blipFill>
        <p:spPr>
          <a:xfrm>
            <a:off x="8063179" y="1890979"/>
            <a:ext cx="332841" cy="332841"/>
          </a:xfrm>
          <a:prstGeom prst="rect">
            <a:avLst/>
          </a:prstGeom>
        </p:spPr>
      </p:pic>
      <p:sp>
        <p:nvSpPr>
          <p:cNvPr id="20" name="TextBox 19"/>
          <p:cNvSpPr txBox="1"/>
          <p:nvPr/>
        </p:nvSpPr>
        <p:spPr>
          <a:xfrm>
            <a:off x="7406640" y="2395728"/>
            <a:ext cx="1645920" cy="548640"/>
          </a:xfrm>
          <a:prstGeom prst="rect">
            <a:avLst/>
          </a:prstGeom>
          <a:noFill/>
        </p:spPr>
        <p:txBody>
          <a:bodyPr wrap="square" anchor="t" lIns="36576" rIns="36576" tIns="36576" bIns="36576">
            <a:spAutoFit/>
          </a:bodyPr>
          <a:lstStyle/>
          <a:p>
            <a:pPr algn="ctr">
              <a:spcAft>
                <a:spcPts val="0"/>
              </a:spcAft>
            </a:pPr>
            <a:r>
              <a:rPr sz="1300" b="1" i="0">
                <a:solidFill>
                  <a:srgbClr val="17375E"/>
                </a:solidFill>
              </a:rPr>
              <a:t>U-Net lung
segmentation</a:t>
            </a:r>
          </a:p>
        </p:txBody>
      </p:sp>
      <p:sp>
        <p:nvSpPr>
          <p:cNvPr id="21" name="Right Arrow 20"/>
          <p:cNvSpPr/>
          <p:nvPr/>
        </p:nvSpPr>
        <p:spPr>
          <a:xfrm>
            <a:off x="9125712" y="1920240"/>
            <a:ext cx="411480" cy="274320"/>
          </a:xfrm>
          <a:prstGeom prst="rightArrow">
            <a:avLst/>
          </a:prstGeom>
          <a:solidFill>
            <a:srgbClr val="DE6C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241280" y="1737360"/>
            <a:ext cx="640080" cy="640080"/>
          </a:xfrm>
          <a:prstGeom prst="ellipse">
            <a:avLst/>
          </a:prstGeom>
          <a:solidFill>
            <a:srgbClr val="DE6C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FaEye_w.png"/>
          <p:cNvPicPr>
            <a:picLocks noChangeAspect="1"/>
          </p:cNvPicPr>
          <p:nvPr/>
        </p:nvPicPr>
        <p:blipFill>
          <a:blip r:embed="rId7"/>
          <a:stretch>
            <a:fillRect/>
          </a:stretch>
        </p:blipFill>
        <p:spPr>
          <a:xfrm>
            <a:off x="10394899" y="1890979"/>
            <a:ext cx="332841" cy="332841"/>
          </a:xfrm>
          <a:prstGeom prst="rect">
            <a:avLst/>
          </a:prstGeom>
        </p:spPr>
      </p:pic>
      <p:sp>
        <p:nvSpPr>
          <p:cNvPr id="24" name="TextBox 23"/>
          <p:cNvSpPr txBox="1"/>
          <p:nvPr/>
        </p:nvSpPr>
        <p:spPr>
          <a:xfrm>
            <a:off x="9738359" y="2395728"/>
            <a:ext cx="1645920" cy="548640"/>
          </a:xfrm>
          <a:prstGeom prst="rect">
            <a:avLst/>
          </a:prstGeom>
          <a:noFill/>
        </p:spPr>
        <p:txBody>
          <a:bodyPr wrap="square" anchor="t" lIns="36576" rIns="36576" tIns="36576" bIns="36576">
            <a:spAutoFit/>
          </a:bodyPr>
          <a:lstStyle/>
          <a:p>
            <a:pPr algn="ctr">
              <a:spcAft>
                <a:spcPts val="0"/>
              </a:spcAft>
            </a:pPr>
            <a:r>
              <a:rPr sz="1300" b="1" i="0">
                <a:solidFill>
                  <a:srgbClr val="17375E"/>
                </a:solidFill>
              </a:rPr>
              <a:t>Lung-only
heatmap</a:t>
            </a:r>
          </a:p>
        </p:txBody>
      </p:sp>
      <p:pic>
        <p:nvPicPr>
          <p:cNvPr id="25" name="Picture 24" descr="fig_gradcam.png"/>
          <p:cNvPicPr>
            <a:picLocks noChangeAspect="1"/>
          </p:cNvPicPr>
          <p:nvPr/>
        </p:nvPicPr>
        <p:blipFill>
          <a:blip r:embed="rId8"/>
          <a:stretch>
            <a:fillRect/>
          </a:stretch>
        </p:blipFill>
        <p:spPr>
          <a:xfrm>
            <a:off x="411480" y="3017520"/>
            <a:ext cx="6126480" cy="2286000"/>
          </a:xfrm>
          <a:prstGeom prst="rect">
            <a:avLst/>
          </a:prstGeom>
        </p:spPr>
      </p:pic>
      <p:sp>
        <p:nvSpPr>
          <p:cNvPr id="26" name="TextBox 25"/>
          <p:cNvSpPr txBox="1"/>
          <p:nvPr/>
        </p:nvSpPr>
        <p:spPr>
          <a:xfrm>
            <a:off x="6858000" y="3017520"/>
            <a:ext cx="4892040" cy="2286000"/>
          </a:xfrm>
          <a:prstGeom prst="rect">
            <a:avLst/>
          </a:prstGeom>
          <a:noFill/>
        </p:spPr>
        <p:txBody>
          <a:bodyPr wrap="square" anchor="ctr" lIns="36576" rIns="36576" tIns="36576" bIns="36576">
            <a:spAutoFit/>
          </a:bodyPr>
          <a:lstStyle/>
          <a:p>
            <a:pPr algn="l" marL="228600" indent="-201168">
              <a:spcAft>
                <a:spcPts val="1000"/>
              </a:spcAft>
              <a:buClr>
                <a:srgbClr val="22A4A0"/>
              </a:buClr>
              <a:buChar char="•"/>
            </a:pPr>
            <a:r>
              <a:rPr sz="1500" b="1" i="0">
                <a:solidFill>
                  <a:srgbClr val="17375E"/>
                </a:solidFill>
              </a:rPr>
              <a:t>No heat outside the lungs: </a:t>
            </a:r>
            <a:r>
              <a:rPr sz="1500" b="0" i="0">
                <a:solidFill>
                  <a:srgbClr val="404040"/>
                </a:solidFill>
              </a:rPr>
              <a:t>the map is masked to the segmented lung fields</a:t>
            </a:r>
          </a:p>
          <a:p>
            <a:pPr algn="l" marL="228600" indent="-201168">
              <a:spcAft>
                <a:spcPts val="1000"/>
              </a:spcAft>
              <a:buClr>
                <a:srgbClr val="22A4A0"/>
              </a:buClr>
              <a:buChar char="•"/>
            </a:pPr>
            <a:r>
              <a:rPr sz="1500" b="1" i="0">
                <a:solidFill>
                  <a:srgbClr val="17375E"/>
                </a:solidFill>
              </a:rPr>
              <a:t>Honest about attention: </a:t>
            </a:r>
            <a:r>
              <a:rPr sz="1500" b="0" i="0">
                <a:solidFill>
                  <a:srgbClr val="404040"/>
                </a:solidFill>
              </a:rPr>
              <a:t>in-lung share is measured before masking; a caution is shown below 50%</a:t>
            </a:r>
          </a:p>
          <a:p>
            <a:pPr algn="l" marL="228600" indent="-201168">
              <a:spcAft>
                <a:spcPts val="1000"/>
              </a:spcAft>
              <a:buClr>
                <a:srgbClr val="22A4A0"/>
              </a:buClr>
              <a:buChar char="•"/>
            </a:pPr>
            <a:r>
              <a:rPr sz="1500" b="1" i="0">
                <a:solidFill>
                  <a:srgbClr val="17375E"/>
                </a:solidFill>
              </a:rPr>
              <a:t>Safe fallback: </a:t>
            </a:r>
            <a:r>
              <a:rPr sz="1500" b="0" i="0">
                <a:solidFill>
                  <a:srgbClr val="404040"/>
                </a:solidFill>
              </a:rPr>
              <a:t>if no lungs are found, the unmasked map is shown</a:t>
            </a:r>
          </a:p>
        </p:txBody>
      </p:sp>
    </p:spTree>
    <p:extLst>
      <p:ext uri="{BB962C8B-B14F-4D97-AF65-F5344CB8AC3E}">
        <p14:creationId xmlns:p14="http://schemas.microsoft.com/office/powerpoint/2010/main" val="49345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252BD9-6226-6371-4257-BC40B4AE3C27}"/>
              </a:ext>
            </a:extLst>
          </p:cNvPr>
          <p:cNvSpPr txBox="1"/>
          <p:nvPr/>
        </p:nvSpPr>
        <p:spPr>
          <a:xfrm>
            <a:off x="330201" y="396352"/>
            <a:ext cx="11521440" cy="584775"/>
          </a:xfrm>
          <a:prstGeom prst="rect">
            <a:avLst/>
          </a:prstGeom>
          <a:noFill/>
        </p:spPr>
        <p:txBody>
          <a:bodyPr wrap="square" rtlCol="0">
            <a:spAutoFit/>
          </a:bodyPr>
          <a:lstStyle/>
          <a:p>
            <a:r>
              <a:rPr lang="en-US" sz="3200" b="1" dirty="0">
                <a:solidFill>
                  <a:schemeClr val="tx2">
                    <a:lumMod val="75000"/>
                  </a:schemeClr>
                </a:solidFill>
              </a:rPr>
              <a:t>Methodology: System Deployment</a:t>
            </a:r>
          </a:p>
        </p:txBody>
      </p:sp>
      <p:sp>
        <p:nvSpPr>
          <p:cNvPr id="5" name="TextBox 4">
            <a:extLst>
              <a:ext uri="{FF2B5EF4-FFF2-40B4-BE49-F238E27FC236}">
                <a16:creationId xmlns:a16="http://schemas.microsoft.com/office/drawing/2014/main" id="{A1651BCA-DD82-43D0-C5EA-540538A70CB5}"/>
              </a:ext>
            </a:extLst>
          </p:cNvPr>
          <p:cNvSpPr txBox="1"/>
          <p:nvPr/>
        </p:nvSpPr>
        <p:spPr>
          <a:xfrm>
            <a:off x="330201" y="1234553"/>
            <a:ext cx="11521440" cy="400110"/>
          </a:xfrm>
          <a:prstGeom prst="rect">
            <a:avLst/>
          </a:prstGeom>
          <a:noFill/>
        </p:spPr>
        <p:txBody>
          <a:bodyPr wrap="square" rtlCol="0">
            <a:spAutoFit/>
          </a:bodyPr>
          <a:lstStyle/>
          <a:p>
            <a:r>
              <a:rPr lang="en-US" sz="2000" dirty="0" i="1">
                <a:solidFill>
                  <a:srgbClr val="147A77"/>
                </a:solidFill>
                <a:latin typeface="+mj-lt"/>
              </a:rPr>
              <a:t>An end-to-end web platform around the model</a:t>
            </a:r>
          </a:p>
        </p:txBody>
      </p:sp>
      <p:pic>
        <p:nvPicPr>
          <p:cNvPr id="6" name="Picture 5" descr="fig_deploy.png"/>
          <p:cNvPicPr>
            <a:picLocks noChangeAspect="1"/>
          </p:cNvPicPr>
          <p:nvPr/>
        </p:nvPicPr>
        <p:blipFill>
          <a:blip r:embed="rId3"/>
          <a:stretch>
            <a:fillRect/>
          </a:stretch>
        </p:blipFill>
        <p:spPr>
          <a:xfrm>
            <a:off x="411480" y="1783080"/>
            <a:ext cx="6949440" cy="3542394"/>
          </a:xfrm>
          <a:prstGeom prst="rect">
            <a:avLst/>
          </a:prstGeom>
        </p:spPr>
      </p:pic>
      <p:sp>
        <p:nvSpPr>
          <p:cNvPr id="7" name="Oval 6"/>
          <p:cNvSpPr/>
          <p:nvPr/>
        </p:nvSpPr>
        <p:spPr>
          <a:xfrm>
            <a:off x="7635240" y="1828800"/>
            <a:ext cx="530352" cy="530352"/>
          </a:xfrm>
          <a:prstGeom prst="ellipse">
            <a:avLst/>
          </a:prstGeom>
          <a:solidFill>
            <a:srgbClr val="22A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aMobileAlt_w.png"/>
          <p:cNvPicPr>
            <a:picLocks noChangeAspect="1"/>
          </p:cNvPicPr>
          <p:nvPr/>
        </p:nvPicPr>
        <p:blipFill>
          <a:blip r:embed="rId4"/>
          <a:stretch>
            <a:fillRect/>
          </a:stretch>
        </p:blipFill>
        <p:spPr>
          <a:xfrm>
            <a:off x="7762524" y="1956084"/>
            <a:ext cx="275783" cy="275783"/>
          </a:xfrm>
          <a:prstGeom prst="rect">
            <a:avLst/>
          </a:prstGeom>
        </p:spPr>
      </p:pic>
      <p:sp>
        <p:nvSpPr>
          <p:cNvPr id="9" name="TextBox 8"/>
          <p:cNvSpPr txBox="1"/>
          <p:nvPr/>
        </p:nvSpPr>
        <p:spPr>
          <a:xfrm>
            <a:off x="8321040" y="1783080"/>
            <a:ext cx="3474720" cy="640080"/>
          </a:xfrm>
          <a:prstGeom prst="rect">
            <a:avLst/>
          </a:prstGeom>
          <a:noFill/>
        </p:spPr>
        <p:txBody>
          <a:bodyPr wrap="square" anchor="ctr" lIns="36576" rIns="36576" tIns="36576" bIns="36576">
            <a:spAutoFit/>
          </a:bodyPr>
          <a:lstStyle/>
          <a:p>
            <a:pPr algn="l">
              <a:spcAft>
                <a:spcPts val="600"/>
              </a:spcAft>
            </a:pPr>
            <a:r>
              <a:rPr sz="1500" b="0" i="0">
                <a:solidFill>
                  <a:srgbClr val="404040"/>
                </a:solidFill>
              </a:rPr>
              <a:t>Next.js web app for desktop, tablet and mobile</a:t>
            </a:r>
          </a:p>
        </p:txBody>
      </p:sp>
      <p:sp>
        <p:nvSpPr>
          <p:cNvPr id="10" name="Oval 9"/>
          <p:cNvSpPr/>
          <p:nvPr/>
        </p:nvSpPr>
        <p:spPr>
          <a:xfrm>
            <a:off x="7635240" y="2551176"/>
            <a:ext cx="530352" cy="530352"/>
          </a:xfrm>
          <a:prstGeom prst="ellipse">
            <a:avLst/>
          </a:prstGeom>
          <a:solidFill>
            <a:srgbClr val="22A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aLock_w.png"/>
          <p:cNvPicPr>
            <a:picLocks noChangeAspect="1"/>
          </p:cNvPicPr>
          <p:nvPr/>
        </p:nvPicPr>
        <p:blipFill>
          <a:blip r:embed="rId5"/>
          <a:stretch>
            <a:fillRect/>
          </a:stretch>
        </p:blipFill>
        <p:spPr>
          <a:xfrm>
            <a:off x="7762524" y="2678460"/>
            <a:ext cx="275783" cy="275783"/>
          </a:xfrm>
          <a:prstGeom prst="rect">
            <a:avLst/>
          </a:prstGeom>
        </p:spPr>
      </p:pic>
      <p:sp>
        <p:nvSpPr>
          <p:cNvPr id="12" name="TextBox 11"/>
          <p:cNvSpPr txBox="1"/>
          <p:nvPr/>
        </p:nvSpPr>
        <p:spPr>
          <a:xfrm>
            <a:off x="8321040" y="2505456"/>
            <a:ext cx="3474720" cy="640080"/>
          </a:xfrm>
          <a:prstGeom prst="rect">
            <a:avLst/>
          </a:prstGeom>
          <a:noFill/>
        </p:spPr>
        <p:txBody>
          <a:bodyPr wrap="square" anchor="ctr" lIns="36576" rIns="36576" tIns="36576" bIns="36576">
            <a:spAutoFit/>
          </a:bodyPr>
          <a:lstStyle/>
          <a:p>
            <a:pPr algn="l">
              <a:spcAft>
                <a:spcPts val="600"/>
              </a:spcAft>
            </a:pPr>
            <a:r>
              <a:rPr sz="1500" b="0" i="0">
                <a:solidFill>
                  <a:srgbClr val="404040"/>
                </a:solidFill>
              </a:rPr>
              <a:t>PHP REST API, JWT login, four user roles, MySQL</a:t>
            </a:r>
          </a:p>
        </p:txBody>
      </p:sp>
      <p:sp>
        <p:nvSpPr>
          <p:cNvPr id="13" name="Oval 12"/>
          <p:cNvSpPr/>
          <p:nvPr/>
        </p:nvSpPr>
        <p:spPr>
          <a:xfrm>
            <a:off x="7635240" y="3273552"/>
            <a:ext cx="530352" cy="530352"/>
          </a:xfrm>
          <a:prstGeom prst="ellipse">
            <a:avLst/>
          </a:prstGeom>
          <a:solidFill>
            <a:srgbClr val="22A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aServer_w.png"/>
          <p:cNvPicPr>
            <a:picLocks noChangeAspect="1"/>
          </p:cNvPicPr>
          <p:nvPr/>
        </p:nvPicPr>
        <p:blipFill>
          <a:blip r:embed="rId6"/>
          <a:stretch>
            <a:fillRect/>
          </a:stretch>
        </p:blipFill>
        <p:spPr>
          <a:xfrm>
            <a:off x="7762524" y="3400836"/>
            <a:ext cx="275783" cy="275783"/>
          </a:xfrm>
          <a:prstGeom prst="rect">
            <a:avLst/>
          </a:prstGeom>
        </p:spPr>
      </p:pic>
      <p:sp>
        <p:nvSpPr>
          <p:cNvPr id="15" name="TextBox 14"/>
          <p:cNvSpPr txBox="1"/>
          <p:nvPr/>
        </p:nvSpPr>
        <p:spPr>
          <a:xfrm>
            <a:off x="8321040" y="3227832"/>
            <a:ext cx="3474720" cy="640080"/>
          </a:xfrm>
          <a:prstGeom prst="rect">
            <a:avLst/>
          </a:prstGeom>
          <a:noFill/>
        </p:spPr>
        <p:txBody>
          <a:bodyPr wrap="square" anchor="ctr" lIns="36576" rIns="36576" tIns="36576" bIns="36576">
            <a:spAutoFit/>
          </a:bodyPr>
          <a:lstStyle/>
          <a:p>
            <a:pPr algn="l">
              <a:spcAft>
                <a:spcPts val="600"/>
              </a:spcAft>
            </a:pPr>
            <a:r>
              <a:rPr sz="1500" b="0" i="0">
                <a:solidFill>
                  <a:srgbClr val="404040"/>
                </a:solidFill>
              </a:rPr>
              <a:t>Python FastAPI service runs the models</a:t>
            </a:r>
          </a:p>
        </p:txBody>
      </p:sp>
      <p:sp>
        <p:nvSpPr>
          <p:cNvPr id="16" name="Oval 15"/>
          <p:cNvSpPr/>
          <p:nvPr/>
        </p:nvSpPr>
        <p:spPr>
          <a:xfrm>
            <a:off x="7635240" y="3995928"/>
            <a:ext cx="530352" cy="530352"/>
          </a:xfrm>
          <a:prstGeom prst="ellipse">
            <a:avLst/>
          </a:prstGeom>
          <a:solidFill>
            <a:srgbClr val="DE6C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FaShieldAlt_w.png"/>
          <p:cNvPicPr>
            <a:picLocks noChangeAspect="1"/>
          </p:cNvPicPr>
          <p:nvPr/>
        </p:nvPicPr>
        <p:blipFill>
          <a:blip r:embed="rId7"/>
          <a:stretch>
            <a:fillRect/>
          </a:stretch>
        </p:blipFill>
        <p:spPr>
          <a:xfrm>
            <a:off x="7762524" y="4123212"/>
            <a:ext cx="275783" cy="275783"/>
          </a:xfrm>
          <a:prstGeom prst="rect">
            <a:avLst/>
          </a:prstGeom>
        </p:spPr>
      </p:pic>
      <p:sp>
        <p:nvSpPr>
          <p:cNvPr id="18" name="TextBox 17"/>
          <p:cNvSpPr txBox="1"/>
          <p:nvPr/>
        </p:nvSpPr>
        <p:spPr>
          <a:xfrm>
            <a:off x="8321040" y="3950208"/>
            <a:ext cx="3474720" cy="640080"/>
          </a:xfrm>
          <a:prstGeom prst="rect">
            <a:avLst/>
          </a:prstGeom>
          <a:noFill/>
        </p:spPr>
        <p:txBody>
          <a:bodyPr wrap="square" anchor="ctr" lIns="36576" rIns="36576" tIns="36576" bIns="36576">
            <a:spAutoFit/>
          </a:bodyPr>
          <a:lstStyle/>
          <a:p>
            <a:pPr algn="l">
              <a:spcAft>
                <a:spcPts val="600"/>
              </a:spcAft>
            </a:pPr>
            <a:r>
              <a:rPr sz="1500" b="0" i="0">
                <a:solidFill>
                  <a:srgbClr val="404040"/>
                </a:solidFill>
              </a:rPr>
              <a:t>Out-of-distribution check withholds unsafe results</a:t>
            </a:r>
          </a:p>
        </p:txBody>
      </p:sp>
      <p:sp>
        <p:nvSpPr>
          <p:cNvPr id="19" name="Oval 18"/>
          <p:cNvSpPr/>
          <p:nvPr/>
        </p:nvSpPr>
        <p:spPr>
          <a:xfrm>
            <a:off x="7635240" y="4718304"/>
            <a:ext cx="530352" cy="530352"/>
          </a:xfrm>
          <a:prstGeom prst="ellipse">
            <a:avLst/>
          </a:prstGeom>
          <a:solidFill>
            <a:srgbClr val="22A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FaFilePdf_w.png"/>
          <p:cNvPicPr>
            <a:picLocks noChangeAspect="1"/>
          </p:cNvPicPr>
          <p:nvPr/>
        </p:nvPicPr>
        <p:blipFill>
          <a:blip r:embed="rId8"/>
          <a:stretch>
            <a:fillRect/>
          </a:stretch>
        </p:blipFill>
        <p:spPr>
          <a:xfrm>
            <a:off x="7762524" y="4845588"/>
            <a:ext cx="275783" cy="275783"/>
          </a:xfrm>
          <a:prstGeom prst="rect">
            <a:avLst/>
          </a:prstGeom>
        </p:spPr>
      </p:pic>
      <p:sp>
        <p:nvSpPr>
          <p:cNvPr id="21" name="TextBox 20"/>
          <p:cNvSpPr txBox="1"/>
          <p:nvPr/>
        </p:nvSpPr>
        <p:spPr>
          <a:xfrm>
            <a:off x="8321040" y="4672584"/>
            <a:ext cx="3474720" cy="640080"/>
          </a:xfrm>
          <a:prstGeom prst="rect">
            <a:avLst/>
          </a:prstGeom>
          <a:noFill/>
        </p:spPr>
        <p:txBody>
          <a:bodyPr wrap="square" anchor="ctr" lIns="36576" rIns="36576" tIns="36576" bIns="36576">
            <a:spAutoFit/>
          </a:bodyPr>
          <a:lstStyle/>
          <a:p>
            <a:pPr algn="l">
              <a:spcAft>
                <a:spcPts val="600"/>
              </a:spcAft>
            </a:pPr>
            <a:r>
              <a:rPr sz="1500" b="0" i="0">
                <a:solidFill>
                  <a:srgbClr val="404040"/>
                </a:solidFill>
              </a:rPr>
              <a:t>PDF reports in English, Sinhala and Tamil</a:t>
            </a:r>
          </a:p>
        </p:txBody>
      </p:sp>
    </p:spTree>
    <p:extLst>
      <p:ext uri="{BB962C8B-B14F-4D97-AF65-F5344CB8AC3E}">
        <p14:creationId xmlns:p14="http://schemas.microsoft.com/office/powerpoint/2010/main" val="493455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252BD9-6226-6371-4257-BC40B4AE3C27}"/>
              </a:ext>
            </a:extLst>
          </p:cNvPr>
          <p:cNvSpPr txBox="1"/>
          <p:nvPr/>
        </p:nvSpPr>
        <p:spPr>
          <a:xfrm>
            <a:off x="330201" y="396352"/>
            <a:ext cx="11521440" cy="584775"/>
          </a:xfrm>
          <a:prstGeom prst="rect">
            <a:avLst/>
          </a:prstGeom>
          <a:noFill/>
        </p:spPr>
        <p:txBody>
          <a:bodyPr wrap="square" rtlCol="0">
            <a:spAutoFit/>
          </a:bodyPr>
          <a:lstStyle/>
          <a:p>
            <a:r>
              <a:rPr lang="en-US" sz="3200" b="1" dirty="0">
                <a:solidFill>
                  <a:schemeClr val="tx2">
                    <a:lumMod val="75000"/>
                  </a:schemeClr>
                </a:solidFill>
              </a:rPr>
              <a:t>Results and Comparative Analysis</a:t>
            </a:r>
          </a:p>
        </p:txBody>
      </p:sp>
      <p:sp>
        <p:nvSpPr>
          <p:cNvPr id="5" name="TextBox 4">
            <a:extLst>
              <a:ext uri="{FF2B5EF4-FFF2-40B4-BE49-F238E27FC236}">
                <a16:creationId xmlns:a16="http://schemas.microsoft.com/office/drawing/2014/main" id="{A1651BCA-DD82-43D0-C5EA-540538A70CB5}"/>
              </a:ext>
            </a:extLst>
          </p:cNvPr>
          <p:cNvSpPr txBox="1"/>
          <p:nvPr/>
        </p:nvSpPr>
        <p:spPr>
          <a:xfrm>
            <a:off x="330201" y="1234553"/>
            <a:ext cx="11521440" cy="400110"/>
          </a:xfrm>
          <a:prstGeom prst="rect">
            <a:avLst/>
          </a:prstGeom>
          <a:noFill/>
        </p:spPr>
        <p:txBody>
          <a:bodyPr wrap="square" rtlCol="0">
            <a:spAutoFit/>
          </a:bodyPr>
          <a:lstStyle/>
          <a:p>
            <a:r>
              <a:rPr lang="en-US" sz="2000" dirty="0" i="1">
                <a:solidFill>
                  <a:srgbClr val="147A77"/>
                </a:solidFill>
                <a:latin typeface="+mj-lt"/>
              </a:rPr>
              <a:t>DenseNet121 led, but the hard problem is bacterial vs. viral</a:t>
            </a:r>
          </a:p>
        </p:txBody>
      </p:sp>
      <p:graphicFrame>
        <p:nvGraphicFramePr>
          <p:cNvPr id="6" name="Chart 5"/>
          <p:cNvGraphicFramePr>
            <a:graphicFrameLocks noGrp="1"/>
          </p:cNvGraphicFramePr>
          <p:nvPr/>
        </p:nvGraphicFramePr>
        <p:xfrm>
          <a:off x="411480" y="1783080"/>
          <a:ext cx="5669280" cy="2286000"/>
        </p:xfrm>
        <a:graphic>
          <a:graphicData uri="http://schemas.openxmlformats.org/drawingml/2006/chart">
            <c:chart xmlns:c="http://schemas.openxmlformats.org/drawingml/2006/chart" r:id="rId3"/>
          </a:graphicData>
        </a:graphic>
      </p:graphicFrame>
      <p:graphicFrame>
        <p:nvGraphicFramePr>
          <p:cNvPr id="7" name="Table 6"/>
          <p:cNvGraphicFramePr>
            <a:graphicFrameLocks noGrp="1"/>
          </p:cNvGraphicFramePr>
          <p:nvPr/>
        </p:nvGraphicFramePr>
        <p:xfrm>
          <a:off x="411480" y="4206240"/>
          <a:ext cx="5669280" cy="1133856"/>
        </p:xfrm>
        <a:graphic>
          <a:graphicData uri="http://schemas.openxmlformats.org/drawingml/2006/table">
            <a:tbl>
              <a:tblPr firstRow="1" bandRow="0">
                <a:tableStyleId>{5C22544A-7EE6-4342-B048-85BDC9FD1C3A}</a:tableStyleId>
              </a:tblPr>
              <a:tblGrid>
                <a:gridCol w="1737360"/>
                <a:gridCol w="2103120"/>
                <a:gridCol w="822960"/>
                <a:gridCol w="1005840"/>
              </a:tblGrid>
              <a:tr h="283464">
                <a:tc>
                  <a:txBody>
                    <a:bodyPr wrap="square"/>
                    <a:lstStyle/>
                    <a:p>
                      <a:r>
                        <a:rPr sz="1300" b="1">
                          <a:solidFill>
                            <a:srgbClr val="FFFFFF"/>
                          </a:solidFill>
                        </a:rPr>
                        <a:t>Model</a:t>
                      </a:r>
                    </a:p>
                  </a:txBody>
                  <a:tcPr marL="54864" marR="54864" marT="27432" marB="27432" anchor="ctr">
                    <a:solidFill>
                      <a:srgbClr val="22A4A0"/>
                    </a:solidFill>
                  </a:tcPr>
                </a:tc>
                <a:tc>
                  <a:txBody>
                    <a:bodyPr wrap="square"/>
                    <a:lstStyle/>
                    <a:p>
                      <a:r>
                        <a:rPr sz="1300" b="1">
                          <a:solidFill>
                            <a:srgbClr val="FFFFFF"/>
                          </a:solidFill>
                        </a:rPr>
                        <a:t>Accuracy % (95% CI)</a:t>
                      </a:r>
                    </a:p>
                  </a:txBody>
                  <a:tcPr marL="54864" marR="54864" marT="27432" marB="27432" anchor="ctr">
                    <a:solidFill>
                      <a:srgbClr val="22A4A0"/>
                    </a:solidFill>
                  </a:tcPr>
                </a:tc>
                <a:tc>
                  <a:txBody>
                    <a:bodyPr wrap="square"/>
                    <a:lstStyle/>
                    <a:p>
                      <a:r>
                        <a:rPr sz="1300" b="1">
                          <a:solidFill>
                            <a:srgbClr val="FFFFFF"/>
                          </a:solidFill>
                        </a:rPr>
                        <a:t>F1</a:t>
                      </a:r>
                    </a:p>
                  </a:txBody>
                  <a:tcPr marL="54864" marR="54864" marT="27432" marB="27432" anchor="ctr">
                    <a:solidFill>
                      <a:srgbClr val="22A4A0"/>
                    </a:solidFill>
                  </a:tcPr>
                </a:tc>
                <a:tc>
                  <a:txBody>
                    <a:bodyPr wrap="square"/>
                    <a:lstStyle/>
                    <a:p>
                      <a:r>
                        <a:rPr sz="1300" b="1">
                          <a:solidFill>
                            <a:srgbClr val="FFFFFF"/>
                          </a:solidFill>
                        </a:rPr>
                        <a:t>AUC</a:t>
                      </a:r>
                    </a:p>
                  </a:txBody>
                  <a:tcPr marL="54864" marR="54864" marT="27432" marB="27432" anchor="ctr">
                    <a:solidFill>
                      <a:srgbClr val="22A4A0"/>
                    </a:solidFill>
                  </a:tcPr>
                </a:tc>
              </a:tr>
              <a:tr h="283464">
                <a:tc>
                  <a:txBody>
                    <a:bodyPr wrap="square"/>
                    <a:lstStyle/>
                    <a:p>
                      <a:r>
                        <a:rPr sz="1300" b="0">
                          <a:solidFill>
                            <a:srgbClr val="404040"/>
                          </a:solidFill>
                        </a:rPr>
                        <a:t>DenseNet121</a:t>
                      </a:r>
                    </a:p>
                  </a:txBody>
                  <a:tcPr marL="54864" marR="54864" marT="27432" marB="27432" anchor="ctr">
                    <a:solidFill>
                      <a:srgbClr val="FFFFFF"/>
                    </a:solidFill>
                  </a:tcPr>
                </a:tc>
                <a:tc>
                  <a:txBody>
                    <a:bodyPr wrap="square"/>
                    <a:lstStyle/>
                    <a:p>
                      <a:r>
                        <a:rPr sz="1300" b="0">
                          <a:solidFill>
                            <a:srgbClr val="404040"/>
                          </a:solidFill>
                        </a:rPr>
                        <a:t>85.31 (83.3–87.1)</a:t>
                      </a:r>
                    </a:p>
                  </a:txBody>
                  <a:tcPr marL="54864" marR="54864" marT="27432" marB="27432" anchor="ctr">
                    <a:solidFill>
                      <a:srgbClr val="FFFFFF"/>
                    </a:solidFill>
                  </a:tcPr>
                </a:tc>
                <a:tc>
                  <a:txBody>
                    <a:bodyPr wrap="square"/>
                    <a:lstStyle/>
                    <a:p>
                      <a:r>
                        <a:rPr sz="1300" b="0">
                          <a:solidFill>
                            <a:srgbClr val="404040"/>
                          </a:solidFill>
                        </a:rPr>
                        <a:t>0.84</a:t>
                      </a:r>
                    </a:p>
                  </a:txBody>
                  <a:tcPr marL="54864" marR="54864" marT="27432" marB="27432" anchor="ctr">
                    <a:solidFill>
                      <a:srgbClr val="FFFFFF"/>
                    </a:solidFill>
                  </a:tcPr>
                </a:tc>
                <a:tc>
                  <a:txBody>
                    <a:bodyPr wrap="square"/>
                    <a:lstStyle/>
                    <a:p>
                      <a:r>
                        <a:rPr sz="1300" b="0">
                          <a:solidFill>
                            <a:srgbClr val="404040"/>
                          </a:solidFill>
                        </a:rPr>
                        <a:t>0.977</a:t>
                      </a:r>
                    </a:p>
                  </a:txBody>
                  <a:tcPr marL="54864" marR="54864" marT="27432" marB="27432" anchor="ctr">
                    <a:solidFill>
                      <a:srgbClr val="FFFFFF"/>
                    </a:solidFill>
                  </a:tcPr>
                </a:tc>
              </a:tr>
              <a:tr h="283464">
                <a:tc>
                  <a:txBody>
                    <a:bodyPr wrap="square"/>
                    <a:lstStyle/>
                    <a:p>
                      <a:r>
                        <a:rPr sz="1300" b="0">
                          <a:solidFill>
                            <a:srgbClr val="404040"/>
                          </a:solidFill>
                        </a:rPr>
                        <a:t>EfficientNetV2B3</a:t>
                      </a:r>
                    </a:p>
                  </a:txBody>
                  <a:tcPr marL="54864" marR="54864" marT="27432" marB="27432" anchor="ctr">
                    <a:solidFill>
                      <a:srgbClr val="E4F4F3"/>
                    </a:solidFill>
                  </a:tcPr>
                </a:tc>
                <a:tc>
                  <a:txBody>
                    <a:bodyPr wrap="square"/>
                    <a:lstStyle/>
                    <a:p>
                      <a:r>
                        <a:rPr sz="1300" b="0">
                          <a:solidFill>
                            <a:srgbClr val="404040"/>
                          </a:solidFill>
                        </a:rPr>
                        <a:t>84.30 (82.3–86.1)</a:t>
                      </a:r>
                    </a:p>
                  </a:txBody>
                  <a:tcPr marL="54864" marR="54864" marT="27432" marB="27432" anchor="ctr">
                    <a:solidFill>
                      <a:srgbClr val="E4F4F3"/>
                    </a:solidFill>
                  </a:tcPr>
                </a:tc>
                <a:tc>
                  <a:txBody>
                    <a:bodyPr wrap="square"/>
                    <a:lstStyle/>
                    <a:p>
                      <a:r>
                        <a:rPr sz="1300" b="0">
                          <a:solidFill>
                            <a:srgbClr val="404040"/>
                          </a:solidFill>
                        </a:rPr>
                        <a:t>0.83</a:t>
                      </a:r>
                    </a:p>
                  </a:txBody>
                  <a:tcPr marL="54864" marR="54864" marT="27432" marB="27432" anchor="ctr">
                    <a:solidFill>
                      <a:srgbClr val="E4F4F3"/>
                    </a:solidFill>
                  </a:tcPr>
                </a:tc>
                <a:tc>
                  <a:txBody>
                    <a:bodyPr wrap="square"/>
                    <a:lstStyle/>
                    <a:p>
                      <a:r>
                        <a:rPr sz="1300" b="0">
                          <a:solidFill>
                            <a:srgbClr val="404040"/>
                          </a:solidFill>
                        </a:rPr>
                        <a:t>0.970</a:t>
                      </a:r>
                    </a:p>
                  </a:txBody>
                  <a:tcPr marL="54864" marR="54864" marT="27432" marB="27432" anchor="ctr">
                    <a:solidFill>
                      <a:srgbClr val="E4F4F3"/>
                    </a:solidFill>
                  </a:tcPr>
                </a:tc>
              </a:tr>
              <a:tr h="283464">
                <a:tc>
                  <a:txBody>
                    <a:bodyPr wrap="square"/>
                    <a:lstStyle/>
                    <a:p>
                      <a:r>
                        <a:rPr sz="1300" b="0">
                          <a:solidFill>
                            <a:srgbClr val="404040"/>
                          </a:solidFill>
                        </a:rPr>
                        <a:t>EfficientNetV2S</a:t>
                      </a:r>
                    </a:p>
                  </a:txBody>
                  <a:tcPr marL="54864" marR="54864" marT="27432" marB="27432" anchor="ctr">
                    <a:solidFill>
                      <a:srgbClr val="FFFFFF"/>
                    </a:solidFill>
                  </a:tcPr>
                </a:tc>
                <a:tc>
                  <a:txBody>
                    <a:bodyPr wrap="square"/>
                    <a:lstStyle/>
                    <a:p>
                      <a:r>
                        <a:rPr sz="1300" b="0">
                          <a:solidFill>
                            <a:srgbClr val="404040"/>
                          </a:solidFill>
                        </a:rPr>
                        <a:t>80.54 (78.4–82.5)</a:t>
                      </a:r>
                    </a:p>
                  </a:txBody>
                  <a:tcPr marL="54864" marR="54864" marT="27432" marB="27432" anchor="ctr">
                    <a:solidFill>
                      <a:srgbClr val="FFFFFF"/>
                    </a:solidFill>
                  </a:tcPr>
                </a:tc>
                <a:tc>
                  <a:txBody>
                    <a:bodyPr wrap="square"/>
                    <a:lstStyle/>
                    <a:p>
                      <a:r>
                        <a:rPr sz="1300" b="0">
                          <a:solidFill>
                            <a:srgbClr val="404040"/>
                          </a:solidFill>
                        </a:rPr>
                        <a:t>0.80</a:t>
                      </a:r>
                    </a:p>
                  </a:txBody>
                  <a:tcPr marL="54864" marR="54864" marT="27432" marB="27432" anchor="ctr">
                    <a:solidFill>
                      <a:srgbClr val="FFFFFF"/>
                    </a:solidFill>
                  </a:tcPr>
                </a:tc>
                <a:tc>
                  <a:txBody>
                    <a:bodyPr wrap="square"/>
                    <a:lstStyle/>
                    <a:p>
                      <a:r>
                        <a:rPr sz="1300" b="0">
                          <a:solidFill>
                            <a:srgbClr val="404040"/>
                          </a:solidFill>
                        </a:rPr>
                        <a:t>0.960</a:t>
                      </a:r>
                    </a:p>
                  </a:txBody>
                  <a:tcPr marL="54864" marR="54864" marT="27432" marB="27432" anchor="ctr">
                    <a:solidFill>
                      <a:srgbClr val="FFFFFF"/>
                    </a:solidFill>
                  </a:tcPr>
                </a:tc>
              </a:tr>
            </a:tbl>
          </a:graphicData>
        </a:graphic>
      </p:graphicFrame>
      <p:sp>
        <p:nvSpPr>
          <p:cNvPr id="8" name="Rounded Rectangle 7"/>
          <p:cNvSpPr/>
          <p:nvPr/>
        </p:nvSpPr>
        <p:spPr>
          <a:xfrm>
            <a:off x="6400800" y="1783080"/>
            <a:ext cx="5349240" cy="1078992"/>
          </a:xfrm>
          <a:prstGeom prst="roundRect">
            <a:avLst>
              <a:gd name="adj" fmla="val 8000"/>
            </a:avLst>
          </a:prstGeom>
          <a:solidFill>
            <a:srgbClr val="E4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783080"/>
            <a:ext cx="2103120" cy="1078992"/>
          </a:xfrm>
          <a:prstGeom prst="rect">
            <a:avLst/>
          </a:prstGeom>
          <a:noFill/>
        </p:spPr>
        <p:txBody>
          <a:bodyPr wrap="square" anchor="ctr" lIns="36576" rIns="36576" tIns="36576" bIns="36576">
            <a:spAutoFit/>
          </a:bodyPr>
          <a:lstStyle/>
          <a:p>
            <a:pPr algn="l">
              <a:spcAft>
                <a:spcPts val="600"/>
              </a:spcAft>
            </a:pPr>
            <a:r>
              <a:rPr sz="2800" b="1" i="0">
                <a:solidFill>
                  <a:srgbClr val="147A77"/>
                </a:solidFill>
              </a:rPr>
              <a:t>0.97–0.99</a:t>
            </a:r>
          </a:p>
        </p:txBody>
      </p:sp>
      <p:sp>
        <p:nvSpPr>
          <p:cNvPr id="10" name="TextBox 9"/>
          <p:cNvSpPr txBox="1"/>
          <p:nvPr/>
        </p:nvSpPr>
        <p:spPr>
          <a:xfrm>
            <a:off x="8641080" y="1783080"/>
            <a:ext cx="3063240" cy="1078992"/>
          </a:xfrm>
          <a:prstGeom prst="rect">
            <a:avLst/>
          </a:prstGeom>
          <a:noFill/>
        </p:spPr>
        <p:txBody>
          <a:bodyPr wrap="square" anchor="ctr" lIns="36576" rIns="36576" tIns="36576" bIns="36576">
            <a:spAutoFit/>
          </a:bodyPr>
          <a:lstStyle/>
          <a:p>
            <a:pPr algn="l">
              <a:spcAft>
                <a:spcPts val="600"/>
              </a:spcAft>
            </a:pPr>
            <a:r>
              <a:rPr sz="1400" b="0" i="0">
                <a:solidFill>
                  <a:srgbClr val="404040"/>
                </a:solidFill>
              </a:rPr>
              <a:t>recall for COVID-19 and Normal in all three models</a:t>
            </a:r>
          </a:p>
        </p:txBody>
      </p:sp>
      <p:sp>
        <p:nvSpPr>
          <p:cNvPr id="11" name="Rounded Rectangle 10"/>
          <p:cNvSpPr/>
          <p:nvPr/>
        </p:nvSpPr>
        <p:spPr>
          <a:xfrm>
            <a:off x="6400800" y="2999232"/>
            <a:ext cx="5349240" cy="1078992"/>
          </a:xfrm>
          <a:prstGeom prst="roundRect">
            <a:avLst>
              <a:gd name="adj" fmla="val 8000"/>
            </a:avLst>
          </a:prstGeom>
          <a:solidFill>
            <a:srgbClr val="FCEC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999232"/>
            <a:ext cx="2103120" cy="1078992"/>
          </a:xfrm>
          <a:prstGeom prst="rect">
            <a:avLst/>
          </a:prstGeom>
          <a:noFill/>
        </p:spPr>
        <p:txBody>
          <a:bodyPr wrap="square" anchor="ctr" lIns="36576" rIns="36576" tIns="36576" bIns="36576">
            <a:spAutoFit/>
          </a:bodyPr>
          <a:lstStyle/>
          <a:p>
            <a:pPr algn="l">
              <a:spcAft>
                <a:spcPts val="600"/>
              </a:spcAft>
            </a:pPr>
            <a:r>
              <a:rPr sz="2800" b="1" i="0">
                <a:solidFill>
                  <a:srgbClr val="DE6C0B"/>
                </a:solidFill>
              </a:rPr>
              <a:t>0.55–0.79</a:t>
            </a:r>
          </a:p>
        </p:txBody>
      </p:sp>
      <p:sp>
        <p:nvSpPr>
          <p:cNvPr id="13" name="TextBox 12"/>
          <p:cNvSpPr txBox="1"/>
          <p:nvPr/>
        </p:nvSpPr>
        <p:spPr>
          <a:xfrm>
            <a:off x="8641080" y="2999232"/>
            <a:ext cx="3063240" cy="1078992"/>
          </a:xfrm>
          <a:prstGeom prst="rect">
            <a:avLst/>
          </a:prstGeom>
          <a:noFill/>
        </p:spPr>
        <p:txBody>
          <a:bodyPr wrap="square" anchor="ctr" lIns="36576" rIns="36576" tIns="36576" bIns="36576">
            <a:spAutoFit/>
          </a:bodyPr>
          <a:lstStyle/>
          <a:p>
            <a:pPr algn="l">
              <a:spcAft>
                <a:spcPts val="600"/>
              </a:spcAft>
            </a:pPr>
            <a:r>
              <a:rPr sz="1400" b="0" i="0">
                <a:solidFill>
                  <a:srgbClr val="404040"/>
                </a:solidFill>
              </a:rPr>
              <a:t>recall for bacterial and viral pneumonia</a:t>
            </a:r>
          </a:p>
        </p:txBody>
      </p:sp>
      <p:sp>
        <p:nvSpPr>
          <p:cNvPr id="14" name="Rounded Rectangle 13"/>
          <p:cNvSpPr/>
          <p:nvPr/>
        </p:nvSpPr>
        <p:spPr>
          <a:xfrm>
            <a:off x="6400800" y="4215384"/>
            <a:ext cx="5349240" cy="1078992"/>
          </a:xfrm>
          <a:prstGeom prst="roundRect">
            <a:avLst>
              <a:gd name="adj" fmla="val 8000"/>
            </a:avLst>
          </a:prstGeom>
          <a:solidFill>
            <a:srgbClr val="FCEC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4215384"/>
            <a:ext cx="2103120" cy="1078992"/>
          </a:xfrm>
          <a:prstGeom prst="rect">
            <a:avLst/>
          </a:prstGeom>
          <a:noFill/>
        </p:spPr>
        <p:txBody>
          <a:bodyPr wrap="square" anchor="ctr" lIns="36576" rIns="36576" tIns="36576" bIns="36576">
            <a:spAutoFit/>
          </a:bodyPr>
          <a:lstStyle/>
          <a:p>
            <a:pPr algn="l">
              <a:spcAft>
                <a:spcPts val="600"/>
              </a:spcAft>
            </a:pPr>
            <a:r>
              <a:rPr sz="2800" b="1" i="0">
                <a:solidFill>
                  <a:srgbClr val="DE6C0B"/>
                </a:solidFill>
              </a:rPr>
              <a:t>76%</a:t>
            </a:r>
          </a:p>
        </p:txBody>
      </p:sp>
      <p:sp>
        <p:nvSpPr>
          <p:cNvPr id="16" name="TextBox 15"/>
          <p:cNvSpPr txBox="1"/>
          <p:nvPr/>
        </p:nvSpPr>
        <p:spPr>
          <a:xfrm>
            <a:off x="8641080" y="4215384"/>
            <a:ext cx="3063240" cy="1078992"/>
          </a:xfrm>
          <a:prstGeom prst="rect">
            <a:avLst/>
          </a:prstGeom>
          <a:noFill/>
        </p:spPr>
        <p:txBody>
          <a:bodyPr wrap="square" anchor="ctr" lIns="36576" rIns="36576" tIns="36576" bIns="36576">
            <a:spAutoFit/>
          </a:bodyPr>
          <a:lstStyle/>
          <a:p>
            <a:pPr algn="l">
              <a:spcAft>
                <a:spcPts val="600"/>
              </a:spcAft>
            </a:pPr>
            <a:r>
              <a:rPr sz="1400" b="0" i="0">
                <a:solidFill>
                  <a:srgbClr val="404040"/>
                </a:solidFill>
              </a:rPr>
              <a:t>of DenseNet121 errors were bacterial ↔ viral confusions (155 of 203)</a:t>
            </a:r>
          </a:p>
        </p:txBody>
      </p:sp>
    </p:spTree>
    <p:extLst>
      <p:ext uri="{BB962C8B-B14F-4D97-AF65-F5344CB8AC3E}">
        <p14:creationId xmlns:p14="http://schemas.microsoft.com/office/powerpoint/2010/main" val="493455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252BD9-6226-6371-4257-BC40B4AE3C27}"/>
              </a:ext>
            </a:extLst>
          </p:cNvPr>
          <p:cNvSpPr txBox="1"/>
          <p:nvPr/>
        </p:nvSpPr>
        <p:spPr>
          <a:xfrm>
            <a:off x="330201" y="396352"/>
            <a:ext cx="11521440" cy="584775"/>
          </a:xfrm>
          <a:prstGeom prst="rect">
            <a:avLst/>
          </a:prstGeom>
          <a:noFill/>
        </p:spPr>
        <p:txBody>
          <a:bodyPr wrap="square" rtlCol="0">
            <a:spAutoFit/>
          </a:bodyPr>
          <a:lstStyle/>
          <a:p>
            <a:r>
              <a:rPr lang="en-US" sz="3200" b="1" dirty="0">
                <a:solidFill>
                  <a:schemeClr val="tx2">
                    <a:lumMod val="75000"/>
                  </a:schemeClr>
                </a:solidFill>
              </a:rPr>
              <a:t>Results: Grad-CAM Outcomes and Comparison</a:t>
            </a:r>
          </a:p>
        </p:txBody>
      </p:sp>
      <p:sp>
        <p:nvSpPr>
          <p:cNvPr id="5" name="TextBox 4">
            <a:extLst>
              <a:ext uri="{FF2B5EF4-FFF2-40B4-BE49-F238E27FC236}">
                <a16:creationId xmlns:a16="http://schemas.microsoft.com/office/drawing/2014/main" id="{A1651BCA-DD82-43D0-C5EA-540538A70CB5}"/>
              </a:ext>
            </a:extLst>
          </p:cNvPr>
          <p:cNvSpPr txBox="1"/>
          <p:nvPr/>
        </p:nvSpPr>
        <p:spPr>
          <a:xfrm>
            <a:off x="330201" y="1234553"/>
            <a:ext cx="11521440" cy="400110"/>
          </a:xfrm>
          <a:prstGeom prst="rect">
            <a:avLst/>
          </a:prstGeom>
          <a:noFill/>
        </p:spPr>
        <p:txBody>
          <a:bodyPr wrap="square" rtlCol="0">
            <a:spAutoFit/>
          </a:bodyPr>
          <a:lstStyle/>
          <a:p>
            <a:r>
              <a:rPr lang="en-US" sz="2000" dirty="0" i="1">
                <a:solidFill>
                  <a:srgbClr val="147A77"/>
                </a:solidFill>
                <a:latin typeface="+mj-lt"/>
              </a:rPr>
              <a:t>Explanations measured, not only shown; results placed beside earlier methods</a:t>
            </a:r>
          </a:p>
        </p:txBody>
      </p:sp>
      <p:sp>
        <p:nvSpPr>
          <p:cNvPr id="6" name="TextBox 5"/>
          <p:cNvSpPr txBox="1"/>
          <p:nvPr/>
        </p:nvSpPr>
        <p:spPr>
          <a:xfrm>
            <a:off x="411480" y="1783080"/>
            <a:ext cx="5394960" cy="365760"/>
          </a:xfrm>
          <a:prstGeom prst="rect">
            <a:avLst/>
          </a:prstGeom>
          <a:noFill/>
        </p:spPr>
        <p:txBody>
          <a:bodyPr wrap="square" anchor="t" lIns="36576" rIns="36576" tIns="36576" bIns="36576">
            <a:spAutoFit/>
          </a:bodyPr>
          <a:lstStyle/>
          <a:p>
            <a:pPr algn="l">
              <a:spcAft>
                <a:spcPts val="600"/>
              </a:spcAft>
            </a:pPr>
            <a:r>
              <a:rPr sz="1800" b="1" i="0">
                <a:solidFill>
                  <a:srgbClr val="17375E"/>
                </a:solidFill>
              </a:rPr>
              <a:t>Grad-CAM outcomes (deployed system)</a:t>
            </a:r>
          </a:p>
        </p:txBody>
      </p:sp>
      <p:sp>
        <p:nvSpPr>
          <p:cNvPr id="7" name="Rounded Rectangle 6"/>
          <p:cNvSpPr/>
          <p:nvPr/>
        </p:nvSpPr>
        <p:spPr>
          <a:xfrm>
            <a:off x="411480" y="2240280"/>
            <a:ext cx="5394960" cy="676656"/>
          </a:xfrm>
          <a:prstGeom prst="roundRect">
            <a:avLst>
              <a:gd name="adj" fmla="val 8000"/>
            </a:avLst>
          </a:prstGeom>
          <a:solidFill>
            <a:srgbClr val="E4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240280"/>
            <a:ext cx="1463040" cy="676656"/>
          </a:xfrm>
          <a:prstGeom prst="rect">
            <a:avLst/>
          </a:prstGeom>
          <a:noFill/>
        </p:spPr>
        <p:txBody>
          <a:bodyPr wrap="square" anchor="ctr" lIns="36576" rIns="36576" tIns="36576" bIns="36576">
            <a:spAutoFit/>
          </a:bodyPr>
          <a:lstStyle/>
          <a:p>
            <a:pPr algn="l">
              <a:spcAft>
                <a:spcPts val="600"/>
              </a:spcAft>
            </a:pPr>
            <a:r>
              <a:rPr sz="2200" b="1" i="0">
                <a:solidFill>
                  <a:srgbClr val="147A77"/>
                </a:solidFill>
              </a:rPr>
              <a:t>467×</a:t>
            </a:r>
          </a:p>
        </p:txBody>
      </p:sp>
      <p:sp>
        <p:nvSpPr>
          <p:cNvPr id="9" name="TextBox 8"/>
          <p:cNvSpPr txBox="1"/>
          <p:nvPr/>
        </p:nvSpPr>
        <p:spPr>
          <a:xfrm>
            <a:off x="1965960" y="2240280"/>
            <a:ext cx="3794760" cy="676656"/>
          </a:xfrm>
          <a:prstGeom prst="rect">
            <a:avLst/>
          </a:prstGeom>
          <a:noFill/>
        </p:spPr>
        <p:txBody>
          <a:bodyPr wrap="square" anchor="ctr" lIns="36576" rIns="36576" tIns="36576" bIns="36576">
            <a:spAutoFit/>
          </a:bodyPr>
          <a:lstStyle/>
          <a:p>
            <a:pPr algn="l">
              <a:spcAft>
                <a:spcPts val="600"/>
              </a:spcAft>
            </a:pPr>
            <a:r>
              <a:rPr sz="1400" b="0" i="0">
                <a:solidFill>
                  <a:srgbClr val="404040"/>
                </a:solidFill>
              </a:rPr>
              <a:t>smaller gradient with softmax than with logits, so logits are used</a:t>
            </a:r>
          </a:p>
        </p:txBody>
      </p:sp>
      <p:sp>
        <p:nvSpPr>
          <p:cNvPr id="10" name="Rounded Rectangle 9"/>
          <p:cNvSpPr/>
          <p:nvPr/>
        </p:nvSpPr>
        <p:spPr>
          <a:xfrm>
            <a:off x="411480" y="3017520"/>
            <a:ext cx="5394960" cy="676656"/>
          </a:xfrm>
          <a:prstGeom prst="roundRect">
            <a:avLst>
              <a:gd name="adj" fmla="val 8000"/>
            </a:avLst>
          </a:prstGeom>
          <a:solidFill>
            <a:srgbClr val="E4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3017520"/>
            <a:ext cx="1463040" cy="676656"/>
          </a:xfrm>
          <a:prstGeom prst="rect">
            <a:avLst/>
          </a:prstGeom>
          <a:noFill/>
        </p:spPr>
        <p:txBody>
          <a:bodyPr wrap="square" anchor="ctr" lIns="36576" rIns="36576" tIns="36576" bIns="36576">
            <a:spAutoFit/>
          </a:bodyPr>
          <a:lstStyle/>
          <a:p>
            <a:pPr algn="l">
              <a:spcAft>
                <a:spcPts val="600"/>
              </a:spcAft>
            </a:pPr>
            <a:r>
              <a:rPr sz="2200" b="1" i="0">
                <a:solidFill>
                  <a:srgbClr val="147A77"/>
                </a:solidFill>
              </a:rPr>
              <a:t>19%</a:t>
            </a:r>
          </a:p>
        </p:txBody>
      </p:sp>
      <p:sp>
        <p:nvSpPr>
          <p:cNvPr id="12" name="TextBox 11"/>
          <p:cNvSpPr txBox="1"/>
          <p:nvPr/>
        </p:nvSpPr>
        <p:spPr>
          <a:xfrm>
            <a:off x="1965960" y="3017520"/>
            <a:ext cx="3794760" cy="676656"/>
          </a:xfrm>
          <a:prstGeom prst="rect">
            <a:avLst/>
          </a:prstGeom>
          <a:noFill/>
        </p:spPr>
        <p:txBody>
          <a:bodyPr wrap="square" anchor="ctr" lIns="36576" rIns="36576" tIns="36576" bIns="36576">
            <a:spAutoFit/>
          </a:bodyPr>
          <a:lstStyle/>
          <a:p>
            <a:pPr algn="l">
              <a:spcAft>
                <a:spcPts val="600"/>
              </a:spcAft>
            </a:pPr>
            <a:r>
              <a:rPr sz="1400" b="0" i="0">
                <a:solidFill>
                  <a:srgbClr val="404040"/>
                </a:solidFill>
              </a:rPr>
              <a:t>of attention was inside the lungs on a confident Normal case, so a caution was shown</a:t>
            </a:r>
          </a:p>
        </p:txBody>
      </p:sp>
      <p:sp>
        <p:nvSpPr>
          <p:cNvPr id="13" name="Rounded Rectangle 12"/>
          <p:cNvSpPr/>
          <p:nvPr/>
        </p:nvSpPr>
        <p:spPr>
          <a:xfrm>
            <a:off x="411480" y="3794760"/>
            <a:ext cx="5394960" cy="676656"/>
          </a:xfrm>
          <a:prstGeom prst="roundRect">
            <a:avLst>
              <a:gd name="adj" fmla="val 8000"/>
            </a:avLst>
          </a:prstGeom>
          <a:solidFill>
            <a:srgbClr val="E4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794760"/>
            <a:ext cx="1463040" cy="676656"/>
          </a:xfrm>
          <a:prstGeom prst="rect">
            <a:avLst/>
          </a:prstGeom>
          <a:noFill/>
        </p:spPr>
        <p:txBody>
          <a:bodyPr wrap="square" anchor="ctr" lIns="36576" rIns="36576" tIns="36576" bIns="36576">
            <a:spAutoFit/>
          </a:bodyPr>
          <a:lstStyle/>
          <a:p>
            <a:pPr algn="l">
              <a:spcAft>
                <a:spcPts val="600"/>
              </a:spcAft>
            </a:pPr>
            <a:r>
              <a:rPr sz="2200" b="1" i="0">
                <a:solidFill>
                  <a:srgbClr val="147A77"/>
                </a:solidFill>
              </a:rPr>
              <a:t>r = 0.30</a:t>
            </a:r>
          </a:p>
        </p:txBody>
      </p:sp>
      <p:sp>
        <p:nvSpPr>
          <p:cNvPr id="15" name="TextBox 14"/>
          <p:cNvSpPr txBox="1"/>
          <p:nvPr/>
        </p:nvSpPr>
        <p:spPr>
          <a:xfrm>
            <a:off x="1965960" y="3794760"/>
            <a:ext cx="3794760" cy="676656"/>
          </a:xfrm>
          <a:prstGeom prst="rect">
            <a:avLst/>
          </a:prstGeom>
          <a:noFill/>
        </p:spPr>
        <p:txBody>
          <a:bodyPr wrap="square" anchor="ctr" lIns="36576" rIns="36576" tIns="36576" bIns="36576">
            <a:spAutoFit/>
          </a:bodyPr>
          <a:lstStyle/>
          <a:p>
            <a:pPr algn="l">
              <a:spcAft>
                <a:spcPts val="600"/>
              </a:spcAft>
            </a:pPr>
            <a:r>
              <a:rPr sz="1400" b="0" i="0">
                <a:solidFill>
                  <a:srgbClr val="404040"/>
                </a:solidFill>
              </a:rPr>
              <a:t>weak agreement with occlusion tests inside the lungs</a:t>
            </a:r>
          </a:p>
        </p:txBody>
      </p:sp>
      <p:sp>
        <p:nvSpPr>
          <p:cNvPr id="16" name="Rounded Rectangle 15"/>
          <p:cNvSpPr/>
          <p:nvPr/>
        </p:nvSpPr>
        <p:spPr>
          <a:xfrm>
            <a:off x="411480" y="4572000"/>
            <a:ext cx="5394960" cy="676656"/>
          </a:xfrm>
          <a:prstGeom prst="roundRect">
            <a:avLst>
              <a:gd name="adj" fmla="val 8000"/>
            </a:avLst>
          </a:prstGeom>
          <a:solidFill>
            <a:srgbClr val="E4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4572000"/>
            <a:ext cx="1463040" cy="676656"/>
          </a:xfrm>
          <a:prstGeom prst="rect">
            <a:avLst/>
          </a:prstGeom>
          <a:noFill/>
        </p:spPr>
        <p:txBody>
          <a:bodyPr wrap="square" anchor="ctr" lIns="36576" rIns="36576" tIns="36576" bIns="36576">
            <a:spAutoFit/>
          </a:bodyPr>
          <a:lstStyle/>
          <a:p>
            <a:pPr algn="l">
              <a:spcAft>
                <a:spcPts val="600"/>
              </a:spcAft>
            </a:pPr>
            <a:r>
              <a:rPr sz="2200" b="1" i="0">
                <a:solidFill>
                  <a:srgbClr val="147A77"/>
                </a:solidFill>
              </a:rPr>
              <a:t>12 / 13</a:t>
            </a:r>
          </a:p>
        </p:txBody>
      </p:sp>
      <p:sp>
        <p:nvSpPr>
          <p:cNvPr id="18" name="TextBox 17"/>
          <p:cNvSpPr txBox="1"/>
          <p:nvPr/>
        </p:nvSpPr>
        <p:spPr>
          <a:xfrm>
            <a:off x="1965960" y="4572000"/>
            <a:ext cx="3794760" cy="676656"/>
          </a:xfrm>
          <a:prstGeom prst="rect">
            <a:avLst/>
          </a:prstGeom>
          <a:noFill/>
        </p:spPr>
        <p:txBody>
          <a:bodyPr wrap="square" anchor="ctr" lIns="36576" rIns="36576" tIns="36576" bIns="36576">
            <a:spAutoFit/>
          </a:bodyPr>
          <a:lstStyle/>
          <a:p>
            <a:pPr algn="l">
              <a:spcAft>
                <a:spcPts val="600"/>
              </a:spcAft>
            </a:pPr>
            <a:r>
              <a:rPr sz="1400" b="0" i="0">
                <a:solidFill>
                  <a:srgbClr val="404040"/>
                </a:solidFill>
              </a:rPr>
              <a:t>test X-rays with lungs found by the U-Net; none for noise or a logo</a:t>
            </a:r>
          </a:p>
        </p:txBody>
      </p:sp>
      <p:sp>
        <p:nvSpPr>
          <p:cNvPr id="19" name="TextBox 18"/>
          <p:cNvSpPr txBox="1"/>
          <p:nvPr/>
        </p:nvSpPr>
        <p:spPr>
          <a:xfrm>
            <a:off x="6172200" y="1783080"/>
            <a:ext cx="5577840" cy="365760"/>
          </a:xfrm>
          <a:prstGeom prst="rect">
            <a:avLst/>
          </a:prstGeom>
          <a:noFill/>
        </p:spPr>
        <p:txBody>
          <a:bodyPr wrap="square" anchor="t" lIns="36576" rIns="36576" tIns="36576" bIns="36576">
            <a:spAutoFit/>
          </a:bodyPr>
          <a:lstStyle/>
          <a:p>
            <a:pPr algn="l">
              <a:spcAft>
                <a:spcPts val="600"/>
              </a:spcAft>
            </a:pPr>
            <a:r>
              <a:rPr sz="1800" b="1" i="0">
                <a:solidFill>
                  <a:srgbClr val="17375E"/>
                </a:solidFill>
              </a:rPr>
              <a:t>Comparison with reported methods</a:t>
            </a:r>
          </a:p>
        </p:txBody>
      </p:sp>
      <p:graphicFrame>
        <p:nvGraphicFramePr>
          <p:cNvPr id="20" name="Table 19"/>
          <p:cNvGraphicFramePr>
            <a:graphicFrameLocks noGrp="1"/>
          </p:cNvGraphicFramePr>
          <p:nvPr/>
        </p:nvGraphicFramePr>
        <p:xfrm>
          <a:off x="6172200" y="2240280"/>
          <a:ext cx="5577839" cy="2560320"/>
        </p:xfrm>
        <a:graphic>
          <a:graphicData uri="http://schemas.openxmlformats.org/drawingml/2006/table">
            <a:tbl>
              <a:tblPr firstRow="1" bandRow="0">
                <a:tableStyleId>{5C22544A-7EE6-4342-B048-85BDC9FD1C3A}</a:tableStyleId>
              </a:tblPr>
              <a:tblGrid>
                <a:gridCol w="1874519"/>
                <a:gridCol w="1325880"/>
                <a:gridCol w="868680"/>
                <a:gridCol w="1508760"/>
              </a:tblGrid>
              <a:tr h="365760">
                <a:tc>
                  <a:txBody>
                    <a:bodyPr wrap="square"/>
                    <a:lstStyle/>
                    <a:p>
                      <a:r>
                        <a:rPr sz="1300" b="1">
                          <a:solidFill>
                            <a:srgbClr val="FFFFFF"/>
                          </a:solidFill>
                        </a:rPr>
                        <a:t>Study</a:t>
                      </a:r>
                    </a:p>
                  </a:txBody>
                  <a:tcPr marL="54864" marR="54864" marT="27432" marB="27432" anchor="ctr">
                    <a:solidFill>
                      <a:srgbClr val="22A4A0"/>
                    </a:solidFill>
                  </a:tcPr>
                </a:tc>
                <a:tc>
                  <a:txBody>
                    <a:bodyPr wrap="square"/>
                    <a:lstStyle/>
                    <a:p>
                      <a:r>
                        <a:rPr sz="1300" b="1">
                          <a:solidFill>
                            <a:srgbClr val="FFFFFF"/>
                          </a:solidFill>
                        </a:rPr>
                        <a:t>Model</a:t>
                      </a:r>
                    </a:p>
                  </a:txBody>
                  <a:tcPr marL="54864" marR="54864" marT="27432" marB="27432" anchor="ctr">
                    <a:solidFill>
                      <a:srgbClr val="22A4A0"/>
                    </a:solidFill>
                  </a:tcPr>
                </a:tc>
                <a:tc>
                  <a:txBody>
                    <a:bodyPr wrap="square"/>
                    <a:lstStyle/>
                    <a:p>
                      <a:r>
                        <a:rPr sz="1300" b="1">
                          <a:solidFill>
                            <a:srgbClr val="FFFFFF"/>
                          </a:solidFill>
                        </a:rPr>
                        <a:t>Classes</a:t>
                      </a:r>
                    </a:p>
                  </a:txBody>
                  <a:tcPr marL="54864" marR="54864" marT="27432" marB="27432" anchor="ctr">
                    <a:solidFill>
                      <a:srgbClr val="22A4A0"/>
                    </a:solidFill>
                  </a:tcPr>
                </a:tc>
                <a:tc>
                  <a:txBody>
                    <a:bodyPr wrap="square"/>
                    <a:lstStyle/>
                    <a:p>
                      <a:r>
                        <a:rPr sz="1300" b="1">
                          <a:solidFill>
                            <a:srgbClr val="FFFFFF"/>
                          </a:solidFill>
                        </a:rPr>
                        <a:t>Reported</a:t>
                      </a:r>
                    </a:p>
                  </a:txBody>
                  <a:tcPr marL="54864" marR="54864" marT="27432" marB="27432" anchor="ctr">
                    <a:solidFill>
                      <a:srgbClr val="22A4A0"/>
                    </a:solidFill>
                  </a:tcPr>
                </a:tc>
              </a:tr>
              <a:tr h="365760">
                <a:tc>
                  <a:txBody>
                    <a:bodyPr wrap="square"/>
                    <a:lstStyle/>
                    <a:p>
                      <a:r>
                        <a:rPr sz="1300" b="0">
                          <a:solidFill>
                            <a:srgbClr val="404040"/>
                          </a:solidFill>
                        </a:rPr>
                        <a:t>Rajpurkar et al. [7]</a:t>
                      </a:r>
                    </a:p>
                  </a:txBody>
                  <a:tcPr marL="54864" marR="54864" marT="27432" marB="27432" anchor="ctr">
                    <a:solidFill>
                      <a:srgbClr val="FFFFFF"/>
                    </a:solidFill>
                  </a:tcPr>
                </a:tc>
                <a:tc>
                  <a:txBody>
                    <a:bodyPr wrap="square"/>
                    <a:lstStyle/>
                    <a:p>
                      <a:r>
                        <a:rPr sz="1300" b="0">
                          <a:solidFill>
                            <a:srgbClr val="404040"/>
                          </a:solidFill>
                        </a:rPr>
                        <a:t>DenseNet121</a:t>
                      </a:r>
                    </a:p>
                  </a:txBody>
                  <a:tcPr marL="54864" marR="54864" marT="27432" marB="27432" anchor="ctr">
                    <a:solidFill>
                      <a:srgbClr val="FFFFFF"/>
                    </a:solidFill>
                  </a:tcPr>
                </a:tc>
                <a:tc>
                  <a:txBody>
                    <a:bodyPr wrap="square"/>
                    <a:lstStyle/>
                    <a:p>
                      <a:r>
                        <a:rPr sz="1300" b="0">
                          <a:solidFill>
                            <a:srgbClr val="404040"/>
                          </a:solidFill>
                        </a:rPr>
                        <a:t>2</a:t>
                      </a:r>
                    </a:p>
                  </a:txBody>
                  <a:tcPr marL="54864" marR="54864" marT="27432" marB="27432" anchor="ctr">
                    <a:solidFill>
                      <a:srgbClr val="FFFFFF"/>
                    </a:solidFill>
                  </a:tcPr>
                </a:tc>
                <a:tc>
                  <a:txBody>
                    <a:bodyPr wrap="square"/>
                    <a:lstStyle/>
                    <a:p>
                      <a:r>
                        <a:rPr sz="1300" b="0">
                          <a:solidFill>
                            <a:srgbClr val="404040"/>
                          </a:solidFill>
                        </a:rPr>
                        <a:t>F1 0.435</a:t>
                      </a:r>
                    </a:p>
                  </a:txBody>
                  <a:tcPr marL="54864" marR="54864" marT="27432" marB="27432" anchor="ctr">
                    <a:solidFill>
                      <a:srgbClr val="FFFFFF"/>
                    </a:solidFill>
                  </a:tcPr>
                </a:tc>
              </a:tr>
              <a:tr h="365760">
                <a:tc>
                  <a:txBody>
                    <a:bodyPr wrap="square"/>
                    <a:lstStyle/>
                    <a:p>
                      <a:r>
                        <a:rPr sz="1300" b="0">
                          <a:solidFill>
                            <a:srgbClr val="404040"/>
                          </a:solidFill>
                        </a:rPr>
                        <a:t>Apostolopoulos [8]</a:t>
                      </a:r>
                    </a:p>
                  </a:txBody>
                  <a:tcPr marL="54864" marR="54864" marT="27432" marB="27432" anchor="ctr">
                    <a:solidFill>
                      <a:srgbClr val="E4F4F3"/>
                    </a:solidFill>
                  </a:tcPr>
                </a:tc>
                <a:tc>
                  <a:txBody>
                    <a:bodyPr wrap="square"/>
                    <a:lstStyle/>
                    <a:p>
                      <a:r>
                        <a:rPr sz="1300" b="0">
                          <a:solidFill>
                            <a:srgbClr val="404040"/>
                          </a:solidFill>
                        </a:rPr>
                        <a:t>VGG19</a:t>
                      </a:r>
                    </a:p>
                  </a:txBody>
                  <a:tcPr marL="54864" marR="54864" marT="27432" marB="27432" anchor="ctr">
                    <a:solidFill>
                      <a:srgbClr val="E4F4F3"/>
                    </a:solidFill>
                  </a:tcPr>
                </a:tc>
                <a:tc>
                  <a:txBody>
                    <a:bodyPr wrap="square"/>
                    <a:lstStyle/>
                    <a:p>
                      <a:r>
                        <a:rPr sz="1300" b="0">
                          <a:solidFill>
                            <a:srgbClr val="404040"/>
                          </a:solidFill>
                        </a:rPr>
                        <a:t>3</a:t>
                      </a:r>
                    </a:p>
                  </a:txBody>
                  <a:tcPr marL="54864" marR="54864" marT="27432" marB="27432" anchor="ctr">
                    <a:solidFill>
                      <a:srgbClr val="E4F4F3"/>
                    </a:solidFill>
                  </a:tcPr>
                </a:tc>
                <a:tc>
                  <a:txBody>
                    <a:bodyPr wrap="square"/>
                    <a:lstStyle/>
                    <a:p>
                      <a:r>
                        <a:rPr sz="1300" b="0">
                          <a:solidFill>
                            <a:srgbClr val="404040"/>
                          </a:solidFill>
                        </a:rPr>
                        <a:t>Acc. 93.48%</a:t>
                      </a:r>
                    </a:p>
                  </a:txBody>
                  <a:tcPr marL="54864" marR="54864" marT="27432" marB="27432" anchor="ctr">
                    <a:solidFill>
                      <a:srgbClr val="E4F4F3"/>
                    </a:solidFill>
                  </a:tcPr>
                </a:tc>
              </a:tr>
              <a:tr h="365760">
                <a:tc>
                  <a:txBody>
                    <a:bodyPr wrap="square"/>
                    <a:lstStyle/>
                    <a:p>
                      <a:r>
                        <a:rPr sz="1300" b="0">
                          <a:solidFill>
                            <a:srgbClr val="404040"/>
                          </a:solidFill>
                        </a:rPr>
                        <a:t>Ozturk et al. [9]</a:t>
                      </a:r>
                    </a:p>
                  </a:txBody>
                  <a:tcPr marL="54864" marR="54864" marT="27432" marB="27432" anchor="ctr">
                    <a:solidFill>
                      <a:srgbClr val="FFFFFF"/>
                    </a:solidFill>
                  </a:tcPr>
                </a:tc>
                <a:tc>
                  <a:txBody>
                    <a:bodyPr wrap="square"/>
                    <a:lstStyle/>
                    <a:p>
                      <a:r>
                        <a:rPr sz="1300" b="0">
                          <a:solidFill>
                            <a:srgbClr val="404040"/>
                          </a:solidFill>
                        </a:rPr>
                        <a:t>DarkCovidNet</a:t>
                      </a:r>
                    </a:p>
                  </a:txBody>
                  <a:tcPr marL="54864" marR="54864" marT="27432" marB="27432" anchor="ctr">
                    <a:solidFill>
                      <a:srgbClr val="FFFFFF"/>
                    </a:solidFill>
                  </a:tcPr>
                </a:tc>
                <a:tc>
                  <a:txBody>
                    <a:bodyPr wrap="square"/>
                    <a:lstStyle/>
                    <a:p>
                      <a:r>
                        <a:rPr sz="1300" b="0">
                          <a:solidFill>
                            <a:srgbClr val="404040"/>
                          </a:solidFill>
                        </a:rPr>
                        <a:t>3</a:t>
                      </a:r>
                    </a:p>
                  </a:txBody>
                  <a:tcPr marL="54864" marR="54864" marT="27432" marB="27432" anchor="ctr">
                    <a:solidFill>
                      <a:srgbClr val="FFFFFF"/>
                    </a:solidFill>
                  </a:tcPr>
                </a:tc>
                <a:tc>
                  <a:txBody>
                    <a:bodyPr wrap="square"/>
                    <a:lstStyle/>
                    <a:p>
                      <a:r>
                        <a:rPr sz="1300" b="0">
                          <a:solidFill>
                            <a:srgbClr val="404040"/>
                          </a:solidFill>
                        </a:rPr>
                        <a:t>Acc. 87.02%</a:t>
                      </a:r>
                    </a:p>
                  </a:txBody>
                  <a:tcPr marL="54864" marR="54864" marT="27432" marB="27432" anchor="ctr">
                    <a:solidFill>
                      <a:srgbClr val="FFFFFF"/>
                    </a:solidFill>
                  </a:tcPr>
                </a:tc>
              </a:tr>
              <a:tr h="365760">
                <a:tc>
                  <a:txBody>
                    <a:bodyPr wrap="square"/>
                    <a:lstStyle/>
                    <a:p>
                      <a:r>
                        <a:rPr sz="1300" b="0">
                          <a:solidFill>
                            <a:srgbClr val="404040"/>
                          </a:solidFill>
                        </a:rPr>
                        <a:t>Narin et al. [10]</a:t>
                      </a:r>
                    </a:p>
                  </a:txBody>
                  <a:tcPr marL="54864" marR="54864" marT="27432" marB="27432" anchor="ctr">
                    <a:solidFill>
                      <a:srgbClr val="E4F4F3"/>
                    </a:solidFill>
                  </a:tcPr>
                </a:tc>
                <a:tc>
                  <a:txBody>
                    <a:bodyPr wrap="square"/>
                    <a:lstStyle/>
                    <a:p>
                      <a:r>
                        <a:rPr sz="1300" b="0">
                          <a:solidFill>
                            <a:srgbClr val="404040"/>
                          </a:solidFill>
                        </a:rPr>
                        <a:t>ResNet50</a:t>
                      </a:r>
                    </a:p>
                  </a:txBody>
                  <a:tcPr marL="54864" marR="54864" marT="27432" marB="27432" anchor="ctr">
                    <a:solidFill>
                      <a:srgbClr val="E4F4F3"/>
                    </a:solidFill>
                  </a:tcPr>
                </a:tc>
                <a:tc>
                  <a:txBody>
                    <a:bodyPr wrap="square"/>
                    <a:lstStyle/>
                    <a:p>
                      <a:r>
                        <a:rPr sz="1300" b="0">
                          <a:solidFill>
                            <a:srgbClr val="404040"/>
                          </a:solidFill>
                        </a:rPr>
                        <a:t>2</a:t>
                      </a:r>
                    </a:p>
                  </a:txBody>
                  <a:tcPr marL="54864" marR="54864" marT="27432" marB="27432" anchor="ctr">
                    <a:solidFill>
                      <a:srgbClr val="E4F4F3"/>
                    </a:solidFill>
                  </a:tcPr>
                </a:tc>
                <a:tc>
                  <a:txBody>
                    <a:bodyPr wrap="square"/>
                    <a:lstStyle/>
                    <a:p>
                      <a:r>
                        <a:rPr sz="1300" b="0">
                          <a:solidFill>
                            <a:srgbClr val="404040"/>
                          </a:solidFill>
                        </a:rPr>
                        <a:t>Acc. 96.1%</a:t>
                      </a:r>
                    </a:p>
                  </a:txBody>
                  <a:tcPr marL="54864" marR="54864" marT="27432" marB="27432" anchor="ctr">
                    <a:solidFill>
                      <a:srgbClr val="E4F4F3"/>
                    </a:solidFill>
                  </a:tcPr>
                </a:tc>
              </a:tr>
              <a:tr h="365760">
                <a:tc>
                  <a:txBody>
                    <a:bodyPr wrap="square"/>
                    <a:lstStyle/>
                    <a:p>
                      <a:r>
                        <a:rPr sz="1300" b="0">
                          <a:solidFill>
                            <a:srgbClr val="404040"/>
                          </a:solidFill>
                        </a:rPr>
                        <a:t>Chowdhury et al. [6]</a:t>
                      </a:r>
                    </a:p>
                  </a:txBody>
                  <a:tcPr marL="54864" marR="54864" marT="27432" marB="27432" anchor="ctr">
                    <a:solidFill>
                      <a:srgbClr val="FFFFFF"/>
                    </a:solidFill>
                  </a:tcPr>
                </a:tc>
                <a:tc>
                  <a:txBody>
                    <a:bodyPr wrap="square"/>
                    <a:lstStyle/>
                    <a:p>
                      <a:r>
                        <a:rPr sz="1300" b="0">
                          <a:solidFill>
                            <a:srgbClr val="404040"/>
                          </a:solidFill>
                        </a:rPr>
                        <a:t>DenseNet201</a:t>
                      </a:r>
                    </a:p>
                  </a:txBody>
                  <a:tcPr marL="54864" marR="54864" marT="27432" marB="27432" anchor="ctr">
                    <a:solidFill>
                      <a:srgbClr val="FFFFFF"/>
                    </a:solidFill>
                  </a:tcPr>
                </a:tc>
                <a:tc>
                  <a:txBody>
                    <a:bodyPr wrap="square"/>
                    <a:lstStyle/>
                    <a:p>
                      <a:r>
                        <a:rPr sz="1300" b="0">
                          <a:solidFill>
                            <a:srgbClr val="404040"/>
                          </a:solidFill>
                        </a:rPr>
                        <a:t>3</a:t>
                      </a:r>
                    </a:p>
                  </a:txBody>
                  <a:tcPr marL="54864" marR="54864" marT="27432" marB="27432" anchor="ctr">
                    <a:solidFill>
                      <a:srgbClr val="FFFFFF"/>
                    </a:solidFill>
                  </a:tcPr>
                </a:tc>
                <a:tc>
                  <a:txBody>
                    <a:bodyPr wrap="square"/>
                    <a:lstStyle/>
                    <a:p>
                      <a:r>
                        <a:rPr sz="1300" b="0">
                          <a:solidFill>
                            <a:srgbClr val="404040"/>
                          </a:solidFill>
                        </a:rPr>
                        <a:t>Acc. 97.9%</a:t>
                      </a:r>
                    </a:p>
                  </a:txBody>
                  <a:tcPr marL="54864" marR="54864" marT="27432" marB="27432" anchor="ctr">
                    <a:solidFill>
                      <a:srgbClr val="FFFFFF"/>
                    </a:solidFill>
                  </a:tcPr>
                </a:tc>
              </a:tr>
              <a:tr h="365760">
                <a:tc>
                  <a:txBody>
                    <a:bodyPr wrap="square"/>
                    <a:lstStyle/>
                    <a:p>
                      <a:r>
                        <a:rPr sz="1300" b="1">
                          <a:solidFill>
                            <a:srgbClr val="404040"/>
                          </a:solidFill>
                        </a:rPr>
                        <a:t>This work</a:t>
                      </a:r>
                    </a:p>
                  </a:txBody>
                  <a:tcPr marL="54864" marR="54864" marT="27432" marB="27432" anchor="ctr">
                    <a:solidFill>
                      <a:srgbClr val="FCECDE"/>
                    </a:solidFill>
                  </a:tcPr>
                </a:tc>
                <a:tc>
                  <a:txBody>
                    <a:bodyPr wrap="square"/>
                    <a:lstStyle/>
                    <a:p>
                      <a:r>
                        <a:rPr sz="1300" b="1">
                          <a:solidFill>
                            <a:srgbClr val="404040"/>
                          </a:solidFill>
                        </a:rPr>
                        <a:t>DenseNet121</a:t>
                      </a:r>
                    </a:p>
                  </a:txBody>
                  <a:tcPr marL="54864" marR="54864" marT="27432" marB="27432" anchor="ctr">
                    <a:solidFill>
                      <a:srgbClr val="FCECDE"/>
                    </a:solidFill>
                  </a:tcPr>
                </a:tc>
                <a:tc>
                  <a:txBody>
                    <a:bodyPr wrap="square"/>
                    <a:lstStyle/>
                    <a:p>
                      <a:r>
                        <a:rPr sz="1300" b="1">
                          <a:solidFill>
                            <a:srgbClr val="404040"/>
                          </a:solidFill>
                        </a:rPr>
                        <a:t>4</a:t>
                      </a:r>
                    </a:p>
                  </a:txBody>
                  <a:tcPr marL="54864" marR="54864" marT="27432" marB="27432" anchor="ctr">
                    <a:solidFill>
                      <a:srgbClr val="FCECDE"/>
                    </a:solidFill>
                  </a:tcPr>
                </a:tc>
                <a:tc>
                  <a:txBody>
                    <a:bodyPr wrap="square"/>
                    <a:lstStyle/>
                    <a:p>
                      <a:r>
                        <a:rPr sz="1300" b="1">
                          <a:solidFill>
                            <a:srgbClr val="404040"/>
                          </a:solidFill>
                        </a:rPr>
                        <a:t>Acc. 85.31%</a:t>
                      </a:r>
                    </a:p>
                  </a:txBody>
                  <a:tcPr marL="54864" marR="54864" marT="27432" marB="27432" anchor="ctr">
                    <a:solidFill>
                      <a:srgbClr val="FCECDE"/>
                    </a:solidFill>
                  </a:tcPr>
                </a:tc>
              </a:tr>
            </a:tbl>
          </a:graphicData>
        </a:graphic>
      </p:graphicFrame>
      <p:sp>
        <p:nvSpPr>
          <p:cNvPr id="21" name="TextBox 20"/>
          <p:cNvSpPr txBox="1"/>
          <p:nvPr/>
        </p:nvSpPr>
        <p:spPr>
          <a:xfrm>
            <a:off x="6172200" y="4892040"/>
            <a:ext cx="5577840" cy="457200"/>
          </a:xfrm>
          <a:prstGeom prst="rect">
            <a:avLst/>
          </a:prstGeom>
          <a:noFill/>
        </p:spPr>
        <p:txBody>
          <a:bodyPr wrap="square" anchor="t" lIns="36576" rIns="36576" tIns="36576" bIns="36576">
            <a:spAutoFit/>
          </a:bodyPr>
          <a:lstStyle/>
          <a:p>
            <a:pPr algn="l">
              <a:spcAft>
                <a:spcPts val="600"/>
              </a:spcAft>
            </a:pPr>
            <a:r>
              <a:rPr sz="1300" b="0" i="1">
                <a:solidFill>
                  <a:srgbClr val="404040"/>
                </a:solidFill>
              </a:rPr>
              <a:t>Different datasets and classes: an indicative, not head-to-head, comparison</a:t>
            </a:r>
          </a:p>
        </p:txBody>
      </p:sp>
    </p:spTree>
    <p:extLst>
      <p:ext uri="{BB962C8B-B14F-4D97-AF65-F5344CB8AC3E}">
        <p14:creationId xmlns:p14="http://schemas.microsoft.com/office/powerpoint/2010/main" val="493455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252BD9-6226-6371-4257-BC40B4AE3C27}"/>
              </a:ext>
            </a:extLst>
          </p:cNvPr>
          <p:cNvSpPr txBox="1"/>
          <p:nvPr/>
        </p:nvSpPr>
        <p:spPr>
          <a:xfrm>
            <a:off x="330201" y="396352"/>
            <a:ext cx="11521440" cy="584775"/>
          </a:xfrm>
          <a:prstGeom prst="rect">
            <a:avLst/>
          </a:prstGeom>
          <a:noFill/>
        </p:spPr>
        <p:txBody>
          <a:bodyPr wrap="square" rtlCol="0">
            <a:spAutoFit/>
          </a:bodyPr>
          <a:lstStyle/>
          <a:p>
            <a:r>
              <a:rPr lang="en-US" sz="3200" b="1" dirty="0">
                <a:solidFill>
                  <a:schemeClr val="tx2">
                    <a:lumMod val="75000"/>
                  </a:schemeClr>
                </a:solidFill>
              </a:rPr>
              <a:t>Discussion</a:t>
            </a:r>
          </a:p>
        </p:txBody>
      </p:sp>
      <p:sp>
        <p:nvSpPr>
          <p:cNvPr id="5" name="TextBox 4">
            <a:extLst>
              <a:ext uri="{FF2B5EF4-FFF2-40B4-BE49-F238E27FC236}">
                <a16:creationId xmlns:a16="http://schemas.microsoft.com/office/drawing/2014/main" id="{A1651BCA-DD82-43D0-C5EA-540538A70CB5}"/>
              </a:ext>
            </a:extLst>
          </p:cNvPr>
          <p:cNvSpPr txBox="1"/>
          <p:nvPr/>
        </p:nvSpPr>
        <p:spPr>
          <a:xfrm>
            <a:off x="330201" y="1234553"/>
            <a:ext cx="11521440" cy="400110"/>
          </a:xfrm>
          <a:prstGeom prst="rect">
            <a:avLst/>
          </a:prstGeom>
          <a:noFill/>
        </p:spPr>
        <p:txBody>
          <a:bodyPr wrap="square" rtlCol="0">
            <a:spAutoFit/>
          </a:bodyPr>
          <a:lstStyle/>
          <a:p>
            <a:r>
              <a:rPr lang="en-US" sz="2000" dirty="0" i="1">
                <a:solidFill>
                  <a:srgbClr val="147A77"/>
                </a:solidFill>
                <a:latin typeface="+mj-lt"/>
              </a:rPr>
              <a:t>Useful for screening, with three honest qualifications</a:t>
            </a:r>
          </a:p>
        </p:txBody>
      </p:sp>
      <p:sp>
        <p:nvSpPr>
          <p:cNvPr id="6" name="Rounded Rectangle 5"/>
          <p:cNvSpPr/>
          <p:nvPr/>
        </p:nvSpPr>
        <p:spPr>
          <a:xfrm>
            <a:off x="411480" y="1783080"/>
            <a:ext cx="3639312" cy="2697480"/>
          </a:xfrm>
          <a:prstGeom prst="roundRect">
            <a:avLst>
              <a:gd name="adj" fmla="val 8000"/>
            </a:avLst>
          </a:prstGeom>
          <a:solidFill>
            <a:srgbClr val="E4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819656" y="1920240"/>
            <a:ext cx="822960" cy="822960"/>
          </a:xfrm>
          <a:prstGeom prst="ellipse">
            <a:avLst/>
          </a:prstGeom>
          <a:solidFill>
            <a:srgbClr val="22A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aBalanceScale_w.png"/>
          <p:cNvPicPr>
            <a:picLocks noChangeAspect="1"/>
          </p:cNvPicPr>
          <p:nvPr/>
        </p:nvPicPr>
        <p:blipFill>
          <a:blip r:embed="rId3"/>
          <a:stretch>
            <a:fillRect/>
          </a:stretch>
        </p:blipFill>
        <p:spPr>
          <a:xfrm>
            <a:off x="2017166" y="2117750"/>
            <a:ext cx="427939" cy="427939"/>
          </a:xfrm>
          <a:prstGeom prst="rect">
            <a:avLst/>
          </a:prstGeom>
        </p:spPr>
      </p:pic>
      <p:sp>
        <p:nvSpPr>
          <p:cNvPr id="9" name="TextBox 8"/>
          <p:cNvSpPr txBox="1"/>
          <p:nvPr/>
        </p:nvSpPr>
        <p:spPr>
          <a:xfrm>
            <a:off x="548640" y="2816352"/>
            <a:ext cx="3364992" cy="411480"/>
          </a:xfrm>
          <a:prstGeom prst="rect">
            <a:avLst/>
          </a:prstGeom>
          <a:noFill/>
        </p:spPr>
        <p:txBody>
          <a:bodyPr wrap="square" anchor="t" lIns="36576" rIns="36576" tIns="36576" bIns="36576">
            <a:spAutoFit/>
          </a:bodyPr>
          <a:lstStyle/>
          <a:p>
            <a:pPr algn="ctr">
              <a:spcAft>
                <a:spcPts val="600"/>
              </a:spcAft>
            </a:pPr>
            <a:r>
              <a:rPr sz="1700" b="1" i="0">
                <a:solidFill>
                  <a:srgbClr val="17375E"/>
                </a:solidFill>
              </a:rPr>
              <a:t>Architectures are close</a:t>
            </a:r>
          </a:p>
        </p:txBody>
      </p:sp>
      <p:sp>
        <p:nvSpPr>
          <p:cNvPr id="10" name="TextBox 9"/>
          <p:cNvSpPr txBox="1"/>
          <p:nvPr/>
        </p:nvSpPr>
        <p:spPr>
          <a:xfrm>
            <a:off x="594360" y="3246120"/>
            <a:ext cx="3273552" cy="1234440"/>
          </a:xfrm>
          <a:prstGeom prst="rect">
            <a:avLst/>
          </a:prstGeom>
          <a:noFill/>
        </p:spPr>
        <p:txBody>
          <a:bodyPr wrap="square" anchor="t" lIns="36576" rIns="36576" tIns="36576" bIns="36576">
            <a:spAutoFit/>
          </a:bodyPr>
          <a:lstStyle/>
          <a:p>
            <a:pPr algn="l">
              <a:spcAft>
                <a:spcPts val="600"/>
              </a:spcAft>
            </a:pPr>
            <a:r>
              <a:rPr sz="1400" b="0" i="0">
                <a:solidFill>
                  <a:srgbClr val="404040"/>
                </a:solidFill>
              </a:rPr>
              <a:t>Accuracy differences are small compared with their uncertainty and partly reflect training settings. No design is proven superior.</a:t>
            </a:r>
          </a:p>
        </p:txBody>
      </p:sp>
      <p:sp>
        <p:nvSpPr>
          <p:cNvPr id="11" name="Rounded Rectangle 10"/>
          <p:cNvSpPr/>
          <p:nvPr/>
        </p:nvSpPr>
        <p:spPr>
          <a:xfrm>
            <a:off x="4233672" y="1783080"/>
            <a:ext cx="3639312" cy="2697480"/>
          </a:xfrm>
          <a:prstGeom prst="roundRect">
            <a:avLst>
              <a:gd name="adj" fmla="val 8000"/>
            </a:avLst>
          </a:prstGeom>
          <a:solidFill>
            <a:srgbClr val="E4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41848" y="1920240"/>
            <a:ext cx="822960" cy="822960"/>
          </a:xfrm>
          <a:prstGeom prst="ellipse">
            <a:avLst/>
          </a:prstGeom>
          <a:solidFill>
            <a:srgbClr val="DE6C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FaSearch_w.png"/>
          <p:cNvPicPr>
            <a:picLocks noChangeAspect="1"/>
          </p:cNvPicPr>
          <p:nvPr/>
        </p:nvPicPr>
        <p:blipFill>
          <a:blip r:embed="rId4"/>
          <a:stretch>
            <a:fillRect/>
          </a:stretch>
        </p:blipFill>
        <p:spPr>
          <a:xfrm>
            <a:off x="5839358" y="2117750"/>
            <a:ext cx="427939" cy="427939"/>
          </a:xfrm>
          <a:prstGeom prst="rect">
            <a:avLst/>
          </a:prstGeom>
        </p:spPr>
      </p:pic>
      <p:sp>
        <p:nvSpPr>
          <p:cNvPr id="14" name="TextBox 13"/>
          <p:cNvSpPr txBox="1"/>
          <p:nvPr/>
        </p:nvSpPr>
        <p:spPr>
          <a:xfrm>
            <a:off x="4370832" y="2816352"/>
            <a:ext cx="3364992" cy="411480"/>
          </a:xfrm>
          <a:prstGeom prst="rect">
            <a:avLst/>
          </a:prstGeom>
          <a:noFill/>
        </p:spPr>
        <p:txBody>
          <a:bodyPr wrap="square" anchor="t" lIns="36576" rIns="36576" tIns="36576" bIns="36576">
            <a:spAutoFit/>
          </a:bodyPr>
          <a:lstStyle/>
          <a:p>
            <a:pPr algn="ctr">
              <a:spcAft>
                <a:spcPts val="600"/>
              </a:spcAft>
            </a:pPr>
            <a:r>
              <a:rPr sz="1700" b="1" i="0">
                <a:solidFill>
                  <a:srgbClr val="17375E"/>
                </a:solidFill>
              </a:rPr>
              <a:t>Screening, not aetiology</a:t>
            </a:r>
          </a:p>
        </p:txBody>
      </p:sp>
      <p:sp>
        <p:nvSpPr>
          <p:cNvPr id="15" name="TextBox 14"/>
          <p:cNvSpPr txBox="1"/>
          <p:nvPr/>
        </p:nvSpPr>
        <p:spPr>
          <a:xfrm>
            <a:off x="4416552" y="3246120"/>
            <a:ext cx="3273552" cy="1234440"/>
          </a:xfrm>
          <a:prstGeom prst="rect">
            <a:avLst/>
          </a:prstGeom>
          <a:noFill/>
        </p:spPr>
        <p:txBody>
          <a:bodyPr wrap="square" anchor="t" lIns="36576" rIns="36576" tIns="36576" bIns="36576">
            <a:spAutoFit/>
          </a:bodyPr>
          <a:lstStyle/>
          <a:p>
            <a:pPr algn="l">
              <a:spcAft>
                <a:spcPts val="600"/>
              </a:spcAft>
            </a:pPr>
            <a:r>
              <a:rPr sz="1400" b="0" i="0">
                <a:solidFill>
                  <a:srgbClr val="404040"/>
                </a:solidFill>
              </a:rPr>
              <a:t>Normal vs. abnormal is reliable. Bacterial vs. viral is not yet accurate enough to guide treatment.</a:t>
            </a:r>
          </a:p>
        </p:txBody>
      </p:sp>
      <p:sp>
        <p:nvSpPr>
          <p:cNvPr id="16" name="Rounded Rectangle 15"/>
          <p:cNvSpPr/>
          <p:nvPr/>
        </p:nvSpPr>
        <p:spPr>
          <a:xfrm>
            <a:off x="8055863" y="1783080"/>
            <a:ext cx="3639312" cy="2697480"/>
          </a:xfrm>
          <a:prstGeom prst="roundRect">
            <a:avLst>
              <a:gd name="adj" fmla="val 8000"/>
            </a:avLst>
          </a:prstGeom>
          <a:solidFill>
            <a:srgbClr val="E4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464039" y="1920240"/>
            <a:ext cx="822960" cy="822960"/>
          </a:xfrm>
          <a:prstGeom prst="ellipse">
            <a:avLst/>
          </a:prstGeom>
          <a:solidFill>
            <a:srgbClr val="22A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FaEye_w.png"/>
          <p:cNvPicPr>
            <a:picLocks noChangeAspect="1"/>
          </p:cNvPicPr>
          <p:nvPr/>
        </p:nvPicPr>
        <p:blipFill>
          <a:blip r:embed="rId5"/>
          <a:stretch>
            <a:fillRect/>
          </a:stretch>
        </p:blipFill>
        <p:spPr>
          <a:xfrm>
            <a:off x="9661550" y="2117750"/>
            <a:ext cx="427939" cy="427939"/>
          </a:xfrm>
          <a:prstGeom prst="rect">
            <a:avLst/>
          </a:prstGeom>
        </p:spPr>
      </p:pic>
      <p:sp>
        <p:nvSpPr>
          <p:cNvPr id="19" name="TextBox 18"/>
          <p:cNvSpPr txBox="1"/>
          <p:nvPr/>
        </p:nvSpPr>
        <p:spPr>
          <a:xfrm>
            <a:off x="8193023" y="2816352"/>
            <a:ext cx="3364992" cy="411480"/>
          </a:xfrm>
          <a:prstGeom prst="rect">
            <a:avLst/>
          </a:prstGeom>
          <a:noFill/>
        </p:spPr>
        <p:txBody>
          <a:bodyPr wrap="square" anchor="t" lIns="36576" rIns="36576" tIns="36576" bIns="36576">
            <a:spAutoFit/>
          </a:bodyPr>
          <a:lstStyle/>
          <a:p>
            <a:pPr algn="ctr">
              <a:spcAft>
                <a:spcPts val="600"/>
              </a:spcAft>
            </a:pPr>
            <a:r>
              <a:rPr sz="1700" b="1" i="0">
                <a:solidFill>
                  <a:srgbClr val="17375E"/>
                </a:solidFill>
              </a:rPr>
              <a:t>Where, not why</a:t>
            </a:r>
          </a:p>
        </p:txBody>
      </p:sp>
      <p:sp>
        <p:nvSpPr>
          <p:cNvPr id="20" name="TextBox 19"/>
          <p:cNvSpPr txBox="1"/>
          <p:nvPr/>
        </p:nvSpPr>
        <p:spPr>
          <a:xfrm>
            <a:off x="8238743" y="3246120"/>
            <a:ext cx="3273552" cy="1234440"/>
          </a:xfrm>
          <a:prstGeom prst="rect">
            <a:avLst/>
          </a:prstGeom>
          <a:noFill/>
        </p:spPr>
        <p:txBody>
          <a:bodyPr wrap="square" anchor="t" lIns="36576" rIns="36576" tIns="36576" bIns="36576">
            <a:spAutoFit/>
          </a:bodyPr>
          <a:lstStyle/>
          <a:p>
            <a:pPr algn="l">
              <a:spcAft>
                <a:spcPts val="600"/>
              </a:spcAft>
            </a:pPr>
            <a:r>
              <a:rPr sz="1400" b="0" i="0">
                <a:solidFill>
                  <a:srgbClr val="404040"/>
                </a:solidFill>
              </a:rPr>
              <a:t>Grad-CAM shows where the model looked, not why. Even confident predictions can look outside the lungs.</a:t>
            </a:r>
          </a:p>
        </p:txBody>
      </p:sp>
      <p:sp>
        <p:nvSpPr>
          <p:cNvPr id="21" name="Rounded Rectangle 20"/>
          <p:cNvSpPr/>
          <p:nvPr/>
        </p:nvSpPr>
        <p:spPr>
          <a:xfrm>
            <a:off x="411480" y="4663440"/>
            <a:ext cx="11338560" cy="685800"/>
          </a:xfrm>
          <a:prstGeom prst="roundRect">
            <a:avLst>
              <a:gd name="adj" fmla="val 8000"/>
            </a:avLst>
          </a:prstGeom>
          <a:solidFill>
            <a:srgbClr val="FCEC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48640" y="4745736"/>
            <a:ext cx="512064" cy="512064"/>
          </a:xfrm>
          <a:prstGeom prst="ellipse">
            <a:avLst/>
          </a:prstGeom>
          <a:solidFill>
            <a:srgbClr val="DE6C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FaUserMd_w.png"/>
          <p:cNvPicPr>
            <a:picLocks noChangeAspect="1"/>
          </p:cNvPicPr>
          <p:nvPr/>
        </p:nvPicPr>
        <p:blipFill>
          <a:blip r:embed="rId6"/>
          <a:stretch>
            <a:fillRect/>
          </a:stretch>
        </p:blipFill>
        <p:spPr>
          <a:xfrm>
            <a:off x="671535" y="4868631"/>
            <a:ext cx="266273" cy="266273"/>
          </a:xfrm>
          <a:prstGeom prst="rect">
            <a:avLst/>
          </a:prstGeom>
        </p:spPr>
      </p:pic>
      <p:sp>
        <p:nvSpPr>
          <p:cNvPr id="24" name="TextBox 23"/>
          <p:cNvSpPr txBox="1"/>
          <p:nvPr/>
        </p:nvSpPr>
        <p:spPr>
          <a:xfrm>
            <a:off x="1234440" y="4663440"/>
            <a:ext cx="10424160" cy="685800"/>
          </a:xfrm>
          <a:prstGeom prst="rect">
            <a:avLst/>
          </a:prstGeom>
          <a:noFill/>
        </p:spPr>
        <p:txBody>
          <a:bodyPr wrap="square" anchor="ctr" lIns="36576" rIns="36576" tIns="36576" bIns="36576">
            <a:spAutoFit/>
          </a:bodyPr>
          <a:lstStyle/>
          <a:p>
            <a:pPr algn="l">
              <a:spcAft>
                <a:spcPts val="600"/>
              </a:spcAft>
            </a:pPr>
            <a:r>
              <a:rPr sz="1500" b="0" i="0">
                <a:solidFill>
                  <a:srgbClr val="404040"/>
                </a:solidFill>
              </a:rPr>
              <a:t>A decision-support tool that supports, not replaces, doctors. External validation across hospitals, devices and patient groups is needed before clinical use.</a:t>
            </a:r>
          </a:p>
        </p:txBody>
      </p:sp>
    </p:spTree>
    <p:extLst>
      <p:ext uri="{BB962C8B-B14F-4D97-AF65-F5344CB8AC3E}">
        <p14:creationId xmlns:p14="http://schemas.microsoft.com/office/powerpoint/2010/main" val="493455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252BD9-6226-6371-4257-BC40B4AE3C27}"/>
              </a:ext>
            </a:extLst>
          </p:cNvPr>
          <p:cNvSpPr txBox="1"/>
          <p:nvPr/>
        </p:nvSpPr>
        <p:spPr>
          <a:xfrm>
            <a:off x="330201" y="396352"/>
            <a:ext cx="11521440" cy="584775"/>
          </a:xfrm>
          <a:prstGeom prst="rect">
            <a:avLst/>
          </a:prstGeom>
          <a:noFill/>
        </p:spPr>
        <p:txBody>
          <a:bodyPr wrap="square" rtlCol="0">
            <a:spAutoFit/>
          </a:bodyPr>
          <a:lstStyle/>
          <a:p>
            <a:r>
              <a:rPr lang="en-US" sz="3200" b="1" dirty="0">
                <a:solidFill>
                  <a:schemeClr val="tx2">
                    <a:lumMod val="75000"/>
                  </a:schemeClr>
                </a:solidFill>
              </a:rPr>
              <a:t>Conclusion</a:t>
            </a:r>
          </a:p>
        </p:txBody>
      </p:sp>
      <p:sp>
        <p:nvSpPr>
          <p:cNvPr id="5" name="TextBox 4">
            <a:extLst>
              <a:ext uri="{FF2B5EF4-FFF2-40B4-BE49-F238E27FC236}">
                <a16:creationId xmlns:a16="http://schemas.microsoft.com/office/drawing/2014/main" id="{A1651BCA-DD82-43D0-C5EA-540538A70CB5}"/>
              </a:ext>
            </a:extLst>
          </p:cNvPr>
          <p:cNvSpPr txBox="1"/>
          <p:nvPr/>
        </p:nvSpPr>
        <p:spPr>
          <a:xfrm>
            <a:off x="330201" y="1234553"/>
            <a:ext cx="11521440" cy="400110"/>
          </a:xfrm>
          <a:prstGeom prst="rect">
            <a:avLst/>
          </a:prstGeom>
          <a:noFill/>
        </p:spPr>
        <p:txBody>
          <a:bodyPr wrap="square" rtlCol="0">
            <a:spAutoFit/>
          </a:bodyPr>
          <a:lstStyle/>
          <a:p>
            <a:r>
              <a:rPr lang="en-US" sz="2000" dirty="0" i="1">
                <a:solidFill>
                  <a:srgbClr val="147A77"/>
                </a:solidFill>
                <a:latin typeface="+mj-lt"/>
              </a:rPr>
              <a:t>An explainable four-class framework, delivered as a working platform</a:t>
            </a:r>
          </a:p>
        </p:txBody>
      </p:sp>
      <p:sp>
        <p:nvSpPr>
          <p:cNvPr id="6" name="TextBox 5"/>
          <p:cNvSpPr txBox="1"/>
          <p:nvPr/>
        </p:nvSpPr>
        <p:spPr>
          <a:xfrm>
            <a:off x="411480" y="1783080"/>
            <a:ext cx="5486400" cy="365760"/>
          </a:xfrm>
          <a:prstGeom prst="rect">
            <a:avLst/>
          </a:prstGeom>
          <a:noFill/>
        </p:spPr>
        <p:txBody>
          <a:bodyPr wrap="square" anchor="t" lIns="36576" rIns="36576" tIns="36576" bIns="36576">
            <a:spAutoFit/>
          </a:bodyPr>
          <a:lstStyle/>
          <a:p>
            <a:pPr algn="l">
              <a:spcAft>
                <a:spcPts val="600"/>
              </a:spcAft>
            </a:pPr>
            <a:r>
              <a:rPr sz="1800" b="1" i="0">
                <a:solidFill>
                  <a:srgbClr val="17375E"/>
                </a:solidFill>
              </a:rPr>
              <a:t>Contributions</a:t>
            </a:r>
          </a:p>
        </p:txBody>
      </p:sp>
      <p:pic>
        <p:nvPicPr>
          <p:cNvPr id="7" name="Picture 6" descr="FaCheckCircle_t.png"/>
          <p:cNvPicPr>
            <a:picLocks noChangeAspect="1"/>
          </p:cNvPicPr>
          <p:nvPr/>
        </p:nvPicPr>
        <p:blipFill>
          <a:blip r:embed="rId3"/>
          <a:stretch>
            <a:fillRect/>
          </a:stretch>
        </p:blipFill>
        <p:spPr>
          <a:xfrm>
            <a:off x="411480" y="2505456"/>
            <a:ext cx="384048" cy="384048"/>
          </a:xfrm>
          <a:prstGeom prst="rect">
            <a:avLst/>
          </a:prstGeom>
        </p:spPr>
      </p:pic>
      <p:sp>
        <p:nvSpPr>
          <p:cNvPr id="8" name="TextBox 7"/>
          <p:cNvSpPr txBox="1"/>
          <p:nvPr/>
        </p:nvSpPr>
        <p:spPr>
          <a:xfrm>
            <a:off x="914400" y="2240280"/>
            <a:ext cx="4983480" cy="914400"/>
          </a:xfrm>
          <a:prstGeom prst="rect">
            <a:avLst/>
          </a:prstGeom>
          <a:noFill/>
        </p:spPr>
        <p:txBody>
          <a:bodyPr wrap="square" anchor="ctr" lIns="36576" rIns="36576" tIns="36576" bIns="36576">
            <a:spAutoFit/>
          </a:bodyPr>
          <a:lstStyle/>
          <a:p>
            <a:pPr algn="l">
              <a:spcAft>
                <a:spcPts val="600"/>
              </a:spcAft>
            </a:pPr>
            <a:r>
              <a:rPr sz="1500" b="0" i="0">
                <a:solidFill>
                  <a:srgbClr val="404040"/>
                </a:solidFill>
              </a:rPr>
              <a:t>Four-class comparison of DenseNet121 (85.31%), EfficientNetV2B3 (84.30%) and EfficientNetV2S (80.54%) under one protocol</a:t>
            </a:r>
          </a:p>
        </p:txBody>
      </p:sp>
      <p:pic>
        <p:nvPicPr>
          <p:cNvPr id="9" name="Picture 8" descr="FaCheckCircle_t.png"/>
          <p:cNvPicPr>
            <a:picLocks noChangeAspect="1"/>
          </p:cNvPicPr>
          <p:nvPr/>
        </p:nvPicPr>
        <p:blipFill>
          <a:blip r:embed="rId3"/>
          <a:stretch>
            <a:fillRect/>
          </a:stretch>
        </p:blipFill>
        <p:spPr>
          <a:xfrm>
            <a:off x="411480" y="3557016"/>
            <a:ext cx="384048" cy="384048"/>
          </a:xfrm>
          <a:prstGeom prst="rect">
            <a:avLst/>
          </a:prstGeom>
        </p:spPr>
      </p:pic>
      <p:sp>
        <p:nvSpPr>
          <p:cNvPr id="10" name="TextBox 9"/>
          <p:cNvSpPr txBox="1"/>
          <p:nvPr/>
        </p:nvSpPr>
        <p:spPr>
          <a:xfrm>
            <a:off x="914400" y="3291840"/>
            <a:ext cx="4983480" cy="914400"/>
          </a:xfrm>
          <a:prstGeom prst="rect">
            <a:avLst/>
          </a:prstGeom>
          <a:noFill/>
        </p:spPr>
        <p:txBody>
          <a:bodyPr wrap="square" anchor="ctr" lIns="36576" rIns="36576" tIns="36576" bIns="36576">
            <a:spAutoFit/>
          </a:bodyPr>
          <a:lstStyle/>
          <a:p>
            <a:pPr algn="l">
              <a:spcAft>
                <a:spcPts val="600"/>
              </a:spcAft>
            </a:pPr>
            <a:r>
              <a:rPr sz="1500" b="0" i="0">
                <a:solidFill>
                  <a:srgbClr val="404040"/>
                </a:solidFill>
              </a:rPr>
              <a:t>Logit-based Grad-CAM restricted to the lungs, with the in-lung share disclosed</a:t>
            </a:r>
          </a:p>
        </p:txBody>
      </p:sp>
      <p:pic>
        <p:nvPicPr>
          <p:cNvPr id="11" name="Picture 10" descr="FaCheckCircle_t.png"/>
          <p:cNvPicPr>
            <a:picLocks noChangeAspect="1"/>
          </p:cNvPicPr>
          <p:nvPr/>
        </p:nvPicPr>
        <p:blipFill>
          <a:blip r:embed="rId3"/>
          <a:stretch>
            <a:fillRect/>
          </a:stretch>
        </p:blipFill>
        <p:spPr>
          <a:xfrm>
            <a:off x="411480" y="4608576"/>
            <a:ext cx="384048" cy="384048"/>
          </a:xfrm>
          <a:prstGeom prst="rect">
            <a:avLst/>
          </a:prstGeom>
        </p:spPr>
      </p:pic>
      <p:sp>
        <p:nvSpPr>
          <p:cNvPr id="12" name="TextBox 11"/>
          <p:cNvSpPr txBox="1"/>
          <p:nvPr/>
        </p:nvSpPr>
        <p:spPr>
          <a:xfrm>
            <a:off x="914400" y="4343400"/>
            <a:ext cx="4983480" cy="914400"/>
          </a:xfrm>
          <a:prstGeom prst="rect">
            <a:avLst/>
          </a:prstGeom>
          <a:noFill/>
        </p:spPr>
        <p:txBody>
          <a:bodyPr wrap="square" anchor="ctr" lIns="36576" rIns="36576" tIns="36576" bIns="36576">
            <a:spAutoFit/>
          </a:bodyPr>
          <a:lstStyle/>
          <a:p>
            <a:pPr algn="l">
              <a:spcAft>
                <a:spcPts val="600"/>
              </a:spcAft>
            </a:pPr>
            <a:r>
              <a:rPr sz="1500" b="0" i="0">
                <a:solidFill>
                  <a:srgbClr val="404040"/>
                </a:solidFill>
              </a:rPr>
              <a:t>End-to-end platform: web and mobile access, secure login, history, out-of-distribution check, multilingual PDF reports</a:t>
            </a:r>
          </a:p>
        </p:txBody>
      </p:sp>
      <p:sp>
        <p:nvSpPr>
          <p:cNvPr id="13" name="Rounded Rectangle 12"/>
          <p:cNvSpPr/>
          <p:nvPr/>
        </p:nvSpPr>
        <p:spPr>
          <a:xfrm>
            <a:off x="6263640" y="1783080"/>
            <a:ext cx="5486400" cy="3566160"/>
          </a:xfrm>
          <a:prstGeom prst="roundRect">
            <a:avLst>
              <a:gd name="adj" fmla="val 8000"/>
            </a:avLst>
          </a:prstGeom>
          <a:solidFill>
            <a:srgbClr val="E4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874519"/>
            <a:ext cx="5120640" cy="365760"/>
          </a:xfrm>
          <a:prstGeom prst="rect">
            <a:avLst/>
          </a:prstGeom>
          <a:noFill/>
        </p:spPr>
        <p:txBody>
          <a:bodyPr wrap="square" anchor="t" lIns="36576" rIns="36576" tIns="36576" bIns="36576">
            <a:spAutoFit/>
          </a:bodyPr>
          <a:lstStyle/>
          <a:p>
            <a:pPr algn="l">
              <a:spcAft>
                <a:spcPts val="600"/>
              </a:spcAft>
            </a:pPr>
            <a:r>
              <a:rPr sz="1800" b="1" i="0">
                <a:solidFill>
                  <a:srgbClr val="17375E"/>
                </a:solidFill>
              </a:rPr>
              <a:t>Limitations and future work</a:t>
            </a:r>
          </a:p>
        </p:txBody>
      </p:sp>
      <p:sp>
        <p:nvSpPr>
          <p:cNvPr id="15" name="TextBox 14"/>
          <p:cNvSpPr txBox="1"/>
          <p:nvPr/>
        </p:nvSpPr>
        <p:spPr>
          <a:xfrm>
            <a:off x="6446520" y="2331720"/>
            <a:ext cx="5120640" cy="2971800"/>
          </a:xfrm>
          <a:prstGeom prst="rect">
            <a:avLst/>
          </a:prstGeom>
          <a:noFill/>
        </p:spPr>
        <p:txBody>
          <a:bodyPr wrap="square" anchor="t" lIns="36576" rIns="36576" tIns="36576" bIns="36576">
            <a:spAutoFit/>
          </a:bodyPr>
          <a:lstStyle/>
          <a:p>
            <a:pPr algn="l" marL="228600" indent="-201168">
              <a:spcAft>
                <a:spcPts val="1600"/>
              </a:spcAft>
              <a:buClr>
                <a:srgbClr val="22A4A0"/>
              </a:buClr>
              <a:buChar char="•"/>
            </a:pPr>
            <a:r>
              <a:rPr sz="1600" b="1" i="0">
                <a:solidFill>
                  <a:srgbClr val="DE6C0B"/>
                </a:solidFill>
              </a:rPr>
              <a:t>Limits: </a:t>
            </a:r>
            <a:r>
              <a:rPr sz="1600" b="0" i="0">
                <a:solidFill>
                  <a:srgbClr val="404040"/>
                </a:solidFill>
              </a:rPr>
              <a:t>one public dataset, one training run per model, settings not fully equal, no radiologist check of heatmaps</a:t>
            </a:r>
          </a:p>
          <a:p>
            <a:pPr algn="l" marL="228600" indent="-201168">
              <a:spcAft>
                <a:spcPts val="1600"/>
              </a:spcAft>
              <a:buClr>
                <a:srgbClr val="22A4A0"/>
              </a:buClr>
              <a:buChar char="•"/>
            </a:pPr>
            <a:r>
              <a:rPr sz="1600" b="1" i="0">
                <a:solidFill>
                  <a:srgbClr val="147A77"/>
                </a:solidFill>
              </a:rPr>
              <a:t>Next: </a:t>
            </a:r>
            <a:r>
              <a:rPr sz="1600" b="0" i="0">
                <a:solidFill>
                  <a:srgbClr val="404040"/>
                </a:solidFill>
              </a:rPr>
              <a:t>external validation on other datasets and hospitals</a:t>
            </a:r>
          </a:p>
          <a:p>
            <a:pPr algn="l" marL="228600" indent="-201168">
              <a:spcAft>
                <a:spcPts val="1600"/>
              </a:spcAft>
              <a:buClr>
                <a:srgbClr val="22A4A0"/>
              </a:buClr>
              <a:buChar char="•"/>
            </a:pPr>
            <a:r>
              <a:rPr sz="1600" b="1" i="0">
                <a:solidFill>
                  <a:srgbClr val="147A77"/>
                </a:solidFill>
              </a:rPr>
              <a:t>Next: </a:t>
            </a:r>
            <a:r>
              <a:rPr sz="1600" b="0" i="0">
                <a:solidFill>
                  <a:srgbClr val="404040"/>
                </a:solidFill>
              </a:rPr>
              <a:t>repeated, fully controlled training</a:t>
            </a:r>
          </a:p>
          <a:p>
            <a:pPr algn="l" marL="228600" indent="-201168">
              <a:spcAft>
                <a:spcPts val="1600"/>
              </a:spcAft>
              <a:buClr>
                <a:srgbClr val="22A4A0"/>
              </a:buClr>
              <a:buChar char="•"/>
            </a:pPr>
            <a:r>
              <a:rPr sz="1600" b="1" i="0">
                <a:solidFill>
                  <a:srgbClr val="147A77"/>
                </a:solidFill>
              </a:rPr>
              <a:t>Next: </a:t>
            </a:r>
            <a:r>
              <a:rPr sz="1600" b="0" i="0">
                <a:solidFill>
                  <a:srgbClr val="404040"/>
                </a:solidFill>
              </a:rPr>
              <a:t>radiologist review of explanations and multimodal clinical data</a:t>
            </a:r>
          </a:p>
        </p:txBody>
      </p:sp>
    </p:spTree>
    <p:extLst>
      <p:ext uri="{BB962C8B-B14F-4D97-AF65-F5344CB8AC3E}">
        <p14:creationId xmlns:p14="http://schemas.microsoft.com/office/powerpoint/2010/main" val="493455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252BD9-6226-6371-4257-BC40B4AE3C27}"/>
              </a:ext>
            </a:extLst>
          </p:cNvPr>
          <p:cNvSpPr txBox="1"/>
          <p:nvPr/>
        </p:nvSpPr>
        <p:spPr>
          <a:xfrm>
            <a:off x="330201" y="396352"/>
            <a:ext cx="11521440" cy="584775"/>
          </a:xfrm>
          <a:prstGeom prst="rect">
            <a:avLst/>
          </a:prstGeom>
          <a:noFill/>
        </p:spPr>
        <p:txBody>
          <a:bodyPr wrap="square" rtlCol="0">
            <a:spAutoFit/>
          </a:bodyPr>
          <a:lstStyle/>
          <a:p>
            <a:r>
              <a:rPr lang="en-US" sz="3200" b="1" dirty="0">
                <a:solidFill>
                  <a:schemeClr val="tx2">
                    <a:lumMod val="75000"/>
                  </a:schemeClr>
                </a:solidFill>
              </a:rPr>
              <a:t>Thank You</a:t>
            </a:r>
          </a:p>
        </p:txBody>
      </p:sp>
      <p:sp>
        <p:nvSpPr>
          <p:cNvPr id="5" name="TextBox 4">
            <a:extLst>
              <a:ext uri="{FF2B5EF4-FFF2-40B4-BE49-F238E27FC236}">
                <a16:creationId xmlns:a16="http://schemas.microsoft.com/office/drawing/2014/main" id="{A1651BCA-DD82-43D0-C5EA-540538A70CB5}"/>
              </a:ext>
            </a:extLst>
          </p:cNvPr>
          <p:cNvSpPr txBox="1"/>
          <p:nvPr/>
        </p:nvSpPr>
        <p:spPr>
          <a:xfrm>
            <a:off x="330201" y="1234553"/>
            <a:ext cx="11521440" cy="400110"/>
          </a:xfrm>
          <a:prstGeom prst="rect">
            <a:avLst/>
          </a:prstGeom>
          <a:noFill/>
        </p:spPr>
        <p:txBody>
          <a:bodyPr wrap="square" rtlCol="0">
            <a:spAutoFit/>
          </a:bodyPr>
          <a:lstStyle/>
          <a:p>
            <a:r>
              <a:rPr lang="en-US" sz="2000" dirty="0" i="1">
                <a:solidFill>
                  <a:srgbClr val="147A77"/>
                </a:solidFill>
                <a:latin typeface="+mj-lt"/>
              </a:rPr>
              <a:t>Questions and discussion are welcome</a:t>
            </a:r>
          </a:p>
        </p:txBody>
      </p:sp>
      <p:sp>
        <p:nvSpPr>
          <p:cNvPr id="6" name="Oval 5"/>
          <p:cNvSpPr/>
          <p:nvPr/>
        </p:nvSpPr>
        <p:spPr>
          <a:xfrm>
            <a:off x="5413248" y="2011680"/>
            <a:ext cx="1371600" cy="1371600"/>
          </a:xfrm>
          <a:prstGeom prst="ellipse">
            <a:avLst/>
          </a:prstGeom>
          <a:solidFill>
            <a:srgbClr val="22A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aComments_w.png"/>
          <p:cNvPicPr>
            <a:picLocks noChangeAspect="1"/>
          </p:cNvPicPr>
          <p:nvPr/>
        </p:nvPicPr>
        <p:blipFill>
          <a:blip r:embed="rId3"/>
          <a:stretch>
            <a:fillRect/>
          </a:stretch>
        </p:blipFill>
        <p:spPr>
          <a:xfrm>
            <a:off x="5742432" y="2340864"/>
            <a:ext cx="713232" cy="713232"/>
          </a:xfrm>
          <a:prstGeom prst="rect">
            <a:avLst/>
          </a:prstGeom>
        </p:spPr>
      </p:pic>
      <p:sp>
        <p:nvSpPr>
          <p:cNvPr id="8" name="TextBox 7"/>
          <p:cNvSpPr txBox="1"/>
          <p:nvPr/>
        </p:nvSpPr>
        <p:spPr>
          <a:xfrm>
            <a:off x="2441448" y="3566160"/>
            <a:ext cx="7315200" cy="731520"/>
          </a:xfrm>
          <a:prstGeom prst="rect">
            <a:avLst/>
          </a:prstGeom>
          <a:noFill/>
        </p:spPr>
        <p:txBody>
          <a:bodyPr wrap="square" anchor="t" lIns="36576" rIns="36576" tIns="36576" bIns="36576">
            <a:spAutoFit/>
          </a:bodyPr>
          <a:lstStyle/>
          <a:p>
            <a:pPr algn="ctr">
              <a:spcAft>
                <a:spcPts val="600"/>
              </a:spcAft>
            </a:pPr>
            <a:r>
              <a:rPr sz="4000" b="1" i="0">
                <a:solidFill>
                  <a:srgbClr val="17375E"/>
                </a:solidFill>
              </a:rPr>
              <a:t>Questions?</a:t>
            </a:r>
          </a:p>
        </p:txBody>
      </p:sp>
      <p:sp>
        <p:nvSpPr>
          <p:cNvPr id="9" name="TextBox 8"/>
          <p:cNvSpPr txBox="1"/>
          <p:nvPr/>
        </p:nvSpPr>
        <p:spPr>
          <a:xfrm>
            <a:off x="2441448" y="4343400"/>
            <a:ext cx="7315200" cy="548640"/>
          </a:xfrm>
          <a:prstGeom prst="rect">
            <a:avLst/>
          </a:prstGeom>
          <a:noFill/>
        </p:spPr>
        <p:txBody>
          <a:bodyPr wrap="square" anchor="t" lIns="36576" rIns="36576" tIns="36576" bIns="36576">
            <a:spAutoFit/>
          </a:bodyPr>
          <a:lstStyle/>
          <a:p>
            <a:pPr algn="ctr">
              <a:spcAft>
                <a:spcPts val="600"/>
              </a:spcAft>
            </a:pPr>
            <a:r>
              <a:rPr sz="1800" b="0" i="0">
                <a:solidFill>
                  <a:srgbClr val="147A77"/>
                </a:solidFill>
              </a:rPr>
              <a:t>Paper ID 29002  ·  ICTAR 2026</a:t>
            </a:r>
          </a:p>
        </p:txBody>
      </p:sp>
    </p:spTree>
    <p:extLst>
      <p:ext uri="{BB962C8B-B14F-4D97-AF65-F5344CB8AC3E}">
        <p14:creationId xmlns:p14="http://schemas.microsoft.com/office/powerpoint/2010/main" val="49345588"/>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467</TotalTime>
  <Words>31</Words>
  <Application>Microsoft Office PowerPoint</Application>
  <PresentationFormat>Widescreen</PresentationFormat>
  <Paragraphs>12</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1_Office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Romasha Guruge</dc:creator>
  <cp:lastModifiedBy>Romasha Guruge</cp:lastModifiedBy>
  <cp:revision>3</cp:revision>
  <dcterms:created xsi:type="dcterms:W3CDTF">2026-10-01T09:39:50Z</dcterms:created>
  <dcterms:modified xsi:type="dcterms:W3CDTF">2026-10-01T17:30:50Z</dcterms:modified>
</cp:coreProperties>
</file>