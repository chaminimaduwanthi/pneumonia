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League Spartan" pitchFamily="2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425" autoAdjust="0"/>
  </p:normalViewPr>
  <p:slideViewPr>
    <p:cSldViewPr snapToGrid="0" snapToObjects="1">
      <p:cViewPr varScale="1">
        <p:scale>
          <a:sx n="41" d="100"/>
          <a:sy n="41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700" b="1">
                <a:solidFill>
                  <a:srgbClr val="004AAD"/>
                </a:solidFill>
                <a:latin typeface="Poppins"/>
              </a:rPr>
              <a:t>Per class F1 (Figure 5.2)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DenseNet121</c:v>
                </c:pt>
              </c:strCache>
            </c:strRef>
          </c:tx>
          <c:spPr>
            <a:solidFill>
              <a:srgbClr val="004AAD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555555"/>
                    </a:solidFill>
                    <a:latin typeface="Poppi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COVID-19</c:v>
                </c:pt>
                <c:pt idx="1">
                  <c:v>Normal</c:v>
                </c:pt>
                <c:pt idx="2">
                  <c:v>Bacterial</c:v>
                </c:pt>
                <c:pt idx="3">
                  <c:v>Viral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</c:v>
                </c:pt>
                <c:pt idx="1">
                  <c:v>0.96</c:v>
                </c:pt>
                <c:pt idx="2">
                  <c:v>0.8</c:v>
                </c:pt>
                <c:pt idx="3">
                  <c:v>0.64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C51-4E94-A920-095B11868F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EfficientNetV2B3</c:v>
                </c:pt>
              </c:strCache>
            </c:strRef>
          </c:tx>
          <c:spPr>
            <a:solidFill>
              <a:srgbClr val="5B8FD9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555555"/>
                    </a:solidFill>
                    <a:latin typeface="Poppi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COVID-19</c:v>
                </c:pt>
                <c:pt idx="1">
                  <c:v>Normal</c:v>
                </c:pt>
                <c:pt idx="2">
                  <c:v>Bacterial</c:v>
                </c:pt>
                <c:pt idx="3">
                  <c:v>Viral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</c:v>
                </c:pt>
                <c:pt idx="1">
                  <c:v>0.94</c:v>
                </c:pt>
                <c:pt idx="2">
                  <c:v>0.8</c:v>
                </c:pt>
                <c:pt idx="3">
                  <c:v>0.6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C51-4E94-A920-095B11868F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EfficientNetV2S</c:v>
                </c:pt>
              </c:strCache>
            </c:strRef>
          </c:tx>
          <c:spPr>
            <a:solidFill>
              <a:srgbClr val="A9C4EB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555555"/>
                    </a:solidFill>
                    <a:latin typeface="Poppi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COVID-19</c:v>
                </c:pt>
                <c:pt idx="1">
                  <c:v>Normal</c:v>
                </c:pt>
                <c:pt idx="2">
                  <c:v>Bacterial</c:v>
                </c:pt>
                <c:pt idx="3">
                  <c:v>Viral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0.94</c:v>
                </c:pt>
                <c:pt idx="1">
                  <c:v>0.94</c:v>
                </c:pt>
                <c:pt idx="2">
                  <c:v>0.7</c:v>
                </c:pt>
                <c:pt idx="3">
                  <c:v>0.61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C51-4E94-A920-095B11868F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400">
                <a:solidFill>
                  <a:srgbClr val="1A1A1A"/>
                </a:solidFill>
                <a:latin typeface="Poppi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>
              <a:latin typeface="Poppins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>
          <a:latin typeface="Poppi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9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Good </a:t>
            </a:r>
            <a:r>
              <a:rPr lang="en-US" b="1" dirty="0" err="1"/>
              <a:t>aftrenoon</a:t>
            </a:r>
            <a:r>
              <a:rPr lang="en-US" b="1" dirty="0"/>
              <a:t>, respected panel members.</a:t>
            </a:r>
            <a:br>
              <a:rPr lang="en-US" b="1" dirty="0"/>
            </a:br>
            <a:r>
              <a:rPr lang="en-US" b="1" dirty="0"/>
              <a:t>I am G. C. M. Sewwandi, and my student index number is 29002. I carried out my final-year research project under the supervision of Ms. R. W. K. T. Rajapaksha.</a:t>
            </a:r>
            <a:br>
              <a:rPr lang="en-US" b="1" dirty="0"/>
            </a:br>
            <a:r>
              <a:rPr lang="en-US" b="1" dirty="0"/>
              <a:t>Today, I am here to present my research project titled</a:t>
            </a:r>
            <a:r>
              <a:rPr b="1" dirty="0"/>
              <a:t> "Explainable Deep Learning Framework for Pneumonia Detection and Classification Using Transfer Learning and Grad-CAM".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Why does this matter? Pneumonia is a leading cause of death, especially for small children and older people. The cause decides the treatment: bacterial needs antibiotics, viral usually does not, and COVID-19 also needs isolation. The chest X-ray is the cheap first test, but the findings overlap and radiologists are scarce, most of all in rural and low-income areas, where a specialist opinion is slow and expensive.</a:t>
            </a:r>
          </a:p>
          <a:p>
            <a:r>
              <a:rPr b="1" dirty="0">
                <a:solidFill>
                  <a:schemeClr val="tx1"/>
                </a:solidFill>
              </a:rPr>
              <a:t>So what is needed is a real-time four-class tool that runs on ordinary hardware, refuses to answer when the input is not valid, and shows what it looked at.</a:t>
            </a:r>
          </a:p>
          <a:p>
            <a:r>
              <a:rPr b="1" dirty="0">
                <a:solidFill>
                  <a:schemeClr val="tx1"/>
                </a:solidFill>
              </a:rPr>
              <a:t>The table shows the limits of existing work. </a:t>
            </a:r>
          </a:p>
          <a:p>
            <a:r>
              <a:rPr b="1" dirty="0">
                <a:solidFill>
                  <a:schemeClr val="tx1"/>
                </a:solidFill>
              </a:rPr>
              <a:t>So the research gap is: no evaluated chest X-ray system delivers real-time four-class decision support with an input safeguard and measured Grad-CAM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My aim follows directly from my general research question. Today there is no working four-class system, most are binary, and rural and low-income areas lack radiologists and money. So my aim is to design, build and evaluate an explainable, out-of-distribution aware framework for four-class pneumonia classification, and deliver it as a real-time platform that can be used where radiologists are scarce.</a:t>
            </a:r>
          </a:p>
          <a:p>
            <a:r>
              <a:rPr b="1" dirty="0"/>
              <a:t>The five objectives divide that aim. RO1 reviews why existing systems are binary, offline and unexplained, and derives the requirements. RO2 compares three CNNs for the four-class task on one split. RO3 builds the safeguard and puts it, together with Grad-CAM, into a real-time web and mobile platform. RO4 evaluates the safeguard, where the explanations look, and the response time. RO5 gives recommendations on when it suits triage where radiologists are scarce.</a:t>
            </a:r>
          </a:p>
          <a:p>
            <a:r>
              <a:rPr b="1" dirty="0"/>
              <a:t>My main research question asks how far a four-class classifier, instead of a binary one, can be delivered as a real-time decision support system for places without enough radiologists, and made trustworthy with Grad-CAM and a safeguard that needs no retraining. Each part has its own question: RQ1 is the four-class performance and errors, RQ2 is detecting invalid inputs and the cost to real scans, RQ3 is whether Grad-CAM looks at the lungs and the right regions, and RQ4 is whether the full system answers in real tim</a:t>
            </a:r>
            <a:r>
              <a:rPr lang="en-US" b="1" dirty="0"/>
              <a:t>e</a:t>
            </a:r>
            <a:r>
              <a:rPr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Here is my solution. One chest X-ray goes through the trained CNN in a single forward pass, and I use three outputs from it.</a:t>
            </a:r>
          </a:p>
          <a:p>
            <a:r>
              <a:rPr b="1" dirty="0"/>
              <a:t>The penultimate features go to the out-of-distribution check. The pre-</a:t>
            </a:r>
            <a:r>
              <a:rPr b="1" dirty="0" err="1"/>
              <a:t>softmax</a:t>
            </a:r>
            <a:r>
              <a:rPr b="1" dirty="0"/>
              <a:t> logits give the class probabilities. The feature maps give Grad-CAM and the lung-focus measure.</a:t>
            </a:r>
          </a:p>
          <a:p>
            <a:r>
              <a:rPr b="1" dirty="0"/>
              <a:t>If the input is out of distribution, the diagnosis is withheld. Otherwise the class is shown with a lung-restricted heatmap and the share of attention inside the lungs.</a:t>
            </a:r>
            <a:endParaRPr lang="en-US" b="1" dirty="0"/>
          </a:p>
          <a:p>
            <a:r>
              <a:rPr lang="en-US" b="1" dirty="0"/>
              <a:t>My contributions are per class evidence, a safeguard that needs no retraining, a measured explanation, and a working platform that answers in about three seconds on an ordinary computer without a GPU, with reports in English, Sinhala and Tamil, so it can be used where radiologists are scarce.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My research is post-positivist, mostly deductive, and follows a design science strategy. The work had eight steps, M1 to M8. I froze the system after M6, the OOD calibration, and the test data was opened only at M8, so no result was used to tune the system.</a:t>
            </a:r>
          </a:p>
          <a:p>
            <a:r>
              <a:rPr b="1" dirty="0"/>
              <a:t>The system has three tiers: a Next.js web app, a PHP REST API with MySQL and the PDF reports, and a </a:t>
            </a:r>
            <a:r>
              <a:rPr b="1" dirty="0" err="1"/>
              <a:t>FastAPI</a:t>
            </a:r>
            <a:r>
              <a:rPr b="1" dirty="0"/>
              <a:t> and TensorFlow inference service, which holds my contribution.</a:t>
            </a:r>
          </a:p>
          <a:p>
            <a:r>
              <a:rPr b="1" dirty="0"/>
              <a:t>On the right is the inference pipeline. After the forward pass, the features give </a:t>
            </a:r>
            <a:r>
              <a:rPr lang="en-US" b="1" dirty="0"/>
              <a:t>OOD</a:t>
            </a:r>
            <a:r>
              <a:rPr b="1" dirty="0"/>
              <a:t>, the logits give </a:t>
            </a:r>
            <a:r>
              <a:rPr b="1" dirty="0" err="1"/>
              <a:t>softmax</a:t>
            </a:r>
            <a:r>
              <a:rPr b="1" dirty="0"/>
              <a:t> and energy, and the feature maps give Grad-CAM.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For data I used 9,209 public, de-identified chest X-rays in four classes, split 70, 15 and 15 percent in a stratified way. All three models and the calibration use the same split.</a:t>
            </a:r>
          </a:p>
          <a:p>
            <a:r>
              <a:rPr b="1" dirty="0"/>
              <a:t>I used Python, TensorFlow and </a:t>
            </a:r>
            <a:r>
              <a:rPr b="1" dirty="0" err="1"/>
              <a:t>Keras</a:t>
            </a:r>
            <a:r>
              <a:rPr b="1" dirty="0"/>
              <a:t>, NumPy for the detector and OpenCV for the lung field. Training used two-stage transfer learning, Adam, a class weighted loss and early stopping, on one computer without a GPU.</a:t>
            </a:r>
          </a:p>
          <a:p>
            <a:r>
              <a:rPr b="1" dirty="0"/>
              <a:t>For evaluation I used accuracy, macro precision, recall and F1, the confusion matrix, AUROC for the safeguard, a far probe of 60 synthetic images, latency tests and ten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These are my main results on 1,382 test images. DenseNet121 was best with 85.31 percent and a macro F1 of 0.844</a:t>
            </a:r>
            <a:r>
              <a:rPr lang="en-US" b="1" dirty="0"/>
              <a:t>.</a:t>
            </a:r>
            <a:endParaRPr b="1" dirty="0"/>
          </a:p>
          <a:p>
            <a:r>
              <a:rPr b="1" dirty="0"/>
              <a:t>The chart shows COVID-19 and Normal are almost solved, but viral pneumonia is hard. </a:t>
            </a:r>
          </a:p>
          <a:p>
            <a:r>
              <a:rPr lang="en-US" b="1" dirty="0"/>
              <a:t>DenseNet121 achieved the highest or comparable performance across all classes. Therefore, I selected DenseNet121 for the system.</a:t>
            </a:r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key references I mentioned, numbered as in my thesis: CheXNet and the COVID-19 studies, the out-of-distribution methods of Hendrycks, Lee and Liu, the shortcut learning study by DeGrave, and the DenseNet, EfficientNetV2 and Grad-CAM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very much for your attention. I am happy to answer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chart" Target="../charts/chart1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-1280160" y="2926080"/>
            <a:ext cx="2743200" cy="1920240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824960" y="2926080"/>
            <a:ext cx="2743200" cy="1920240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14264640" cy="457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000" b="0" i="0">
                <a:solidFill>
                  <a:srgbClr val="004AAD"/>
                </a:solidFill>
                <a:latin typeface="League Spartan"/>
              </a:rPr>
              <a:t>EXPLAINABLE DEEP LEARNING FRAMEWORK</a:t>
            </a:r>
          </a:p>
          <a:p>
            <a:pPr algn="ctr">
              <a:spcAft>
                <a:spcPts val="600"/>
              </a:spcAft>
            </a:pPr>
            <a:r>
              <a:rPr sz="5000" b="0" i="0">
                <a:solidFill>
                  <a:srgbClr val="1A1A1A"/>
                </a:solidFill>
                <a:latin typeface="League Spartan"/>
              </a:rPr>
              <a:t>FOR PNEUMONIA DETECTION AND CLASSIFICATION</a:t>
            </a:r>
          </a:p>
          <a:p>
            <a:pPr algn="ctr">
              <a:spcAft>
                <a:spcPts val="600"/>
              </a:spcAft>
            </a:pPr>
            <a:r>
              <a:rPr sz="5000" b="0" i="0">
                <a:solidFill>
                  <a:srgbClr val="1A1A1A"/>
                </a:solidFill>
                <a:latin typeface="League Spartan"/>
              </a:rPr>
              <a:t>USING TRANSFER LEARNING AND GRAD-CAM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7589520"/>
            <a:ext cx="4206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Poppins"/>
              </a:rPr>
              <a:t>Presented By</a:t>
            </a:r>
          </a:p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Poppins"/>
              </a:rPr>
              <a:t>G. C. M. SEWWANDI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7589520"/>
            <a:ext cx="448056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Poppins"/>
              </a:rPr>
              <a:t>Supervised By</a:t>
            </a:r>
          </a:p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Poppins"/>
              </a:rPr>
              <a:t>Ms. R. W. K. T. Rajapaksha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7589520"/>
            <a:ext cx="4206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Poppins"/>
              </a:rPr>
              <a:t>Index No</a:t>
            </a:r>
          </a:p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Poppins"/>
              </a:rPr>
              <a:t>29002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9189720"/>
            <a:ext cx="18288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555555"/>
                </a:solidFill>
                <a:latin typeface="Poppins"/>
              </a:rPr>
              <a:t>Bachelor of Science (Honours) in Computer Science</a:t>
            </a:r>
          </a:p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555555"/>
                </a:solidFill>
                <a:latin typeface="Poppins"/>
              </a:rPr>
              <a:t>Department of Computer and Data Science  |  NSBM Green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0" y="502920"/>
            <a:ext cx="1828800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0" i="0">
                <a:solidFill>
                  <a:srgbClr val="004AAD"/>
                </a:solidFill>
                <a:latin typeface="League Spartan"/>
              </a:rPr>
              <a:t>RESEARCH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664208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FaExclamationTriangl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30552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0280" y="1874519"/>
            <a:ext cx="14996159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 dirty="0">
                <a:solidFill>
                  <a:srgbClr val="004AAD"/>
                </a:solidFill>
                <a:latin typeface="Poppins"/>
              </a:rPr>
              <a:t>Research problem: </a:t>
            </a:r>
            <a:r>
              <a:rPr sz="2100" b="0" i="0" dirty="0">
                <a:solidFill>
                  <a:srgbClr val="1A1A1A"/>
                </a:solidFill>
                <a:latin typeface="Poppins"/>
              </a:rPr>
              <a:t>Pneumonia and other lower respiratory infections killed about 2.18 million people worldwide in 2021 (GBD 2021), yet existing models are mostly binary, offline and unexplained. No real-time tool sorts a chest X-ray into Normal, COVID-19, bacterial and viral pneumonia and shows its evidence with Grad-CAM.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388620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FaLayer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030" y="4126230"/>
            <a:ext cx="480060" cy="480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3886200"/>
            <a:ext cx="3749039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 i="0">
                <a:solidFill>
                  <a:srgbClr val="004AAD"/>
                </a:solidFill>
                <a:latin typeface="Poppins"/>
              </a:rPr>
              <a:t>Only binary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83480"/>
            <a:ext cx="4800600" cy="144020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100" b="0" i="0" dirty="0">
                <a:solidFill>
                  <a:srgbClr val="1A1A1A"/>
                </a:solidFill>
                <a:latin typeface="Poppins"/>
              </a:rPr>
              <a:t>Most systems only say "pneumonia or not"</a:t>
            </a:r>
            <a:r>
              <a:rPr lang="en-US" sz="2100" b="0" i="0" dirty="0">
                <a:solidFill>
                  <a:srgbClr val="1A1A1A"/>
                </a:solidFill>
                <a:latin typeface="Poppins"/>
              </a:rPr>
              <a:t>.</a:t>
            </a:r>
            <a:r>
              <a:rPr sz="2100" b="0" i="0" dirty="0">
                <a:solidFill>
                  <a:srgbClr val="1A1A1A"/>
                </a:solidFill>
                <a:latin typeface="Poppins"/>
              </a:rPr>
              <a:t> They cannot separate bacterial from viral, which decides whether antibiotics are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649202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66560" y="388620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FaBa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590" y="4126230"/>
            <a:ext cx="480060" cy="4800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9560" y="3886200"/>
            <a:ext cx="3749039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 i="0">
                <a:solidFill>
                  <a:srgbClr val="004AAD"/>
                </a:solidFill>
                <a:latin typeface="Poppins"/>
              </a:rPr>
              <a:t>No working real-time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983480"/>
            <a:ext cx="4800600" cy="7615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100" b="0" i="0" dirty="0">
                <a:solidFill>
                  <a:srgbClr val="1A1A1A"/>
                </a:solidFill>
                <a:latin typeface="Poppins"/>
              </a:rPr>
              <a:t>Reported systems stay as offline experiments.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0" y="3611880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90120" y="388620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FaEy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0150" y="4126230"/>
            <a:ext cx="480060" cy="4800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0" y="3886200"/>
            <a:ext cx="3749039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 i="0">
                <a:solidFill>
                  <a:srgbClr val="004AAD"/>
                </a:solidFill>
                <a:latin typeface="Poppins"/>
              </a:rPr>
              <a:t>No trustworthy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90120" y="4983480"/>
            <a:ext cx="4800600" cy="110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100" b="0" i="0" dirty="0">
                <a:solidFill>
                  <a:srgbClr val="1A1A1A"/>
                </a:solidFill>
                <a:latin typeface="Poppins"/>
              </a:rPr>
              <a:t>Doctors cannot see why the model decided, and it looks confident even when it is wrong.</a:t>
            </a:r>
          </a:p>
        </p:txBody>
      </p:sp>
      <p:sp>
        <p:nvSpPr>
          <p:cNvPr id="22" name="Why Rectangle"/>
          <p:cNvSpPr/>
          <p:nvPr/>
        </p:nvSpPr>
        <p:spPr>
          <a:xfrm>
            <a:off x="822960" y="7726679"/>
            <a:ext cx="16642080" cy="16002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Why Text"/>
          <p:cNvSpPr txBox="1"/>
          <p:nvPr/>
        </p:nvSpPr>
        <p:spPr>
          <a:xfrm>
            <a:off x="1143000" y="8157447"/>
            <a:ext cx="16093440" cy="7386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 dirty="0">
                <a:solidFill>
                  <a:srgbClr val="004AAD"/>
                </a:solidFill>
                <a:latin typeface="Poppins"/>
              </a:rPr>
              <a:t>Why it matters: </a:t>
            </a:r>
            <a:r>
              <a:rPr sz="2100" b="0" i="0" dirty="0">
                <a:solidFill>
                  <a:srgbClr val="1A1A1A"/>
                </a:solidFill>
                <a:latin typeface="Poppins"/>
              </a:rPr>
              <a:t>pneumonia must be treated by its cause, but radiologists are scarce outside large hospitals. In rural and low-income areas an expert reading is slow and costly, so treatment is often decided without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102870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512064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League Spartan"/>
              </a:rPr>
              <a:t>MOTIVATION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League Spartan"/>
              </a:rPr>
              <a:t>AND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87383"/>
            <a:ext cx="5120640" cy="626107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2200" b="1" i="0" dirty="0">
                <a:solidFill>
                  <a:srgbClr val="FFFFFF"/>
                </a:solidFill>
                <a:latin typeface="Poppins"/>
              </a:rPr>
              <a:t>Pneumonia </a:t>
            </a:r>
            <a:r>
              <a:rPr sz="2200" b="0" i="0" dirty="0">
                <a:solidFill>
                  <a:srgbClr val="FFFFFF"/>
                </a:solidFill>
                <a:latin typeface="Poppins"/>
              </a:rPr>
              <a:t>is a leading cause of death, hardest on children under five and the elderly.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2200" b="1" i="0" dirty="0">
                <a:solidFill>
                  <a:srgbClr val="FFFFFF"/>
                </a:solidFill>
                <a:latin typeface="Poppins"/>
              </a:rPr>
              <a:t>Cause decides treatment: </a:t>
            </a:r>
            <a:r>
              <a:rPr sz="2200" b="0" i="0" dirty="0">
                <a:solidFill>
                  <a:srgbClr val="FFFFFF"/>
                </a:solidFill>
                <a:latin typeface="Poppins"/>
              </a:rPr>
              <a:t>bacterial needs antibiotics, viral usually does not, COVID-19 also needs isolation.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2200" b="1" i="0" dirty="0">
                <a:solidFill>
                  <a:srgbClr val="FFFFFF"/>
                </a:solidFill>
                <a:latin typeface="Poppins"/>
              </a:rPr>
              <a:t>Chest X-ray </a:t>
            </a:r>
            <a:r>
              <a:rPr sz="2200" b="0" i="0" dirty="0">
                <a:solidFill>
                  <a:srgbClr val="FFFFFF"/>
                </a:solidFill>
                <a:latin typeface="Poppins"/>
              </a:rPr>
              <a:t>is the cheap first-line test, but findings overlap and radiologists are scarce, above all in rural, low-income areas.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2200" b="1" i="0" dirty="0">
                <a:solidFill>
                  <a:srgbClr val="FFFFFF"/>
                </a:solidFill>
                <a:latin typeface="Poppins"/>
              </a:rPr>
              <a:t>What is needed: </a:t>
            </a:r>
            <a:r>
              <a:rPr sz="2200" b="0" i="0" dirty="0">
                <a:solidFill>
                  <a:srgbClr val="FFFFFF"/>
                </a:solidFill>
                <a:latin typeface="Poppins"/>
              </a:rPr>
              <a:t>a real-time four-class tool on ordinary hardware that refuses to answer when unsure and shows what it looked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4AAD"/>
                </a:solidFill>
                <a:latin typeface="Poppins"/>
              </a:rPr>
              <a:t>Limitations of existing work (Table 3.1)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89228"/>
              </p:ext>
            </p:extLst>
          </p:nvPr>
        </p:nvGraphicFramePr>
        <p:xfrm>
          <a:off x="6583680" y="1325880"/>
          <a:ext cx="10881360" cy="4248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Poppins"/>
                        </a:rPr>
                        <a:t>Study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Poppins"/>
                        </a:rPr>
                        <a:t>Classes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Poppins"/>
                        </a:rPr>
                        <a:t>Explainability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Poppins"/>
                        </a:rPr>
                        <a:t>Input check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Poppins"/>
                        </a:rPr>
                        <a:t>Deployed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 dirty="0" err="1">
                          <a:solidFill>
                            <a:srgbClr val="1A1A1A"/>
                          </a:solidFill>
                          <a:latin typeface="Poppins"/>
                        </a:rPr>
                        <a:t>Rajpurkar</a:t>
                      </a:r>
                      <a:r>
                        <a:rPr sz="1700" b="1" dirty="0">
                          <a:solidFill>
                            <a:srgbClr val="1A1A1A"/>
                          </a:solidFill>
                          <a:latin typeface="Poppins"/>
                        </a:rPr>
                        <a:t> et al. 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Pneumonia vs rest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CAM, qualitative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A1A1A"/>
                          </a:solidFill>
                          <a:latin typeface="Poppins"/>
                        </a:rPr>
                        <a:t>Apostolopoulos 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Binary, 3-class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A1A1A"/>
                          </a:solidFill>
                          <a:latin typeface="Poppins"/>
                        </a:rPr>
                        <a:t>Ozturk et al. 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Binary, 3-class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Heatmaps, qualitative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A1A1A"/>
                          </a:solidFill>
                          <a:latin typeface="Poppins"/>
                        </a:rPr>
                        <a:t>Narin et al. 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Binary COVID-19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A1A1A"/>
                          </a:solidFill>
                          <a:latin typeface="Poppins"/>
                        </a:rPr>
                        <a:t>Chowdhury et al. 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Normal, viral, COVID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Score-CAM, qualitative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03580"/>
                          </a:solidFill>
                          <a:latin typeface="Poppins"/>
                        </a:rPr>
                        <a:t>This study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03580"/>
                          </a:solidFill>
                          <a:latin typeface="Poppins"/>
                        </a:rPr>
                        <a:t>Four class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03580"/>
                          </a:solidFill>
                          <a:latin typeface="Poppins"/>
                        </a:rPr>
                        <a:t>Grad-CAM, quantified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03580"/>
                          </a:solidFill>
                          <a:latin typeface="Poppins"/>
                        </a:rPr>
                        <a:t>Mahalanobis, evaluated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003580"/>
                          </a:solidFill>
                          <a:latin typeface="Poppins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5897880"/>
            <a:ext cx="1088136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6903720" y="6903720"/>
            <a:ext cx="1280160" cy="128016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FaCrosshai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59" y="7223759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6035040"/>
            <a:ext cx="8778240" cy="3246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100" b="1" i="0">
                <a:solidFill>
                  <a:srgbClr val="004AAD"/>
                </a:solidFill>
                <a:latin typeface="Poppins"/>
              </a:rPr>
              <a:t>Research gap: </a:t>
            </a:r>
            <a:r>
              <a:rPr sz="2100" b="0" i="0">
                <a:solidFill>
                  <a:srgbClr val="1A1A1A"/>
                </a:solidFill>
                <a:latin typeface="Poppins"/>
              </a:rPr>
              <a:t>no evaluated chest X-ray system delivers real-time four-class decision support with a safeguard against invalid inputs and measured Grad-CAM explanations.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100" b="1" i="0">
                <a:solidFill>
                  <a:srgbClr val="1A1A1A"/>
                </a:solidFill>
                <a:latin typeface="Poppins"/>
              </a:rPr>
              <a:t>No reviewed system reports an input validity metric or an explanation localisation metric.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004AAD"/>
                </a:solidFill>
                <a:latin typeface="League Spartan"/>
              </a:rPr>
              <a:t>AIM, OBJECTIVES AND 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6642080" cy="1143000"/>
          </a:xfrm>
          <a:prstGeom prst="roundRect">
            <a:avLst>
              <a:gd name="adj" fmla="val 6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15910559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League Spartan"/>
              </a:rPr>
              <a:t>AIM  </a:t>
            </a:r>
            <a:r>
              <a:rPr sz="2000" b="0" i="0">
                <a:solidFill>
                  <a:srgbClr val="FFFFFF"/>
                </a:solidFill>
                <a:latin typeface="Poppins"/>
              </a:rPr>
              <a:t>Design, implement and evaluate an explainable, out-of-distribution aware framework for four-class pneumonia classification, delivered as a real-time decision support platform usable where radiologists are scarce.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4AAD"/>
                </a:solidFill>
                <a:latin typeface="Poppins"/>
              </a:rPr>
              <a:t>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1417320" cy="91440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11430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RO1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70332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3703320"/>
            <a:ext cx="5852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Review existing systems (binary, offline, unexplained) and derive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1417320" cy="91440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1430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RO2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84632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4846320"/>
            <a:ext cx="5852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Compare three CNNs for four-class classification on one common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417320" cy="91440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989320"/>
            <a:ext cx="11430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RO3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598932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5989320"/>
            <a:ext cx="5852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Build the OOD safeguard and a real-time web and mobile platform with Grad-CAM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132320"/>
            <a:ext cx="1417320" cy="91440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7132320"/>
            <a:ext cx="11430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RO4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713232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7132320"/>
            <a:ext cx="5852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Evaluate the safeguard, where explanations look, and the response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8275320"/>
            <a:ext cx="1417320" cy="91440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8275320"/>
            <a:ext cx="11430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RO5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8275320"/>
            <a:ext cx="6126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0" y="8275320"/>
            <a:ext cx="5852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Recommend when it suits triage where radiologists are scarce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06324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4AAD"/>
                </a:solidFill>
                <a:latin typeface="Poppins"/>
              </a:rPr>
              <a:t>Research questions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703320"/>
            <a:ext cx="8412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4017779"/>
            <a:ext cx="8046720" cy="115416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700" b="1" i="0" dirty="0">
                <a:solidFill>
                  <a:srgbClr val="004AAD"/>
                </a:solidFill>
                <a:latin typeface="Poppins"/>
              </a:rPr>
              <a:t>Main RQ 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To what extent can an explainable four-class classifier, rather than a binary one, be delivered as a real-time decision support system for settings short of radiologists, and made trustworthy through Grad-CAM and a OOD safeguard?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5669280"/>
            <a:ext cx="8412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0" y="5669280"/>
            <a:ext cx="1188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4AAD"/>
                </a:solidFill>
                <a:latin typeface="League Spartan"/>
              </a:rPr>
              <a:t>RQ1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5669280"/>
            <a:ext cx="6903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Poppins"/>
              </a:rPr>
              <a:t>What performance and per class error structure do the three CNNs achieve on the four-class task?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6565392"/>
            <a:ext cx="8412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0" y="6565392"/>
            <a:ext cx="1188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4AAD"/>
                </a:solidFill>
                <a:latin typeface="League Spartan"/>
              </a:rPr>
              <a:t>RQ2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65392"/>
            <a:ext cx="6903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Poppins"/>
              </a:rPr>
              <a:t>Can inference time signals detect OOD inputs well enough to withhold a diagnosis, and at what cost?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7461504"/>
            <a:ext cx="8412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0" y="7461504"/>
            <a:ext cx="1188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4AAD"/>
                </a:solidFill>
                <a:latin typeface="League Spartan"/>
              </a:rPr>
              <a:t>RQ3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7461504"/>
            <a:ext cx="6903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Poppins"/>
              </a:rPr>
              <a:t>Do Grad-CAM explanations fall on the lungs and on class-relevant regions?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8357616"/>
            <a:ext cx="84124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0" y="8357616"/>
            <a:ext cx="118872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04AAD"/>
                </a:solidFill>
                <a:latin typeface="League Spartan"/>
              </a:rPr>
              <a:t>RQ4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8461319"/>
            <a:ext cx="6903720" cy="61555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 dirty="0">
                <a:solidFill>
                  <a:srgbClr val="1A1A1A"/>
                </a:solidFill>
                <a:latin typeface="Poppins"/>
              </a:rPr>
              <a:t>Can the full system return a diagnosis and its explanation in real time?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004AAD"/>
                </a:solidFill>
                <a:latin typeface="League Spartan"/>
              </a:rPr>
              <a:t>PROPOSED SOLUTION AND RESEARCH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526280"/>
            <a:ext cx="2103120" cy="12344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4526280"/>
            <a:ext cx="1828799" cy="1234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Poppins"/>
              </a:rPr>
              <a:t>Chest X-ray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5138928"/>
            <a:ext cx="50292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11880" y="4343400"/>
            <a:ext cx="2743200" cy="1600200"/>
          </a:xfrm>
          <a:prstGeom prst="roundRect">
            <a:avLst>
              <a:gd name="adj" fmla="val 2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40" y="4343400"/>
            <a:ext cx="246888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Poppins"/>
              </a:rPr>
              <a:t>Trained CNN, one forward pass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400800" y="2761488"/>
            <a:ext cx="594360" cy="237744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86600" y="2194560"/>
            <a:ext cx="2514600" cy="114300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24028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03580"/>
                </a:solidFill>
                <a:latin typeface="Poppins"/>
              </a:rPr>
              <a:t>Penultimate features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46920" y="2761488"/>
            <a:ext cx="36576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0" y="2194560"/>
            <a:ext cx="2514600" cy="1143000"/>
          </a:xfrm>
          <a:prstGeom prst="roundRect">
            <a:avLst>
              <a:gd name="adj" fmla="val 2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60" y="2581393"/>
            <a:ext cx="224028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 dirty="0">
                <a:solidFill>
                  <a:srgbClr val="FFFFFF"/>
                </a:solidFill>
                <a:latin typeface="Poppins"/>
              </a:rPr>
              <a:t>OOD check 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00800" y="5093208"/>
            <a:ext cx="594360" cy="4572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86600" y="4526280"/>
            <a:ext cx="2514600" cy="114300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4526280"/>
            <a:ext cx="224028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03580"/>
                </a:solidFill>
                <a:latin typeface="Poppins"/>
              </a:rPr>
              <a:t>Pre-softmax logits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46920" y="5093208"/>
            <a:ext cx="36576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0" y="4526280"/>
            <a:ext cx="2514600" cy="1143000"/>
          </a:xfrm>
          <a:prstGeom prst="roundRect">
            <a:avLst>
              <a:gd name="adj" fmla="val 2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95560" y="4526280"/>
            <a:ext cx="224028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</a:rPr>
              <a:t>Class probabilities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5138928"/>
            <a:ext cx="594360" cy="2285999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86600" y="6858000"/>
            <a:ext cx="2514600" cy="114300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6858000"/>
            <a:ext cx="224028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03580"/>
                </a:solidFill>
                <a:latin typeface="Poppins"/>
              </a:rPr>
              <a:t>Feature maps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46920" y="7424927"/>
            <a:ext cx="36576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0" y="6858000"/>
            <a:ext cx="2514600" cy="1143000"/>
          </a:xfrm>
          <a:prstGeom prst="roundRect">
            <a:avLst>
              <a:gd name="adj" fmla="val 2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60" y="6858000"/>
            <a:ext cx="224028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Poppins"/>
              </a:rPr>
              <a:t>Grad-CAM + lung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8275320"/>
            <a:ext cx="11795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900" b="0" i="0">
                <a:solidFill>
                  <a:srgbClr val="555555"/>
                </a:solidFill>
                <a:latin typeface="Poppins"/>
              </a:rPr>
              <a:t>If the input is out of distribution the diagnosis is </a:t>
            </a:r>
            <a:r>
              <a:rPr sz="1900" b="1" i="0">
                <a:solidFill>
                  <a:srgbClr val="C0392B"/>
                </a:solidFill>
                <a:latin typeface="Poppins"/>
              </a:rPr>
              <a:t>withheld</a:t>
            </a:r>
            <a:r>
              <a:rPr sz="1900" b="0" i="0">
                <a:solidFill>
                  <a:srgbClr val="555555"/>
                </a:solidFill>
                <a:latin typeface="Poppins"/>
              </a:rPr>
              <a:t>; otherwise the class is shown with a lung-restricted heatmap and its in-lung share.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0" y="1783080"/>
            <a:ext cx="4389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0" i="0">
                <a:solidFill>
                  <a:srgbClr val="004AAD"/>
                </a:solidFill>
                <a:latin typeface="League Spartan"/>
              </a:rPr>
              <a:t>CONTRIBUTIONS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075920" y="251460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13213080" y="2816352"/>
            <a:ext cx="914400" cy="91440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FaChartB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0" y="3044952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218920" y="2606040"/>
            <a:ext cx="3200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4AAD"/>
                </a:solidFill>
                <a:latin typeface="Poppins"/>
              </a:rPr>
              <a:t>Per class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18920" y="3081528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Poppins"/>
              </a:rPr>
              <a:t>for the four-class task on one common split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075920" y="420624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13213080" y="4507992"/>
            <a:ext cx="914400" cy="91440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FaShield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0" y="4736592"/>
            <a:ext cx="457200" cy="4572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218920" y="4297679"/>
            <a:ext cx="3200400" cy="3847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solidFill>
                  <a:srgbClr val="004AAD"/>
                </a:solidFill>
                <a:latin typeface="Poppins"/>
              </a:rPr>
              <a:t>safeguard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075920" y="589788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213080" y="6199632"/>
            <a:ext cx="914400" cy="91440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Picture 40" descr="Fa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0" y="6428232"/>
            <a:ext cx="457200" cy="4572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218920" y="5989320"/>
            <a:ext cx="3200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4AAD"/>
                </a:solidFill>
                <a:latin typeface="Poppins"/>
              </a:rPr>
              <a:t>Measured XAI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218920" y="6464808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dirty="0">
                <a:solidFill>
                  <a:srgbClr val="1A1A1A"/>
                </a:solidFill>
                <a:latin typeface="Poppins"/>
              </a:rPr>
              <a:t>logit Grad-CAM in the lungs, in-lung share disclosed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075920" y="7589520"/>
            <a:ext cx="4389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13213080" y="7891272"/>
            <a:ext cx="914400" cy="91440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6" name="Picture 45" descr="FaLanguag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1680" y="8119872"/>
            <a:ext cx="457200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218920" y="7680960"/>
            <a:ext cx="3200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04AAD"/>
                </a:solidFill>
                <a:latin typeface="Poppins"/>
              </a:rPr>
              <a:t>Working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18920" y="8156448"/>
            <a:ext cx="320040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dirty="0">
                <a:solidFill>
                  <a:srgbClr val="1A1A1A"/>
                </a:solidFill>
                <a:latin typeface="Poppins"/>
              </a:rPr>
              <a:t>about 3 s per scan, </a:t>
            </a:r>
            <a:r>
              <a:rPr lang="en-US" sz="1600" dirty="0">
                <a:solidFill>
                  <a:srgbClr val="1A1A1A"/>
                </a:solidFill>
                <a:latin typeface="Poppins"/>
              </a:rPr>
              <a:t>with</a:t>
            </a:r>
            <a:r>
              <a:rPr sz="1600" b="0" i="0" dirty="0">
                <a:solidFill>
                  <a:srgbClr val="1A1A1A"/>
                </a:solidFill>
                <a:latin typeface="Poppins"/>
              </a:rPr>
              <a:t>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0" i="0" dirty="0">
                <a:solidFill>
                  <a:srgbClr val="004AAD"/>
                </a:solidFill>
                <a:latin typeface="League Spartan"/>
              </a:rPr>
              <a:t>RESEARCH METHODOLOGY AND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 dirty="0">
                <a:solidFill>
                  <a:srgbClr val="004AAD"/>
                </a:solidFill>
                <a:latin typeface="League Spartan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Poppins"/>
              </a:rPr>
              <a:t>Problem identification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5768" y="3044952"/>
            <a:ext cx="192023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79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79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4AAD"/>
                </a:solidFill>
                <a:latin typeface="League Spartan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Poppins"/>
              </a:rPr>
              <a:t>Literature synthesis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18888" y="3044952"/>
            <a:ext cx="192024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4AAD"/>
                </a:solidFill>
                <a:latin typeface="League Spartan"/>
              </a:rP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Poppins"/>
              </a:rPr>
              <a:t>Data audit and split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22008" y="3044952"/>
            <a:ext cx="192023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0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4AAD"/>
                </a:solidFill>
                <a:latin typeface="League Spartan"/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Poppins"/>
              </a:rPr>
              <a:t>Train three CNNs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25128" y="3044952"/>
            <a:ext cx="192024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40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4AAD"/>
                </a:solidFill>
                <a:latin typeface="League Spartan"/>
              </a:rPr>
              <a:t>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Poppins"/>
              </a:rPr>
              <a:t>Select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128248" y="3044952"/>
            <a:ext cx="192024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338560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004AAD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38560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League Spartan"/>
              </a:rPr>
              <a:t>M6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171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Poppins"/>
              </a:rPr>
              <a:t>OOD calibration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231368" y="3044952"/>
            <a:ext cx="192024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441680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441680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004AAD"/>
                </a:solidFill>
                <a:latin typeface="League Spartan"/>
              </a:rPr>
              <a:t>M7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14832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Poppins"/>
              </a:rPr>
              <a:t>Platform integration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334488" y="3044952"/>
            <a:ext cx="192024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5544799" y="224028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004AAD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544799" y="2286000"/>
            <a:ext cx="187451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League Spartan"/>
              </a:rPr>
              <a:t>M8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17951" y="2926080"/>
            <a:ext cx="1737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886200"/>
            <a:ext cx="16642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 i="1">
                <a:solidFill>
                  <a:srgbClr val="555555"/>
                </a:solidFill>
                <a:latin typeface="Poppins"/>
              </a:rPr>
              <a:t>Artefact frozen after M6; the test partition is first opened at M8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526280"/>
            <a:ext cx="7955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05840" y="475488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9" name="Picture 38" descr="FaMobile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" y="4994910"/>
            <a:ext cx="480060" cy="4800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148840" y="4599432"/>
            <a:ext cx="6492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4AAD"/>
                </a:solidFill>
                <a:latin typeface="Poppins"/>
              </a:rPr>
              <a:t>Presentation 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120640"/>
            <a:ext cx="6492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Poppins"/>
              </a:rPr>
              <a:t>Next.js + TypeScript PWA: upload, results, history, admin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800600" y="5961888"/>
            <a:ext cx="0" cy="210312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22960" y="6190488"/>
            <a:ext cx="7955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05840" y="6419088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5" name="Picture 44" descr="Fa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" y="6659118"/>
            <a:ext cx="480060" cy="4800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48840" y="6263640"/>
            <a:ext cx="6492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4AAD"/>
                </a:solidFill>
                <a:latin typeface="Poppins"/>
              </a:rPr>
              <a:t>Application tier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6784848"/>
            <a:ext cx="6492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Poppins"/>
              </a:rPr>
              <a:t>PHP REST API: token auth, roles, MySQL, trilingual PDF report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800600" y="7626096"/>
            <a:ext cx="0" cy="210312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2960" y="7854696"/>
            <a:ext cx="7955279" cy="14173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3810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05840" y="8083296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1" name="Picture 50" descr="Fa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870" y="8323325"/>
            <a:ext cx="480060" cy="4800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148840" y="7927848"/>
            <a:ext cx="6492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4AAD"/>
                </a:solidFill>
                <a:latin typeface="Poppins"/>
              </a:rPr>
              <a:t>Inference tier (contribution)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8840" y="8449056"/>
            <a:ext cx="6492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Poppins"/>
              </a:rPr>
              <a:t>FastAPI + TensorFlow: OOD detector, logit Grad-CAM, lung field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26880" y="4526280"/>
            <a:ext cx="2377440" cy="914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64040" y="452628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Poppins"/>
              </a:rPr>
              <a:t>Upload X-ray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750040" y="4983480"/>
            <a:ext cx="36576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2161520" y="4526280"/>
            <a:ext cx="2651760" cy="91440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298680" y="4526280"/>
            <a:ext cx="23774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Poppins"/>
              </a:rPr>
              <a:t>Backbone forward pass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3487400" y="5458968"/>
            <a:ext cx="0" cy="210312"/>
          </a:xfrm>
          <a:prstGeom prst="line">
            <a:avLst/>
          </a:prstGeom>
          <a:ln w="31750">
            <a:solidFill>
              <a:srgbClr val="004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9692640" y="5669280"/>
            <a:ext cx="3794760" cy="0"/>
          </a:xfrm>
          <a:prstGeom prst="line">
            <a:avLst/>
          </a:prstGeom>
          <a:ln w="31750">
            <a:solidFill>
              <a:srgbClr val="004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92640" y="5669280"/>
            <a:ext cx="0" cy="2331720"/>
          </a:xfrm>
          <a:prstGeom prst="line">
            <a:avLst/>
          </a:prstGeom>
          <a:ln w="31750">
            <a:solidFill>
              <a:srgbClr val="004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692640" y="6263640"/>
            <a:ext cx="274320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12680" y="5897880"/>
            <a:ext cx="3108960" cy="73152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49840" y="5897880"/>
            <a:ext cx="28346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03580"/>
                </a:solidFill>
                <a:latin typeface="Poppins"/>
              </a:rPr>
              <a:t>features (256-d)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3167360" y="6263640"/>
            <a:ext cx="365760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3578840" y="5897880"/>
            <a:ext cx="3886200" cy="73152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3716000" y="6094363"/>
            <a:ext cx="361188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600" b="0" i="0" dirty="0">
                <a:solidFill>
                  <a:srgbClr val="FFFFFF"/>
                </a:solidFill>
                <a:latin typeface="Poppins"/>
              </a:rPr>
              <a:t>OOD</a:t>
            </a:r>
            <a:endParaRPr sz="1600" b="0" i="0" dirty="0">
              <a:solidFill>
                <a:srgbClr val="FFFFFF"/>
              </a:solidFill>
              <a:latin typeface="Poppins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9692640" y="7132320"/>
            <a:ext cx="274320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0012680" y="6766560"/>
            <a:ext cx="3108960" cy="73152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149840" y="6766560"/>
            <a:ext cx="28346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03580"/>
                </a:solidFill>
                <a:latin typeface="Poppins"/>
              </a:rPr>
              <a:t>logits = fW + b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3167360" y="7132320"/>
            <a:ext cx="365760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3578840" y="6766560"/>
            <a:ext cx="3886200" cy="73152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3716000" y="6766560"/>
            <a:ext cx="36118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softmax, energy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692640" y="8001000"/>
            <a:ext cx="274320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10012680" y="7635240"/>
            <a:ext cx="3108960" cy="731520"/>
          </a:xfrm>
          <a:prstGeom prst="roundRect">
            <a:avLst>
              <a:gd name="adj" fmla="val 30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7635240"/>
            <a:ext cx="28346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03580"/>
                </a:solidFill>
                <a:latin typeface="Poppins"/>
              </a:rPr>
              <a:t>feature maps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3167360" y="8001000"/>
            <a:ext cx="365760" cy="0"/>
          </a:xfrm>
          <a:prstGeom prst="line">
            <a:avLst/>
          </a:prstGeom>
          <a:ln w="31750">
            <a:solidFill>
              <a:srgbClr val="004A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13578840" y="7635240"/>
            <a:ext cx="3886200" cy="731520"/>
          </a:xfrm>
          <a:prstGeom prst="roundRect">
            <a:avLst>
              <a:gd name="adj" fmla="val 3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3716000" y="7635240"/>
            <a:ext cx="36118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Grad-CAM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326880" y="8595360"/>
            <a:ext cx="8138160" cy="822960"/>
          </a:xfrm>
          <a:prstGeom prst="roundRect">
            <a:avLst>
              <a:gd name="adj" fmla="val 30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464040" y="8595360"/>
            <a:ext cx="78638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Poppins"/>
              </a:rPr>
              <a:t>Decision: </a:t>
            </a:r>
            <a:r>
              <a:rPr sz="1600" b="0" i="0">
                <a:solidFill>
                  <a:srgbClr val="C0392B"/>
                </a:solidFill>
                <a:latin typeface="Poppins"/>
              </a:rPr>
              <a:t>OOD, withhold with reason; else class, heatmap, in-lung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004AAD"/>
                </a:solidFill>
                <a:latin typeface="League Spartan"/>
              </a:rPr>
              <a:t>IMPLEMENTATION AND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766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4AAD"/>
                </a:solidFill>
                <a:latin typeface="Poppins"/>
              </a:rPr>
              <a:t>Dataset (Table 4.1)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31720"/>
          <a:ext cx="6766560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oppins"/>
                        </a:rPr>
                        <a:t>Class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oppins"/>
                        </a:rPr>
                        <a:t>Total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oppins"/>
                        </a:rPr>
                        <a:t>Train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oppins"/>
                        </a:rPr>
                        <a:t>Val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oppins"/>
                        </a:rPr>
                        <a:t>Test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Poppins"/>
                        </a:rPr>
                        <a:t>COVID-19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1,281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897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192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192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Poppins"/>
                        </a:rPr>
                        <a:t>Normal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3,271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2,289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491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491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Poppins"/>
                        </a:rPr>
                        <a:t>Bacterial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3,001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2,101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450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450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Poppins"/>
                        </a:rPr>
                        <a:t>Viral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1,656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1,159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248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Poppins"/>
                        </a:rPr>
                        <a:t>249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3580"/>
                          </a:solidFill>
                          <a:latin typeface="Poppins"/>
                        </a:rPr>
                        <a:t>Total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3580"/>
                          </a:solidFill>
                          <a:latin typeface="Poppins"/>
                        </a:rPr>
                        <a:t>9,209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3580"/>
                          </a:solidFill>
                          <a:latin typeface="Poppins"/>
                        </a:rPr>
                        <a:t>6,446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3580"/>
                          </a:solidFill>
                          <a:latin typeface="Poppins"/>
                        </a:rPr>
                        <a:t>1,381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3580"/>
                          </a:solidFill>
                          <a:latin typeface="Poppins"/>
                        </a:rPr>
                        <a:t>1,382</a:t>
                      </a:r>
                    </a:p>
                  </a:txBody>
                  <a:tcPr marL="109728" marR="109728" anchor="ctr">
                    <a:solidFill>
                      <a:srgbClr val="E8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43600"/>
            <a:ext cx="6766560" cy="18336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292608" algn="l">
              <a:lnSpc>
                <a:spcPct val="102000"/>
              </a:lnSpc>
              <a:spcAft>
                <a:spcPts val="10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 dirty="0">
                <a:solidFill>
                  <a:srgbClr val="1A1A1A"/>
                </a:solidFill>
                <a:latin typeface="Poppins"/>
              </a:rPr>
              <a:t>Curated public collection, de-identified</a:t>
            </a:r>
          </a:p>
          <a:p>
            <a:pPr marL="347472" indent="-292608" algn="l">
              <a:lnSpc>
                <a:spcPct val="102000"/>
              </a:lnSpc>
              <a:spcAft>
                <a:spcPts val="10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 dirty="0">
                <a:solidFill>
                  <a:srgbClr val="1A1A1A"/>
                </a:solidFill>
                <a:latin typeface="Poppins"/>
              </a:rPr>
              <a:t>Audit removed duplicate, corrupt and low resolution files</a:t>
            </a:r>
          </a:p>
          <a:p>
            <a:pPr marL="347472" indent="-292608" algn="l">
              <a:lnSpc>
                <a:spcPct val="102000"/>
              </a:lnSpc>
              <a:spcAft>
                <a:spcPts val="10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 dirty="0">
                <a:solidFill>
                  <a:srgbClr val="1A1A1A"/>
                </a:solidFill>
                <a:latin typeface="Poppins"/>
              </a:rPr>
              <a:t>Stratified 70 / 15 / 15 split, reused by all three models and by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4572000" cy="758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874519"/>
            <a:ext cx="4114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004AAD"/>
                </a:solidFill>
                <a:latin typeface="Poppins"/>
              </a:rPr>
              <a:t>Tools and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514600"/>
            <a:ext cx="4114800" cy="6675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Python, TensorFlow / Keras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NumPy (detector), OpenCV (lung field)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FastAPI, PHP REST, MySQL, Next.js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Two-stage transfer learning: frozen head, then fine-tune (LR 0.00001)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Adam, class weighted cross entropy, early stopping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Batch 32 / 24 / 16; input 224 or 300 px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One workstation, no GPU accelerator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75920" y="1737360"/>
            <a:ext cx="4389120" cy="758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50240" y="1874519"/>
            <a:ext cx="3931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004AAD"/>
                </a:solidFill>
                <a:latin typeface="Poppins"/>
              </a:rP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2514600"/>
            <a:ext cx="3931920" cy="6675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Accuracy, macro precision, recall, F1, confusion matrix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AUROC, retention and flag rate for OOD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Held-out test set: 1,382 images, never used in training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Far probe: 60 synthetic images (noise, gradients, solid colour)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End to end latency over ten uploads</a:t>
            </a:r>
          </a:p>
          <a:p>
            <a:pPr marL="347472" indent="-292608" algn="l">
              <a:lnSpc>
                <a:spcPct val="100000"/>
              </a:lnSpc>
              <a:spcAft>
                <a:spcPts val="1200"/>
              </a:spcAft>
              <a:buClr>
                <a:srgbClr val="004AAD"/>
              </a:buClr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oppins"/>
              </a:rPr>
              <a:t>Ten functional and non functional test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 dirty="0">
                <a:solidFill>
                  <a:srgbClr val="004AAD"/>
                </a:solidFill>
                <a:latin typeface="League Spartan"/>
              </a:rPr>
              <a:t>RESULTS AND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66042"/>
              </p:ext>
            </p:extLst>
          </p:nvPr>
        </p:nvGraphicFramePr>
        <p:xfrm>
          <a:off x="822960" y="1691640"/>
          <a:ext cx="7616889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99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Poppins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Poppins"/>
                        </a:rPr>
                        <a:t>Accuracy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Poppins"/>
                        </a:rPr>
                        <a:t>Macro F1</a:t>
                      </a: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oppins"/>
                        </a:rPr>
                        <a:t>Macro recall</a:t>
                      </a:r>
                      <a:endParaRPr sz="1700" b="1" dirty="0">
                        <a:solidFill>
                          <a:srgbClr val="FFFFFF"/>
                        </a:solidFill>
                        <a:latin typeface="Poppins"/>
                      </a:endParaRPr>
                    </a:p>
                  </a:txBody>
                  <a:tcPr marL="109728" marR="109728" anchor="ctr"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A1A1A"/>
                          </a:solidFill>
                          <a:latin typeface="Poppins"/>
                        </a:rPr>
                        <a:t>DenseNet121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85.31%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0.844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0.845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A1A1A"/>
                          </a:solidFill>
                          <a:latin typeface="Poppins"/>
                        </a:rPr>
                        <a:t>EfficientNetV2B3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84.30%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0.828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0.825</a:t>
                      </a:r>
                    </a:p>
                  </a:txBody>
                  <a:tcPr marL="109728" marR="109728" anchor="ctr"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A1A1A"/>
                          </a:solidFill>
                          <a:latin typeface="Poppins"/>
                        </a:rPr>
                        <a:t>EfficientNetV2S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80.54%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Poppins"/>
                        </a:rPr>
                        <a:t>0.798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1A1A1A"/>
                          </a:solidFill>
                          <a:latin typeface="Poppins"/>
                        </a:rPr>
                        <a:t>0.812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4572000"/>
            <a:ext cx="758952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System Results Card"/>
          <p:cNvSpPr/>
          <p:nvPr/>
        </p:nvSpPr>
        <p:spPr>
          <a:xfrm>
            <a:off x="8778240" y="1691640"/>
            <a:ext cx="5120640" cy="5513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ystem Results Text"/>
          <p:cNvSpPr txBox="1"/>
          <p:nvPr/>
        </p:nvSpPr>
        <p:spPr>
          <a:xfrm>
            <a:off x="8961120" y="1783080"/>
            <a:ext cx="4800600" cy="40087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1" i="0" dirty="0">
                <a:solidFill>
                  <a:srgbClr val="1A1A1A"/>
                </a:solidFill>
                <a:latin typeface="Poppins"/>
              </a:rPr>
              <a:t>System results 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1" i="0" dirty="0">
                <a:solidFill>
                  <a:srgbClr val="1A1A1A"/>
                </a:solidFill>
                <a:latin typeface="Poppins"/>
              </a:rPr>
              <a:t>✓ PDF report: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generated for every scan, with the Grad-CAM and result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1" i="0" dirty="0">
                <a:solidFill>
                  <a:srgbClr val="1A1A1A"/>
                </a:solidFill>
                <a:latin typeface="Poppins"/>
              </a:rPr>
              <a:t>✓ Three languages: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report in English, Sinhala and Tamil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1" i="0" dirty="0">
                <a:solidFill>
                  <a:srgbClr val="1A1A1A"/>
                </a:solidFill>
                <a:latin typeface="Poppins"/>
              </a:rPr>
              <a:t>✓ Prediction history: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every scan stored and reopened with its result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1" i="0" dirty="0">
                <a:solidFill>
                  <a:srgbClr val="1A1A1A"/>
                </a:solidFill>
                <a:latin typeface="Poppins"/>
              </a:rPr>
              <a:t>✓ Withheld diagnosis: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invalid images get no diagnosis, also in history and report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1" i="0" dirty="0">
                <a:solidFill>
                  <a:srgbClr val="1A1A1A"/>
                </a:solidFill>
                <a:latin typeface="Poppins"/>
              </a:rPr>
              <a:t>✓ Secure access: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role-based login; other users’ scans refused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1" i="0" dirty="0">
                <a:solidFill>
                  <a:srgbClr val="1A1A1A"/>
                </a:solidFill>
                <a:latin typeface="Poppins"/>
              </a:rPr>
              <a:t>✓ Real time: </a:t>
            </a:r>
            <a:r>
              <a:rPr sz="1700" b="0" i="0" dirty="0">
                <a:solidFill>
                  <a:srgbClr val="1A1A1A"/>
                </a:solidFill>
                <a:latin typeface="Poppins"/>
              </a:rPr>
              <a:t>median 3.18 s per request</a:t>
            </a:r>
            <a:r>
              <a:rPr lang="en-US" sz="1700" dirty="0">
                <a:solidFill>
                  <a:srgbClr val="1A1A1A"/>
                </a:solidFill>
                <a:latin typeface="Poppins"/>
              </a:rPr>
              <a:t>.</a:t>
            </a:r>
            <a:endParaRPr sz="1700" b="0" i="0" dirty="0">
              <a:solidFill>
                <a:srgbClr val="1A1A1A"/>
              </a:solidFill>
              <a:latin typeface="Poppins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60120" y="4663440"/>
          <a:ext cx="73152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14264640" y="1691640"/>
            <a:ext cx="3200400" cy="548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xray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0" y="1828800"/>
            <a:ext cx="2926080" cy="2137664"/>
          </a:xfrm>
          <a:prstGeom prst="rect">
            <a:avLst/>
          </a:prstGeom>
        </p:spPr>
      </p:pic>
      <p:pic>
        <p:nvPicPr>
          <p:cNvPr id="21" name="Picture 20" descr="gradcam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1800" y="4069080"/>
            <a:ext cx="2926080" cy="21054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264640" y="621792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 i="1">
                <a:solidFill>
                  <a:srgbClr val="555555"/>
                </a:solidFill>
                <a:latin typeface="Poppins"/>
              </a:rPr>
              <a:t>Normal, 99.9%: in-lung share 0.350, caution shown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 dirty="0">
                <a:solidFill>
                  <a:srgbClr val="004AAD"/>
                </a:solidFill>
                <a:latin typeface="League Spartan"/>
              </a:rPr>
              <a:t>DISCUSSION, CONCLUSION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92024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FaLayerGro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310" y="2160270"/>
            <a:ext cx="480060" cy="480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4560" y="1920240"/>
            <a:ext cx="38862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4AAD"/>
                </a:solidFill>
                <a:latin typeface="Poppins"/>
              </a:rPr>
              <a:t>Good at screening, weak at the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8920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 dirty="0">
                <a:solidFill>
                  <a:srgbClr val="1A1A1A"/>
                </a:solidFill>
                <a:latin typeface="Poppins"/>
              </a:rPr>
              <a:t>COVID-19 and Normal are almost always right. Most mistakes (69-76%) mix up bacterial and viral pneumonia.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9164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720840" y="192024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FaShieldA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870" y="2160270"/>
            <a:ext cx="480060" cy="4800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920240"/>
            <a:ext cx="38862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4AAD"/>
                </a:solidFill>
                <a:latin typeface="Poppins"/>
              </a:rPr>
              <a:t>Says "no" to wrong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17520"/>
            <a:ext cx="48920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Poppins"/>
              </a:rPr>
              <a:t>A non-X-ray image gets no diagnosis. The check uses the model's own features, with no retraining.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169164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344400" y="1920240"/>
            <a:ext cx="960120" cy="960120"/>
          </a:xfrm>
          <a:prstGeom prst="ellipse">
            <a:avLst/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Fa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4430" y="2160270"/>
            <a:ext cx="480060" cy="4800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41680" y="1920240"/>
            <a:ext cx="38862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4AAD"/>
                </a:solidFill>
                <a:latin typeface="Poppins"/>
              </a:rPr>
              <a:t>Shows where it looked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0" y="3017520"/>
            <a:ext cx="48920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Poppins"/>
              </a:rPr>
              <a:t>Grad-CAM shows the lung areas used, and the system says how much attention was inside the lungs.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66360"/>
            <a:ext cx="16642080" cy="777240"/>
          </a:xfrm>
          <a:prstGeom prst="roundRect">
            <a:avLst>
              <a:gd name="adj" fmla="val 40000"/>
            </a:avLst>
          </a:prstGeom>
          <a:solidFill>
            <a:srgbClr val="004AAD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66360"/>
            <a:ext cx="16367759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Poppins"/>
              </a:rPr>
              <a:t>Answer to the main RQ: </a:t>
            </a:r>
            <a:r>
              <a:rPr sz="1900" b="0" i="0" dirty="0">
                <a:solidFill>
                  <a:srgbClr val="FFFFFF"/>
                </a:solidFill>
                <a:latin typeface="Poppins"/>
              </a:rPr>
              <a:t>yes, with limits. A real-time helper for doctors where radiologists are few, not a replacement for a doctor.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6217920"/>
            <a:ext cx="8092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6309360"/>
            <a:ext cx="7589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0392B"/>
                </a:solidFill>
                <a:latin typeface="Poppins"/>
              </a:rPr>
              <a:t>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858000"/>
            <a:ext cx="7589520" cy="81047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292608" algn="l">
              <a:lnSpc>
                <a:spcPct val="100000"/>
              </a:lnSpc>
              <a:spcAft>
                <a:spcPts val="800"/>
              </a:spcAft>
              <a:buClr>
                <a:srgbClr val="004AAD"/>
              </a:buClr>
              <a:buFont typeface="Arial"/>
              <a:buChar char="•"/>
            </a:pPr>
            <a:r>
              <a:rPr sz="2000" b="0" i="0" dirty="0">
                <a:solidFill>
                  <a:srgbClr val="1A1A1A"/>
                </a:solidFill>
                <a:latin typeface="Poppins"/>
              </a:rPr>
              <a:t>Only one public dataset and one training run per model</a:t>
            </a:r>
          </a:p>
          <a:p>
            <a:pPr marL="347472" indent="-292608" algn="l">
              <a:lnSpc>
                <a:spcPct val="100000"/>
              </a:lnSpc>
              <a:spcAft>
                <a:spcPts val="800"/>
              </a:spcAft>
              <a:buClr>
                <a:srgbClr val="004AAD"/>
              </a:buClr>
              <a:buFont typeface="Arial"/>
              <a:buChar char="•"/>
            </a:pPr>
            <a:r>
              <a:rPr sz="2000" b="0" i="0" dirty="0">
                <a:solidFill>
                  <a:srgbClr val="1A1A1A"/>
                </a:solidFill>
                <a:latin typeface="Poppins"/>
              </a:rPr>
              <a:t>Grad-CAM not checked by a radiologist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6217920"/>
            <a:ext cx="8092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4AAD"/>
            </a:solidFill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6309360"/>
            <a:ext cx="75895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4AAD"/>
                </a:solidFill>
                <a:latin typeface="Poppins"/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858000"/>
            <a:ext cx="7589520" cy="12208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292608" algn="l">
              <a:lnSpc>
                <a:spcPct val="100000"/>
              </a:lnSpc>
              <a:spcAft>
                <a:spcPts val="800"/>
              </a:spcAft>
              <a:buClr>
                <a:srgbClr val="004AAD"/>
              </a:buClr>
              <a:buFont typeface="Arial"/>
              <a:buChar char="•"/>
            </a:pPr>
            <a:r>
              <a:rPr sz="2000" b="0" i="0" dirty="0">
                <a:solidFill>
                  <a:srgbClr val="1A1A1A"/>
                </a:solidFill>
                <a:latin typeface="Poppins"/>
              </a:rPr>
              <a:t>Test with real X-rays of other diseases and real photos</a:t>
            </a:r>
          </a:p>
          <a:p>
            <a:pPr marL="347472" indent="-292608" algn="l">
              <a:lnSpc>
                <a:spcPct val="100000"/>
              </a:lnSpc>
              <a:spcAft>
                <a:spcPts val="800"/>
              </a:spcAft>
              <a:buClr>
                <a:srgbClr val="004AAD"/>
              </a:buClr>
              <a:buFont typeface="Arial"/>
              <a:buChar char="•"/>
            </a:pPr>
            <a:r>
              <a:rPr sz="2000" b="0" i="0" dirty="0">
                <a:solidFill>
                  <a:srgbClr val="1A1A1A"/>
                </a:solidFill>
                <a:latin typeface="Poppins"/>
              </a:rPr>
              <a:t>Improve the bacterial vs viral separation</a:t>
            </a:r>
          </a:p>
          <a:p>
            <a:pPr marL="347472" indent="-292608" algn="l">
              <a:lnSpc>
                <a:spcPct val="100000"/>
              </a:lnSpc>
              <a:spcAft>
                <a:spcPts val="800"/>
              </a:spcAft>
              <a:buClr>
                <a:srgbClr val="004AAD"/>
              </a:buClr>
              <a:buFont typeface="Arial"/>
              <a:buChar char="•"/>
            </a:pPr>
            <a:r>
              <a:rPr sz="2000" b="0" i="0" dirty="0">
                <a:solidFill>
                  <a:srgbClr val="1A1A1A"/>
                </a:solidFill>
                <a:latin typeface="Poppins"/>
              </a:rPr>
              <a:t>Train on lung-only images; test in real hospitals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502920"/>
            <a:ext cx="166420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0" i="0">
                <a:solidFill>
                  <a:srgbClr val="004AAD"/>
                </a:solidFill>
                <a:latin typeface="League Spartan"/>
              </a:rPr>
              <a:t>KEY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6642080" cy="758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508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7955279" cy="7223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[1] E. J. Topol, "High-performance medicine," Nature Medicine, 2019.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[7] M. E. H. Chowdhury et al., "Can AI help in screening viral and COVID-19 pneumonia?," IEEE Access, 2020.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[9] P. Rajpurkar et al., "CheXNet: Radiologist-level pneumonia detection on chest X-rays," arXiv, 2017.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[10] A. Nguyen et al., "Deep neural networks are easily fooled," CVPR, 2015.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[12] I. D. Apostolopoulos and T. A. Mpesiana, "Covid-19: Automatic detection from X-ray images," PESM, 2020.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[13] T. Ozturk et al., "Automated detection of COVID-19 cases using deep neural networks," CBM, 2020.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[14] A. Narin et al., "Automatic detection of coronavirus disease (COVID-19)," PAA, 2021.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[15] D. Hendrycks and K. Gimpel, "A baseline for detecting misclassified and OOD examples," ICLR, 2017.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011680"/>
            <a:ext cx="7772400" cy="7223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[16] K. Lee et al., "A simple unified framework for detecting OOD samples," NeurIPS, 2018.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[17] W. Liu et al., "Energy-based out-of-distribution detection," NeurIPS, 2020.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[19] A. J. DeGrave et al., "AI for radiographic COVID-19 detection selects shortcuts over signal," Nat. Mach. Intell., 2021.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[24] G. Huang et al., "Densely connected convolutional networks," CVPR, 2017.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[26] M. Tan and Q. V. Le, "EfficientNetV2: Smaller models and faster training," ICML, 2021.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[30] R. R. Selvaraju et al., "Grad-CAM: Visual explanations from deep networks," ICCV, 2017.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Poppins"/>
              </a:rPr>
              <a:t>[33] L. O. Teixeira et al., "Impact of lung segmentation on the diagnosis and explanation of COVID-19," Sensors,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464040"/>
            <a:ext cx="16642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 i="1">
                <a:solidFill>
                  <a:srgbClr val="555555"/>
                </a:solidFill>
                <a:latin typeface="Poppins"/>
              </a:rPr>
              <a:t>Numbering follows the thesis reference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3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-868680" y="4142232"/>
            <a:ext cx="5248656" cy="1335024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569696" y="4142232"/>
            <a:ext cx="5120640" cy="1335024"/>
          </a:xfrm>
          <a:prstGeom prst="roundRect">
            <a:avLst>
              <a:gd name="adj" fmla="val 50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3931920"/>
            <a:ext cx="8778240" cy="1737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7400" b="0" i="0">
                <a:solidFill>
                  <a:srgbClr val="004AAD"/>
                </a:solidFill>
                <a:latin typeface="League Spartan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5623560"/>
            <a:ext cx="877824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1A1A1A"/>
                </a:solidFill>
                <a:latin typeface="Poppin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2633</Words>
  <Application>Microsoft Office PowerPoint</Application>
  <PresentationFormat>Custom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Poppins</vt:lpstr>
      <vt:lpstr>League Spartan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GCM Sewwandi</cp:lastModifiedBy>
  <cp:revision>10</cp:revision>
  <dcterms:created xsi:type="dcterms:W3CDTF">2013-01-27T09:14:16Z</dcterms:created>
  <dcterms:modified xsi:type="dcterms:W3CDTF">2026-10-07T11:55:59Z</dcterms:modified>
  <cp:category/>
</cp:coreProperties>
</file>