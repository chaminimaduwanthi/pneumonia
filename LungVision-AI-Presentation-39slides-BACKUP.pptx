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82880" cy="685800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818120" y="0"/>
            <a:ext cx="4370832" cy="6858000"/>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result_gradcam.png"/>
          <p:cNvPicPr>
            <a:picLocks noChangeAspect="1"/>
          </p:cNvPicPr>
          <p:nvPr/>
        </p:nvPicPr>
        <p:blipFill>
          <a:blip r:embed="rId2"/>
          <a:stretch>
            <a:fillRect/>
          </a:stretch>
        </p:blipFill>
        <p:spPr>
          <a:xfrm>
            <a:off x="7818120" y="2351193"/>
            <a:ext cx="4370832" cy="2155614"/>
          </a:xfrm>
          <a:prstGeom prst="rect">
            <a:avLst/>
          </a:prstGeom>
          <a:effectLst/>
        </p:spPr>
      </p:pic>
      <p:pic>
        <p:nvPicPr>
          <p:cNvPr id="6" name="Picture 5" descr="nsbm_logo.png"/>
          <p:cNvPicPr>
            <a:picLocks noChangeAspect="1"/>
          </p:cNvPicPr>
          <p:nvPr/>
        </p:nvPicPr>
        <p:blipFill>
          <a:blip r:embed="rId3"/>
          <a:stretch>
            <a:fillRect/>
          </a:stretch>
        </p:blipFill>
        <p:spPr>
          <a:xfrm>
            <a:off x="1081061" y="475488"/>
            <a:ext cx="1266878" cy="566928"/>
          </a:xfrm>
          <a:prstGeom prst="rect">
            <a:avLst/>
          </a:prstGeom>
          <a:effectLst/>
        </p:spPr>
      </p:pic>
      <p:sp>
        <p:nvSpPr>
          <p:cNvPr id="7" name="TextBox 6"/>
          <p:cNvSpPr txBox="1"/>
          <p:nvPr/>
        </p:nvSpPr>
        <p:spPr>
          <a:xfrm>
            <a:off x="914400" y="1207008"/>
            <a:ext cx="6583680" cy="274320"/>
          </a:xfrm>
          <a:prstGeom prst="rect">
            <a:avLst/>
          </a:prstGeom>
          <a:noFill/>
        </p:spPr>
        <p:txBody>
          <a:bodyPr wrap="square" anchor="t" lIns="0" rIns="0" tIns="0" bIns="0">
            <a:spAutoFit/>
          </a:bodyPr>
          <a:lstStyle/>
          <a:p>
            <a:pPr algn="l">
              <a:lnSpc>
                <a:spcPct val="118000"/>
              </a:lnSpc>
              <a:spcAft>
                <a:spcPts val="600"/>
              </a:spcAft>
            </a:pPr>
            <a:r>
              <a:rPr sz="1100" b="1" i="0">
                <a:solidFill>
                  <a:srgbClr val="7FC3D8"/>
                </a:solidFill>
                <a:latin typeface="Segoe UI"/>
              </a:rPr>
              <a:t>BSc (Hons) COMPUTER SCIENCE  ·  FINAL YEAR RESEARCH PROJECT</a:t>
            </a:r>
          </a:p>
        </p:txBody>
      </p:sp>
      <p:sp>
        <p:nvSpPr>
          <p:cNvPr id="8" name="TextBox 7"/>
          <p:cNvSpPr txBox="1"/>
          <p:nvPr/>
        </p:nvSpPr>
        <p:spPr>
          <a:xfrm>
            <a:off x="914400" y="1700784"/>
            <a:ext cx="6583680" cy="2377440"/>
          </a:xfrm>
          <a:prstGeom prst="rect">
            <a:avLst/>
          </a:prstGeom>
          <a:noFill/>
        </p:spPr>
        <p:txBody>
          <a:bodyPr wrap="square" anchor="t" lIns="0" rIns="0" tIns="0" bIns="0">
            <a:spAutoFit/>
          </a:bodyPr>
          <a:lstStyle/>
          <a:p>
            <a:pPr algn="l">
              <a:lnSpc>
                <a:spcPct val="110000"/>
              </a:lnSpc>
              <a:spcAft>
                <a:spcPts val="600"/>
              </a:spcAft>
            </a:pPr>
            <a:r>
              <a:rPr sz="2900" b="1" i="0">
                <a:solidFill>
                  <a:srgbClr val="FFFFFF"/>
                </a:solidFill>
                <a:latin typeface="Segoe UI"/>
              </a:rPr>
              <a:t>An Explainable and Out of Distribution Aware Deep Learning Framework for Four Class Pneumonia Classification from Chest Radiographs</a:t>
            </a:r>
          </a:p>
        </p:txBody>
      </p:sp>
      <p:sp>
        <p:nvSpPr>
          <p:cNvPr id="9" name="Rectangle 8"/>
          <p:cNvSpPr/>
          <p:nvPr/>
        </p:nvSpPr>
        <p:spPr>
          <a:xfrm>
            <a:off x="914400" y="4133087"/>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4443984"/>
            <a:ext cx="6583680" cy="1280160"/>
          </a:xfrm>
          <a:prstGeom prst="rect">
            <a:avLst/>
          </a:prstGeom>
          <a:noFill/>
        </p:spPr>
        <p:txBody>
          <a:bodyPr wrap="square" anchor="t" lIns="0" rIns="0" tIns="0" bIns="0">
            <a:spAutoFit/>
          </a:bodyPr>
          <a:lstStyle/>
          <a:p>
            <a:pPr algn="l">
              <a:lnSpc>
                <a:spcPct val="118000"/>
              </a:lnSpc>
              <a:spcAft>
                <a:spcPts val="300"/>
              </a:spcAft>
            </a:pPr>
            <a:r>
              <a:rPr sz="1700" b="1" i="0">
                <a:solidFill>
                  <a:srgbClr val="FFFFFF"/>
                </a:solidFill>
                <a:latin typeface="Segoe UI"/>
              </a:rPr>
              <a:t>G. C. M. Sewwandi</a:t>
            </a:r>
          </a:p>
          <a:p>
            <a:pPr algn="l">
              <a:lnSpc>
                <a:spcPct val="118000"/>
              </a:lnSpc>
              <a:spcAft>
                <a:spcPts val="300"/>
              </a:spcAft>
            </a:pPr>
            <a:r>
              <a:rPr sz="1300" b="0" i="0">
                <a:solidFill>
                  <a:srgbClr val="B8D2E2"/>
                </a:solidFill>
                <a:latin typeface="Segoe UI"/>
              </a:rPr>
              <a:t>Student ID 29002</a:t>
            </a:r>
          </a:p>
          <a:p>
            <a:pPr algn="l">
              <a:lnSpc>
                <a:spcPct val="118000"/>
              </a:lnSpc>
              <a:spcAft>
                <a:spcPts val="300"/>
              </a:spcAft>
            </a:pPr>
            <a:r>
              <a:rPr sz="1200" b="0" i="0">
                <a:solidFill>
                  <a:srgbClr val="8FB2C8"/>
                </a:solidFill>
                <a:latin typeface="Segoe UI"/>
              </a:rPr>
              <a:t>Department of Computing  ·  Faculty of Computing</a:t>
            </a:r>
          </a:p>
          <a:p>
            <a:pPr algn="l">
              <a:lnSpc>
                <a:spcPct val="118000"/>
              </a:lnSpc>
              <a:spcAft>
                <a:spcPts val="300"/>
              </a:spcAft>
            </a:pPr>
            <a:r>
              <a:rPr sz="1200" b="0" i="0">
                <a:solidFill>
                  <a:srgbClr val="8FB2C8"/>
                </a:solidFill>
                <a:latin typeface="Segoe UI"/>
              </a:rPr>
              <a:t>NSBM Green University, Homagama, Sri Lanka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AGENDA</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What this talk covers</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2</a:t>
            </a:r>
          </a:p>
        </p:txBody>
      </p:sp>
      <p:sp>
        <p:nvSpPr>
          <p:cNvPr id="8" name="Rounded Rectangle 7"/>
          <p:cNvSpPr/>
          <p:nvPr/>
        </p:nvSpPr>
        <p:spPr>
          <a:xfrm>
            <a:off x="658368" y="1709928"/>
            <a:ext cx="3466490" cy="1755648"/>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709928"/>
            <a:ext cx="40640" cy="175564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892808"/>
            <a:ext cx="3009290" cy="365760"/>
          </a:xfrm>
          <a:prstGeom prst="rect">
            <a:avLst/>
          </a:prstGeom>
          <a:noFill/>
        </p:spPr>
        <p:txBody>
          <a:bodyPr wrap="square" anchor="t" lIns="0" rIns="0" tIns="0" bIns="0">
            <a:spAutoFit/>
          </a:bodyPr>
          <a:lstStyle/>
          <a:p>
            <a:pPr algn="l">
              <a:lnSpc>
                <a:spcPct val="118000"/>
              </a:lnSpc>
              <a:spcAft>
                <a:spcPts val="600"/>
              </a:spcAft>
            </a:pPr>
            <a:r>
              <a:rPr sz="2200" b="1" i="0">
                <a:solidFill>
                  <a:srgbClr val="147D9B"/>
                </a:solidFill>
                <a:latin typeface="Segoe UI"/>
              </a:rPr>
              <a:t>01</a:t>
            </a:r>
          </a:p>
        </p:txBody>
      </p:sp>
      <p:sp>
        <p:nvSpPr>
          <p:cNvPr id="11" name="TextBox 10"/>
          <p:cNvSpPr txBox="1"/>
          <p:nvPr/>
        </p:nvSpPr>
        <p:spPr>
          <a:xfrm>
            <a:off x="914400" y="2313432"/>
            <a:ext cx="3009290" cy="320040"/>
          </a:xfrm>
          <a:prstGeom prst="rect">
            <a:avLst/>
          </a:prstGeom>
          <a:noFill/>
        </p:spPr>
        <p:txBody>
          <a:bodyPr wrap="square" anchor="t" lIns="0" rIns="0" tIns="0" bIns="0">
            <a:spAutoFit/>
          </a:bodyPr>
          <a:lstStyle/>
          <a:p>
            <a:pPr algn="l">
              <a:lnSpc>
                <a:spcPct val="118000"/>
              </a:lnSpc>
              <a:spcAft>
                <a:spcPts val="600"/>
              </a:spcAft>
            </a:pPr>
            <a:r>
              <a:rPr sz="1500" b="1" i="0">
                <a:solidFill>
                  <a:srgbClr val="0B2B4A"/>
                </a:solidFill>
                <a:latin typeface="Segoe UI"/>
              </a:rPr>
              <a:t>The problem</a:t>
            </a:r>
          </a:p>
        </p:txBody>
      </p:sp>
      <p:sp>
        <p:nvSpPr>
          <p:cNvPr id="12" name="TextBox 11"/>
          <p:cNvSpPr txBox="1"/>
          <p:nvPr/>
        </p:nvSpPr>
        <p:spPr>
          <a:xfrm>
            <a:off x="914400" y="2642616"/>
            <a:ext cx="3009290" cy="731520"/>
          </a:xfrm>
          <a:prstGeom prst="rect">
            <a:avLst/>
          </a:prstGeom>
          <a:noFill/>
        </p:spPr>
        <p:txBody>
          <a:bodyPr wrap="square" anchor="t" lIns="0" rIns="0" tIns="0" bIns="0">
            <a:spAutoFit/>
          </a:bodyPr>
          <a:lstStyle/>
          <a:p>
            <a:pPr algn="l">
              <a:lnSpc>
                <a:spcPct val="118000"/>
              </a:lnSpc>
              <a:spcAft>
                <a:spcPts val="600"/>
              </a:spcAft>
            </a:pPr>
            <a:r>
              <a:rPr sz="1100" b="0" i="0">
                <a:solidFill>
                  <a:srgbClr val="243B53"/>
                </a:solidFill>
                <a:latin typeface="Segoe UI"/>
              </a:rPr>
              <a:t>Why an accurate classifier is still not a safe one</a:t>
            </a:r>
          </a:p>
        </p:txBody>
      </p:sp>
      <p:sp>
        <p:nvSpPr>
          <p:cNvPr id="13" name="Rounded Rectangle 12"/>
          <p:cNvSpPr/>
          <p:nvPr/>
        </p:nvSpPr>
        <p:spPr>
          <a:xfrm>
            <a:off x="4362602" y="1709928"/>
            <a:ext cx="3466490" cy="1755648"/>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62602" y="1709928"/>
            <a:ext cx="40640" cy="175564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618634" y="1892808"/>
            <a:ext cx="3009290" cy="365760"/>
          </a:xfrm>
          <a:prstGeom prst="rect">
            <a:avLst/>
          </a:prstGeom>
          <a:noFill/>
        </p:spPr>
        <p:txBody>
          <a:bodyPr wrap="square" anchor="t" lIns="0" rIns="0" tIns="0" bIns="0">
            <a:spAutoFit/>
          </a:bodyPr>
          <a:lstStyle/>
          <a:p>
            <a:pPr algn="l">
              <a:lnSpc>
                <a:spcPct val="118000"/>
              </a:lnSpc>
              <a:spcAft>
                <a:spcPts val="600"/>
              </a:spcAft>
            </a:pPr>
            <a:r>
              <a:rPr sz="2200" b="1" i="0">
                <a:solidFill>
                  <a:srgbClr val="147D9B"/>
                </a:solidFill>
                <a:latin typeface="Segoe UI"/>
              </a:rPr>
              <a:t>02</a:t>
            </a:r>
          </a:p>
        </p:txBody>
      </p:sp>
      <p:sp>
        <p:nvSpPr>
          <p:cNvPr id="16" name="TextBox 15"/>
          <p:cNvSpPr txBox="1"/>
          <p:nvPr/>
        </p:nvSpPr>
        <p:spPr>
          <a:xfrm>
            <a:off x="4618634" y="2313432"/>
            <a:ext cx="3009290" cy="320040"/>
          </a:xfrm>
          <a:prstGeom prst="rect">
            <a:avLst/>
          </a:prstGeom>
          <a:noFill/>
        </p:spPr>
        <p:txBody>
          <a:bodyPr wrap="square" anchor="t" lIns="0" rIns="0" tIns="0" bIns="0">
            <a:spAutoFit/>
          </a:bodyPr>
          <a:lstStyle/>
          <a:p>
            <a:pPr algn="l">
              <a:lnSpc>
                <a:spcPct val="118000"/>
              </a:lnSpc>
              <a:spcAft>
                <a:spcPts val="600"/>
              </a:spcAft>
            </a:pPr>
            <a:r>
              <a:rPr sz="1500" b="1" i="0">
                <a:solidFill>
                  <a:srgbClr val="0B2B4A"/>
                </a:solidFill>
                <a:latin typeface="Segoe UI"/>
              </a:rPr>
              <a:t>Design and method</a:t>
            </a:r>
          </a:p>
        </p:txBody>
      </p:sp>
      <p:sp>
        <p:nvSpPr>
          <p:cNvPr id="17" name="TextBox 16"/>
          <p:cNvSpPr txBox="1"/>
          <p:nvPr/>
        </p:nvSpPr>
        <p:spPr>
          <a:xfrm>
            <a:off x="4618634" y="2642616"/>
            <a:ext cx="3009290" cy="731520"/>
          </a:xfrm>
          <a:prstGeom prst="rect">
            <a:avLst/>
          </a:prstGeom>
          <a:noFill/>
        </p:spPr>
        <p:txBody>
          <a:bodyPr wrap="square" anchor="t" lIns="0" rIns="0" tIns="0" bIns="0">
            <a:spAutoFit/>
          </a:bodyPr>
          <a:lstStyle/>
          <a:p>
            <a:pPr algn="l">
              <a:lnSpc>
                <a:spcPct val="118000"/>
              </a:lnSpc>
              <a:spcAft>
                <a:spcPts val="600"/>
              </a:spcAft>
            </a:pPr>
            <a:r>
              <a:rPr sz="1100" b="0" i="0">
                <a:solidFill>
                  <a:srgbClr val="243B53"/>
                </a:solidFill>
                <a:latin typeface="Segoe UI"/>
              </a:rPr>
              <a:t>Design science, the data, and the three components that carry the contribution</a:t>
            </a:r>
          </a:p>
        </p:txBody>
      </p:sp>
      <p:sp>
        <p:nvSpPr>
          <p:cNvPr id="18" name="Rounded Rectangle 17"/>
          <p:cNvSpPr/>
          <p:nvPr/>
        </p:nvSpPr>
        <p:spPr>
          <a:xfrm>
            <a:off x="8066836" y="1709928"/>
            <a:ext cx="3466490" cy="1755648"/>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66836" y="1709928"/>
            <a:ext cx="40640" cy="175564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22868" y="1892808"/>
            <a:ext cx="3009290" cy="365760"/>
          </a:xfrm>
          <a:prstGeom prst="rect">
            <a:avLst/>
          </a:prstGeom>
          <a:noFill/>
        </p:spPr>
        <p:txBody>
          <a:bodyPr wrap="square" anchor="t" lIns="0" rIns="0" tIns="0" bIns="0">
            <a:spAutoFit/>
          </a:bodyPr>
          <a:lstStyle/>
          <a:p>
            <a:pPr algn="l">
              <a:lnSpc>
                <a:spcPct val="118000"/>
              </a:lnSpc>
              <a:spcAft>
                <a:spcPts val="600"/>
              </a:spcAft>
            </a:pPr>
            <a:r>
              <a:rPr sz="2200" b="1" i="0">
                <a:solidFill>
                  <a:srgbClr val="147D9B"/>
                </a:solidFill>
                <a:latin typeface="Segoe UI"/>
              </a:rPr>
              <a:t>03</a:t>
            </a:r>
          </a:p>
        </p:txBody>
      </p:sp>
      <p:sp>
        <p:nvSpPr>
          <p:cNvPr id="21" name="TextBox 20"/>
          <p:cNvSpPr txBox="1"/>
          <p:nvPr/>
        </p:nvSpPr>
        <p:spPr>
          <a:xfrm>
            <a:off x="8322868" y="2313432"/>
            <a:ext cx="3009290" cy="320040"/>
          </a:xfrm>
          <a:prstGeom prst="rect">
            <a:avLst/>
          </a:prstGeom>
          <a:noFill/>
        </p:spPr>
        <p:txBody>
          <a:bodyPr wrap="square" anchor="t" lIns="0" rIns="0" tIns="0" bIns="0">
            <a:spAutoFit/>
          </a:bodyPr>
          <a:lstStyle/>
          <a:p>
            <a:pPr algn="l">
              <a:lnSpc>
                <a:spcPct val="118000"/>
              </a:lnSpc>
              <a:spcAft>
                <a:spcPts val="600"/>
              </a:spcAft>
            </a:pPr>
            <a:r>
              <a:rPr sz="1500" b="1" i="0">
                <a:solidFill>
                  <a:srgbClr val="0B2B4A"/>
                </a:solidFill>
                <a:latin typeface="Segoe UI"/>
              </a:rPr>
              <a:t>The platform</a:t>
            </a:r>
          </a:p>
        </p:txBody>
      </p:sp>
      <p:sp>
        <p:nvSpPr>
          <p:cNvPr id="22" name="TextBox 21"/>
          <p:cNvSpPr txBox="1"/>
          <p:nvPr/>
        </p:nvSpPr>
        <p:spPr>
          <a:xfrm>
            <a:off x="8322868" y="2642616"/>
            <a:ext cx="3009290" cy="731520"/>
          </a:xfrm>
          <a:prstGeom prst="rect">
            <a:avLst/>
          </a:prstGeom>
          <a:noFill/>
        </p:spPr>
        <p:txBody>
          <a:bodyPr wrap="square" anchor="t" lIns="0" rIns="0" tIns="0" bIns="0">
            <a:spAutoFit/>
          </a:bodyPr>
          <a:lstStyle/>
          <a:p>
            <a:pPr algn="l">
              <a:lnSpc>
                <a:spcPct val="118000"/>
              </a:lnSpc>
              <a:spcAft>
                <a:spcPts val="600"/>
              </a:spcAft>
            </a:pPr>
            <a:r>
              <a:rPr sz="1100" b="0" i="0">
                <a:solidFill>
                  <a:srgbClr val="243B53"/>
                </a:solidFill>
                <a:latin typeface="Segoe UI"/>
              </a:rPr>
              <a:t>The delivered system, screen by screen</a:t>
            </a:r>
          </a:p>
        </p:txBody>
      </p:sp>
      <p:sp>
        <p:nvSpPr>
          <p:cNvPr id="23" name="Rounded Rectangle 22"/>
          <p:cNvSpPr/>
          <p:nvPr/>
        </p:nvSpPr>
        <p:spPr>
          <a:xfrm>
            <a:off x="658368" y="3703320"/>
            <a:ext cx="3466490" cy="1755648"/>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3703320"/>
            <a:ext cx="40640" cy="175564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4400" y="3886200"/>
            <a:ext cx="3009290" cy="365760"/>
          </a:xfrm>
          <a:prstGeom prst="rect">
            <a:avLst/>
          </a:prstGeom>
          <a:noFill/>
        </p:spPr>
        <p:txBody>
          <a:bodyPr wrap="square" anchor="t" lIns="0" rIns="0" tIns="0" bIns="0">
            <a:spAutoFit/>
          </a:bodyPr>
          <a:lstStyle/>
          <a:p>
            <a:pPr algn="l">
              <a:lnSpc>
                <a:spcPct val="118000"/>
              </a:lnSpc>
              <a:spcAft>
                <a:spcPts val="600"/>
              </a:spcAft>
            </a:pPr>
            <a:r>
              <a:rPr sz="2200" b="1" i="0">
                <a:solidFill>
                  <a:srgbClr val="147D9B"/>
                </a:solidFill>
                <a:latin typeface="Segoe UI"/>
              </a:rPr>
              <a:t>04</a:t>
            </a:r>
          </a:p>
        </p:txBody>
      </p:sp>
      <p:sp>
        <p:nvSpPr>
          <p:cNvPr id="26" name="TextBox 25"/>
          <p:cNvSpPr txBox="1"/>
          <p:nvPr/>
        </p:nvSpPr>
        <p:spPr>
          <a:xfrm>
            <a:off x="914400" y="4306824"/>
            <a:ext cx="3009290" cy="320040"/>
          </a:xfrm>
          <a:prstGeom prst="rect">
            <a:avLst/>
          </a:prstGeom>
          <a:noFill/>
        </p:spPr>
        <p:txBody>
          <a:bodyPr wrap="square" anchor="t" lIns="0" rIns="0" tIns="0" bIns="0">
            <a:spAutoFit/>
          </a:bodyPr>
          <a:lstStyle/>
          <a:p>
            <a:pPr algn="l">
              <a:lnSpc>
                <a:spcPct val="118000"/>
              </a:lnSpc>
              <a:spcAft>
                <a:spcPts val="600"/>
              </a:spcAft>
            </a:pPr>
            <a:r>
              <a:rPr sz="1500" b="1" i="0">
                <a:solidFill>
                  <a:srgbClr val="0B2B4A"/>
                </a:solidFill>
                <a:latin typeface="Segoe UI"/>
              </a:rPr>
              <a:t>Evidence</a:t>
            </a:r>
          </a:p>
        </p:txBody>
      </p:sp>
      <p:sp>
        <p:nvSpPr>
          <p:cNvPr id="27" name="TextBox 26"/>
          <p:cNvSpPr txBox="1"/>
          <p:nvPr/>
        </p:nvSpPr>
        <p:spPr>
          <a:xfrm>
            <a:off x="914400" y="4636008"/>
            <a:ext cx="3009290" cy="731520"/>
          </a:xfrm>
          <a:prstGeom prst="rect">
            <a:avLst/>
          </a:prstGeom>
          <a:noFill/>
        </p:spPr>
        <p:txBody>
          <a:bodyPr wrap="square" anchor="t" lIns="0" rIns="0" tIns="0" bIns="0">
            <a:spAutoFit/>
          </a:bodyPr>
          <a:lstStyle/>
          <a:p>
            <a:pPr algn="l">
              <a:lnSpc>
                <a:spcPct val="118000"/>
              </a:lnSpc>
              <a:spcAft>
                <a:spcPts val="600"/>
              </a:spcAft>
            </a:pPr>
            <a:r>
              <a:rPr sz="1100" b="0" i="0">
                <a:solidFill>
                  <a:srgbClr val="243B53"/>
                </a:solidFill>
                <a:latin typeface="Segoe UI"/>
              </a:rPr>
              <a:t>Classification, input validity, explanation and system testing</a:t>
            </a:r>
          </a:p>
        </p:txBody>
      </p:sp>
      <p:sp>
        <p:nvSpPr>
          <p:cNvPr id="28" name="Rounded Rectangle 27"/>
          <p:cNvSpPr/>
          <p:nvPr/>
        </p:nvSpPr>
        <p:spPr>
          <a:xfrm>
            <a:off x="4362602" y="3703320"/>
            <a:ext cx="3466490" cy="1755648"/>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362602" y="3703320"/>
            <a:ext cx="40640" cy="175564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618634" y="3886200"/>
            <a:ext cx="3009290" cy="365760"/>
          </a:xfrm>
          <a:prstGeom prst="rect">
            <a:avLst/>
          </a:prstGeom>
          <a:noFill/>
        </p:spPr>
        <p:txBody>
          <a:bodyPr wrap="square" anchor="t" lIns="0" rIns="0" tIns="0" bIns="0">
            <a:spAutoFit/>
          </a:bodyPr>
          <a:lstStyle/>
          <a:p>
            <a:pPr algn="l">
              <a:lnSpc>
                <a:spcPct val="118000"/>
              </a:lnSpc>
              <a:spcAft>
                <a:spcPts val="600"/>
              </a:spcAft>
            </a:pPr>
            <a:r>
              <a:rPr sz="2200" b="1" i="0">
                <a:solidFill>
                  <a:srgbClr val="147D9B"/>
                </a:solidFill>
                <a:latin typeface="Segoe UI"/>
              </a:rPr>
              <a:t>05</a:t>
            </a:r>
          </a:p>
        </p:txBody>
      </p:sp>
      <p:sp>
        <p:nvSpPr>
          <p:cNvPr id="31" name="TextBox 30"/>
          <p:cNvSpPr txBox="1"/>
          <p:nvPr/>
        </p:nvSpPr>
        <p:spPr>
          <a:xfrm>
            <a:off x="4618634" y="4306824"/>
            <a:ext cx="3009290" cy="320040"/>
          </a:xfrm>
          <a:prstGeom prst="rect">
            <a:avLst/>
          </a:prstGeom>
          <a:noFill/>
        </p:spPr>
        <p:txBody>
          <a:bodyPr wrap="square" anchor="t" lIns="0" rIns="0" tIns="0" bIns="0">
            <a:spAutoFit/>
          </a:bodyPr>
          <a:lstStyle/>
          <a:p>
            <a:pPr algn="l">
              <a:lnSpc>
                <a:spcPct val="118000"/>
              </a:lnSpc>
              <a:spcAft>
                <a:spcPts val="600"/>
              </a:spcAft>
            </a:pPr>
            <a:r>
              <a:rPr sz="1500" b="1" i="0">
                <a:solidFill>
                  <a:srgbClr val="0B2B4A"/>
                </a:solidFill>
                <a:latin typeface="Segoe UI"/>
              </a:rPr>
              <a:t>Conclusions</a:t>
            </a:r>
          </a:p>
        </p:txBody>
      </p:sp>
      <p:sp>
        <p:nvSpPr>
          <p:cNvPr id="32" name="TextBox 31"/>
          <p:cNvSpPr txBox="1"/>
          <p:nvPr/>
        </p:nvSpPr>
        <p:spPr>
          <a:xfrm>
            <a:off x="4618634" y="4636008"/>
            <a:ext cx="3009290" cy="731520"/>
          </a:xfrm>
          <a:prstGeom prst="rect">
            <a:avLst/>
          </a:prstGeom>
          <a:noFill/>
        </p:spPr>
        <p:txBody>
          <a:bodyPr wrap="square" anchor="t" lIns="0" rIns="0" tIns="0" bIns="0">
            <a:spAutoFit/>
          </a:bodyPr>
          <a:lstStyle/>
          <a:p>
            <a:pPr algn="l">
              <a:lnSpc>
                <a:spcPct val="118000"/>
              </a:lnSpc>
              <a:spcAft>
                <a:spcPts val="600"/>
              </a:spcAft>
            </a:pPr>
            <a:r>
              <a:rPr sz="1100" b="0" i="0">
                <a:solidFill>
                  <a:srgbClr val="243B53"/>
                </a:solidFill>
                <a:latin typeface="Segoe UI"/>
              </a:rPr>
              <a:t>What the evidence supports, what it does not, and what comes next</a:t>
            </a:r>
          </a:p>
        </p:txBody>
      </p:sp>
      <p:sp>
        <p:nvSpPr>
          <p:cNvPr id="33" name="Rounded Rectangle 32"/>
          <p:cNvSpPr/>
          <p:nvPr/>
        </p:nvSpPr>
        <p:spPr>
          <a:xfrm>
            <a:off x="658368" y="5577840"/>
            <a:ext cx="10874959" cy="566928"/>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58368" y="5577840"/>
            <a:ext cx="40640" cy="566928"/>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96112" y="5696712"/>
            <a:ext cx="10372039" cy="329184"/>
          </a:xfrm>
          <a:prstGeom prst="rect">
            <a:avLst/>
          </a:prstGeom>
          <a:noFill/>
        </p:spPr>
        <p:txBody>
          <a:bodyPr wrap="square" anchor="t" lIns="0" rIns="0" tIns="0" bIns="0">
            <a:spAutoFit/>
          </a:bodyPr>
          <a:lstStyle/>
          <a:p>
            <a:pPr algn="l">
              <a:lnSpc>
                <a:spcPct val="118000"/>
              </a:lnSpc>
              <a:spcAft>
                <a:spcPts val="300"/>
              </a:spcAft>
            </a:pPr>
            <a:r>
              <a:rPr sz="1150" b="0" i="0">
                <a:solidFill>
                  <a:srgbClr val="0E5A72"/>
                </a:solidFill>
                <a:latin typeface="Segoe UI"/>
              </a:rPr>
              <a:t>The contribution sits between the forward pass and the interface: the system decides whether it is entitled to answer before it answers.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1463040" cy="457200"/>
          </a:xfrm>
          <a:prstGeom prst="rect">
            <a:avLst/>
          </a:prstGeom>
          <a:noFill/>
        </p:spPr>
        <p:txBody>
          <a:bodyPr wrap="square" anchor="t" lIns="0" rIns="0" tIns="0" bIns="0">
            <a:spAutoFit/>
          </a:bodyPr>
          <a:lstStyle/>
          <a:p>
            <a:pPr algn="l">
              <a:lnSpc>
                <a:spcPct val="118000"/>
              </a:lnSpc>
              <a:spcAft>
                <a:spcPts val="600"/>
              </a:spcAft>
            </a:pPr>
            <a:r>
              <a:rPr sz="1300" b="1" i="0">
                <a:solidFill>
                  <a:srgbClr val="7FC3D8"/>
                </a:solidFill>
                <a:latin typeface="Segoe UI"/>
              </a:rPr>
              <a:t>01</a:t>
            </a:r>
          </a:p>
        </p:txBody>
      </p:sp>
      <p:sp>
        <p:nvSpPr>
          <p:cNvPr id="5" name="TextBox 4"/>
          <p:cNvSpPr txBox="1"/>
          <p:nvPr/>
        </p:nvSpPr>
        <p:spPr>
          <a:xfrm>
            <a:off x="1051560" y="2331720"/>
            <a:ext cx="8778240" cy="1005840"/>
          </a:xfrm>
          <a:prstGeom prst="rect">
            <a:avLst/>
          </a:prstGeom>
          <a:noFill/>
        </p:spPr>
        <p:txBody>
          <a:bodyPr wrap="square" anchor="t" lIns="0" rIns="0" tIns="0" bIns="0">
            <a:spAutoFit/>
          </a:bodyPr>
          <a:lstStyle/>
          <a:p>
            <a:pPr algn="l">
              <a:lnSpc>
                <a:spcPct val="102000"/>
              </a:lnSpc>
              <a:spcAft>
                <a:spcPts val="600"/>
              </a:spcAft>
            </a:pPr>
            <a:r>
              <a:rPr sz="4000" b="1" i="0">
                <a:solidFill>
                  <a:srgbClr val="FFFFFF"/>
                </a:solidFill>
                <a:latin typeface="Segoe UI"/>
              </a:rPr>
              <a:t>The problem</a:t>
            </a:r>
          </a:p>
        </p:txBody>
      </p:sp>
      <p:sp>
        <p:nvSpPr>
          <p:cNvPr id="6" name="TextBox 5"/>
          <p:cNvSpPr txBox="1"/>
          <p:nvPr/>
        </p:nvSpPr>
        <p:spPr>
          <a:xfrm>
            <a:off x="1051560" y="3520440"/>
            <a:ext cx="7680960" cy="731520"/>
          </a:xfrm>
          <a:prstGeom prst="rect">
            <a:avLst/>
          </a:prstGeom>
          <a:noFill/>
        </p:spPr>
        <p:txBody>
          <a:bodyPr wrap="square" anchor="t" lIns="0" rIns="0" tIns="0" bIns="0">
            <a:spAutoFit/>
          </a:bodyPr>
          <a:lstStyle/>
          <a:p>
            <a:pPr algn="l">
              <a:lnSpc>
                <a:spcPct val="118000"/>
              </a:lnSpc>
              <a:spcAft>
                <a:spcPts val="600"/>
              </a:spcAft>
            </a:pPr>
            <a:r>
              <a:rPr sz="1500" b="0" i="0">
                <a:solidFill>
                  <a:srgbClr val="B8D2E2"/>
                </a:solidFill>
                <a:latin typeface="Segoe UI"/>
              </a:rPr>
              <a:t>Capability is no longer the binding constraint in chest radiograph decision support. Safety in deployment is.</a:t>
            </a:r>
          </a:p>
        </p:txBody>
      </p:sp>
      <p:sp>
        <p:nvSpPr>
          <p:cNvPr id="7" name="Rounded Rectangle 6"/>
          <p:cNvSpPr/>
          <p:nvPr/>
        </p:nvSpPr>
        <p:spPr>
          <a:xfrm>
            <a:off x="1051560" y="4306824"/>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8448" y="4224528"/>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Pneumonia aetiology drives different treatment</a:t>
            </a:r>
          </a:p>
        </p:txBody>
      </p:sp>
      <p:sp>
        <p:nvSpPr>
          <p:cNvPr id="9" name="Rounded Rectangle 8"/>
          <p:cNvSpPr/>
          <p:nvPr/>
        </p:nvSpPr>
        <p:spPr>
          <a:xfrm>
            <a:off x="1051560" y="4636008"/>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8448" y="4553712"/>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Most published systems are binary and closed world</a:t>
            </a:r>
          </a:p>
        </p:txBody>
      </p:sp>
      <p:sp>
        <p:nvSpPr>
          <p:cNvPr id="11" name="Rounded Rectangle 10"/>
          <p:cNvSpPr/>
          <p:nvPr/>
        </p:nvSpPr>
        <p:spPr>
          <a:xfrm>
            <a:off x="1051560" y="4965192"/>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8448" y="4882896"/>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A softmax classifier cannot decline to answer</a:t>
            </a:r>
          </a:p>
        </p:txBody>
      </p:sp>
      <p:sp>
        <p:nvSpPr>
          <p:cNvPr id="13" name="TextBox 12"/>
          <p:cNvSpPr txBox="1"/>
          <p:nvPr/>
        </p:nvSpPr>
        <p:spPr>
          <a:xfrm>
            <a:off x="10728655" y="6144768"/>
            <a:ext cx="822960" cy="274320"/>
          </a:xfrm>
          <a:prstGeom prst="rect">
            <a:avLst/>
          </a:prstGeom>
          <a:noFill/>
        </p:spPr>
        <p:txBody>
          <a:bodyPr wrap="square" anchor="t" lIns="0" rIns="0" tIns="0" bIns="0">
            <a:spAutoFit/>
          </a:bodyPr>
          <a:lstStyle/>
          <a:p>
            <a:pPr algn="r">
              <a:lnSpc>
                <a:spcPct val="118000"/>
              </a:lnSpc>
              <a:spcAft>
                <a:spcPts val="600"/>
              </a:spcAft>
            </a:pPr>
            <a:r>
              <a:rPr sz="1100" b="0" i="0">
                <a:solidFill>
                  <a:srgbClr val="648AA6"/>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BACKGROUND</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400" b="1" i="0">
                <a:solidFill>
                  <a:srgbClr val="0B2B4A"/>
                </a:solidFill>
                <a:latin typeface="Segoe UI"/>
              </a:rPr>
              <a:t>Chest radiography is the first line, and it is hard to read</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4</a:t>
            </a:r>
          </a:p>
        </p:txBody>
      </p:sp>
      <p:sp>
        <p:nvSpPr>
          <p:cNvPr id="8" name="Rounded Rectangle 7"/>
          <p:cNvSpPr/>
          <p:nvPr/>
        </p:nvSpPr>
        <p:spPr>
          <a:xfrm>
            <a:off x="658368" y="1572768"/>
            <a:ext cx="5440680" cy="1627632"/>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40640" cy="1627632"/>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755648"/>
            <a:ext cx="4928616"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Why the aetiology matters</a:t>
            </a:r>
          </a:p>
        </p:txBody>
      </p:sp>
      <p:sp>
        <p:nvSpPr>
          <p:cNvPr id="11" name="Rounded Rectangle 10"/>
          <p:cNvSpPr/>
          <p:nvPr/>
        </p:nvSpPr>
        <p:spPr>
          <a:xfrm>
            <a:off x="914400" y="219913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33856" y="2121408"/>
            <a:ext cx="4709160" cy="221234"/>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Bacterial pneumonia </a:t>
            </a:r>
            <a:r>
              <a:rPr sz="1300" b="0" i="0">
                <a:solidFill>
                  <a:srgbClr val="243B53"/>
                </a:solidFill>
                <a:latin typeface="Segoe UI"/>
              </a:rPr>
              <a:t>normally requires antibiotics.</a:t>
            </a:r>
          </a:p>
        </p:txBody>
      </p:sp>
      <p:sp>
        <p:nvSpPr>
          <p:cNvPr id="13" name="Rounded Rectangle 12"/>
          <p:cNvSpPr/>
          <p:nvPr/>
        </p:nvSpPr>
        <p:spPr>
          <a:xfrm>
            <a:off x="914400" y="2511806"/>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33856" y="2434082"/>
            <a:ext cx="4709160" cy="221234"/>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Viral pneumonia </a:t>
            </a:r>
            <a:r>
              <a:rPr sz="1300" b="0" i="0">
                <a:solidFill>
                  <a:srgbClr val="243B53"/>
                </a:solidFill>
                <a:latin typeface="Segoe UI"/>
              </a:rPr>
              <a:t>normally does not.</a:t>
            </a:r>
          </a:p>
        </p:txBody>
      </p:sp>
      <p:sp>
        <p:nvSpPr>
          <p:cNvPr id="15" name="Rounded Rectangle 14"/>
          <p:cNvSpPr/>
          <p:nvPr/>
        </p:nvSpPr>
        <p:spPr>
          <a:xfrm>
            <a:off x="914400" y="282448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33856" y="2746756"/>
            <a:ext cx="4709160" cy="221234"/>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COVID-19 </a:t>
            </a:r>
            <a:r>
              <a:rPr sz="1300" b="0" i="0">
                <a:solidFill>
                  <a:srgbClr val="243B53"/>
                </a:solidFill>
                <a:latin typeface="Segoe UI"/>
              </a:rPr>
              <a:t>additionally triggers isolation.</a:t>
            </a:r>
          </a:p>
        </p:txBody>
      </p:sp>
      <p:sp>
        <p:nvSpPr>
          <p:cNvPr id="17" name="Rounded Rectangle 16"/>
          <p:cNvSpPr/>
          <p:nvPr/>
        </p:nvSpPr>
        <p:spPr>
          <a:xfrm>
            <a:off x="658368" y="3364992"/>
            <a:ext cx="5440680" cy="2121408"/>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58368" y="3364992"/>
            <a:ext cx="40640" cy="212140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4400" y="3547872"/>
            <a:ext cx="4928616"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Why it is not solved by a binary model</a:t>
            </a:r>
          </a:p>
        </p:txBody>
      </p:sp>
      <p:sp>
        <p:nvSpPr>
          <p:cNvPr id="20" name="TextBox 19"/>
          <p:cNvSpPr txBox="1"/>
          <p:nvPr/>
        </p:nvSpPr>
        <p:spPr>
          <a:xfrm>
            <a:off x="914400" y="3913632"/>
            <a:ext cx="4928616" cy="1463040"/>
          </a:xfrm>
          <a:prstGeom prst="rect">
            <a:avLst/>
          </a:prstGeom>
          <a:noFill/>
        </p:spPr>
        <p:txBody>
          <a:bodyPr wrap="square" anchor="t" lIns="0" rIns="0" tIns="0" bIns="0">
            <a:spAutoFit/>
          </a:bodyPr>
          <a:lstStyle/>
          <a:p>
            <a:pPr algn="l">
              <a:lnSpc>
                <a:spcPct val="118000"/>
              </a:lnSpc>
              <a:spcAft>
                <a:spcPts val="600"/>
              </a:spcAft>
            </a:pPr>
            <a:r>
              <a:rPr sz="1300" b="0" i="0">
                <a:solidFill>
                  <a:srgbClr val="243B53"/>
                </a:solidFill>
                <a:latin typeface="Segoe UI"/>
              </a:rPr>
              <a:t>A binary pneumonia detector cannot inform the antibiotic decision, because it does not separate bacterial from viral aetiology. The distinction that carries the clinical consequence is exactly the one a binary output discards.</a:t>
            </a:r>
          </a:p>
        </p:txBody>
      </p:sp>
      <p:sp>
        <p:nvSpPr>
          <p:cNvPr id="21" name="Rounded Rectangle 20"/>
          <p:cNvSpPr/>
          <p:nvPr/>
        </p:nvSpPr>
        <p:spPr>
          <a:xfrm>
            <a:off x="6419088" y="1572768"/>
            <a:ext cx="5440680" cy="3913632"/>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419088" y="1572768"/>
            <a:ext cx="40640" cy="3913632"/>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675120" y="1755648"/>
            <a:ext cx="4928616"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What the literature already establishes</a:t>
            </a:r>
          </a:p>
        </p:txBody>
      </p:sp>
      <p:sp>
        <p:nvSpPr>
          <p:cNvPr id="24" name="Rounded Rectangle 23"/>
          <p:cNvSpPr/>
          <p:nvPr/>
        </p:nvSpPr>
        <p:spPr>
          <a:xfrm>
            <a:off x="6675120" y="219913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894576" y="2121408"/>
            <a:ext cx="4709160" cy="425450"/>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Pneumonia is a leading cause of mortality worldwide and falls hardest on children under five and elderly patients.</a:t>
            </a:r>
          </a:p>
        </p:txBody>
      </p:sp>
      <p:sp>
        <p:nvSpPr>
          <p:cNvPr id="26" name="Rounded Rectangle 25"/>
          <p:cNvSpPr/>
          <p:nvPr/>
        </p:nvSpPr>
        <p:spPr>
          <a:xfrm>
            <a:off x="6675120" y="271602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894576" y="2638298"/>
            <a:ext cx="4709160" cy="425450"/>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Radiographic findings overlap across aetiologies, and radiologist availability varies sharply between institutions.</a:t>
            </a:r>
          </a:p>
        </p:txBody>
      </p:sp>
      <p:sp>
        <p:nvSpPr>
          <p:cNvPr id="28" name="Rounded Rectangle 27"/>
          <p:cNvSpPr/>
          <p:nvPr/>
        </p:nvSpPr>
        <p:spPr>
          <a:xfrm>
            <a:off x="6675120" y="323291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94576" y="3155188"/>
            <a:ext cx="4709160" cy="425450"/>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CheXNet matched practising radiologists on a single pneumonia label, so raw capability is available.</a:t>
            </a:r>
          </a:p>
        </p:txBody>
      </p:sp>
      <p:sp>
        <p:nvSpPr>
          <p:cNvPr id="30" name="Rounded Rectangle 29"/>
          <p:cNvSpPr/>
          <p:nvPr/>
        </p:nvSpPr>
        <p:spPr>
          <a:xfrm>
            <a:off x="6675120" y="374980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894576" y="3672078"/>
            <a:ext cx="4709160" cy="638175"/>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Networks assign near certain labels to inputs unrecognisable to a human observer, and are systematically overconfident even in distribution.</a:t>
            </a:r>
          </a:p>
        </p:txBody>
      </p:sp>
      <p:sp>
        <p:nvSpPr>
          <p:cNvPr id="32" name="Rounded Rectangle 31"/>
          <p:cNvSpPr/>
          <p:nvPr/>
        </p:nvSpPr>
        <p:spPr>
          <a:xfrm>
            <a:off x="658368" y="5650992"/>
            <a:ext cx="10874959" cy="566928"/>
          </a:xfrm>
          <a:prstGeom prst="roundRect">
            <a:avLst>
              <a:gd name="adj" fmla="val 10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58368" y="5650992"/>
            <a:ext cx="40640" cy="56692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96112" y="5769864"/>
            <a:ext cx="10372039" cy="329184"/>
          </a:xfrm>
          <a:prstGeom prst="rect">
            <a:avLst/>
          </a:prstGeom>
          <a:noFill/>
        </p:spPr>
        <p:txBody>
          <a:bodyPr wrap="square" anchor="t" lIns="0" rIns="0" tIns="0" bIns="0">
            <a:spAutoFit/>
          </a:bodyPr>
          <a:lstStyle/>
          <a:p>
            <a:pPr algn="l">
              <a:lnSpc>
                <a:spcPct val="118000"/>
              </a:lnSpc>
              <a:spcAft>
                <a:spcPts val="300"/>
              </a:spcAft>
            </a:pPr>
            <a:r>
              <a:rPr sz="1150" b="0" i="0">
                <a:solidFill>
                  <a:srgbClr val="B45309"/>
                </a:solidFill>
                <a:latin typeface="Segoe UI"/>
              </a:rPr>
              <a:t>A user offered a probability of 0.98 cannot tell a competent prediction from an incompetent one. The most dangerous errors are also the least visible.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PROBLEM STATEMENT</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Two deficiencies persist across the reported systems</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5</a:t>
            </a:r>
          </a:p>
        </p:txBody>
      </p:sp>
      <p:sp>
        <p:nvSpPr>
          <p:cNvPr id="8" name="Rounded Rectangle 7"/>
          <p:cNvSpPr/>
          <p:nvPr/>
        </p:nvSpPr>
        <p:spPr>
          <a:xfrm>
            <a:off x="658368" y="1572768"/>
            <a:ext cx="5300319" cy="292608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40640" cy="29260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755648"/>
            <a:ext cx="4788255"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General problem  ·  trust tracks confidence, not reliability</a:t>
            </a:r>
          </a:p>
        </p:txBody>
      </p:sp>
      <p:sp>
        <p:nvSpPr>
          <p:cNvPr id="11" name="Rounded Rectangle 10"/>
          <p:cNvSpPr/>
          <p:nvPr/>
        </p:nvSpPr>
        <p:spPr>
          <a:xfrm>
            <a:off x="914400" y="219913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33856" y="2121408"/>
            <a:ext cx="4568799" cy="442468"/>
          </a:xfrm>
          <a:prstGeom prst="rect">
            <a:avLst/>
          </a:prstGeom>
          <a:noFill/>
        </p:spPr>
        <p:txBody>
          <a:bodyPr wrap="square" anchor="t" lIns="0" rIns="0" tIns="0" bIns="0">
            <a:spAutoFit/>
          </a:bodyPr>
          <a:lstStyle/>
          <a:p>
            <a:pPr algn="l">
              <a:lnSpc>
                <a:spcPct val="118000"/>
              </a:lnSpc>
              <a:spcAft>
                <a:spcPts val="600"/>
              </a:spcAft>
            </a:pPr>
            <a:r>
              <a:rPr sz="1300" b="0" i="0">
                <a:solidFill>
                  <a:srgbClr val="243B53"/>
                </a:solidFill>
                <a:latin typeface="Segoe UI"/>
              </a:rPr>
              <a:t>Automated support is trusted in proportion to how confident it appears rather than how reliable it is.</a:t>
            </a:r>
          </a:p>
        </p:txBody>
      </p:sp>
      <p:sp>
        <p:nvSpPr>
          <p:cNvPr id="13" name="Rounded Rectangle 12"/>
          <p:cNvSpPr/>
          <p:nvPr/>
        </p:nvSpPr>
        <p:spPr>
          <a:xfrm>
            <a:off x="914400" y="273304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33856" y="2655316"/>
            <a:ext cx="4568799" cy="442468"/>
          </a:xfrm>
          <a:prstGeom prst="rect">
            <a:avLst/>
          </a:prstGeom>
          <a:noFill/>
        </p:spPr>
        <p:txBody>
          <a:bodyPr wrap="square" anchor="t" lIns="0" rIns="0" tIns="0" bIns="0">
            <a:spAutoFit/>
          </a:bodyPr>
          <a:lstStyle/>
          <a:p>
            <a:pPr algn="l">
              <a:lnSpc>
                <a:spcPct val="118000"/>
              </a:lnSpc>
              <a:spcAft>
                <a:spcPts val="600"/>
              </a:spcAft>
            </a:pPr>
            <a:r>
              <a:rPr sz="1300" b="0" i="0">
                <a:solidFill>
                  <a:srgbClr val="243B53"/>
                </a:solidFill>
                <a:latin typeface="Segoe UI"/>
              </a:rPr>
              <a:t>Networks are confidently wrong, and calibration does not fix it.</a:t>
            </a:r>
          </a:p>
        </p:txBody>
      </p:sp>
      <p:sp>
        <p:nvSpPr>
          <p:cNvPr id="15" name="Rounded Rectangle 14"/>
          <p:cNvSpPr/>
          <p:nvPr/>
        </p:nvSpPr>
        <p:spPr>
          <a:xfrm>
            <a:off x="914400" y="326694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33856" y="3189224"/>
            <a:ext cx="4568799" cy="442468"/>
          </a:xfrm>
          <a:prstGeom prst="rect">
            <a:avLst/>
          </a:prstGeom>
          <a:noFill/>
        </p:spPr>
        <p:txBody>
          <a:bodyPr wrap="square" anchor="t" lIns="0" rIns="0" tIns="0" bIns="0">
            <a:spAutoFit/>
          </a:bodyPr>
          <a:lstStyle/>
          <a:p>
            <a:pPr algn="l">
              <a:lnSpc>
                <a:spcPct val="118000"/>
              </a:lnSpc>
              <a:spcAft>
                <a:spcPts val="600"/>
              </a:spcAft>
            </a:pPr>
            <a:r>
              <a:rPr sz="1300" b="0" i="0">
                <a:solidFill>
                  <a:srgbClr val="243B53"/>
                </a:solidFill>
                <a:latin typeface="Segoe UI"/>
              </a:rPr>
              <a:t>The consequence is a system that transfers risk to the patient while appearing to reduce it.</a:t>
            </a:r>
          </a:p>
        </p:txBody>
      </p:sp>
      <p:sp>
        <p:nvSpPr>
          <p:cNvPr id="17" name="Rounded Rectangle 16"/>
          <p:cNvSpPr/>
          <p:nvPr/>
        </p:nvSpPr>
        <p:spPr>
          <a:xfrm>
            <a:off x="6233007" y="1572768"/>
            <a:ext cx="5300319" cy="292608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33007" y="1572768"/>
            <a:ext cx="40640" cy="29260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89039" y="1755648"/>
            <a:ext cx="4788255"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Specific problem  ·  granularity and the closed world</a:t>
            </a:r>
          </a:p>
        </p:txBody>
      </p:sp>
      <p:sp>
        <p:nvSpPr>
          <p:cNvPr id="20" name="Rounded Rectangle 19"/>
          <p:cNvSpPr/>
          <p:nvPr/>
        </p:nvSpPr>
        <p:spPr>
          <a:xfrm>
            <a:off x="6489039" y="219913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708495" y="2121408"/>
            <a:ext cx="4568799" cy="442468"/>
          </a:xfrm>
          <a:prstGeom prst="rect">
            <a:avLst/>
          </a:prstGeom>
          <a:noFill/>
        </p:spPr>
        <p:txBody>
          <a:bodyPr wrap="square" anchor="t" lIns="0" rIns="0" tIns="0" bIns="0">
            <a:spAutoFit/>
          </a:bodyPr>
          <a:lstStyle/>
          <a:p>
            <a:pPr algn="l">
              <a:lnSpc>
                <a:spcPct val="118000"/>
              </a:lnSpc>
              <a:spcAft>
                <a:spcPts val="600"/>
              </a:spcAft>
            </a:pPr>
            <a:r>
              <a:rPr sz="1300" b="0" i="0">
                <a:solidFill>
                  <a:srgbClr val="243B53"/>
                </a:solidFill>
                <a:latin typeface="Segoe UI"/>
              </a:rPr>
              <a:t>Most published chest radiograph systems are binary, so they cannot support the antibiotic decision.</a:t>
            </a:r>
          </a:p>
        </p:txBody>
      </p:sp>
      <p:sp>
        <p:nvSpPr>
          <p:cNvPr id="22" name="Rounded Rectangle 21"/>
          <p:cNvSpPr/>
          <p:nvPr/>
        </p:nvSpPr>
        <p:spPr>
          <a:xfrm>
            <a:off x="6489039" y="273304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708495" y="2655316"/>
            <a:ext cx="4568799" cy="663702"/>
          </a:xfrm>
          <a:prstGeom prst="rect">
            <a:avLst/>
          </a:prstGeom>
          <a:noFill/>
        </p:spPr>
        <p:txBody>
          <a:bodyPr wrap="square" anchor="t" lIns="0" rIns="0" tIns="0" bIns="0">
            <a:spAutoFit/>
          </a:bodyPr>
          <a:lstStyle/>
          <a:p>
            <a:pPr algn="l">
              <a:lnSpc>
                <a:spcPct val="118000"/>
              </a:lnSpc>
              <a:spcAft>
                <a:spcPts val="600"/>
              </a:spcAft>
            </a:pPr>
            <a:r>
              <a:rPr sz="1300" b="0" i="0">
                <a:solidFill>
                  <a:srgbClr val="243B53"/>
                </a:solidFill>
                <a:latin typeface="Segoe UI"/>
              </a:rPr>
              <a:t>Softmax is closed world: a photograph, or a radiograph of an untrained condition, still returns a confident diagnosis.</a:t>
            </a:r>
          </a:p>
        </p:txBody>
      </p:sp>
      <p:sp>
        <p:nvSpPr>
          <p:cNvPr id="24" name="Rounded Rectangle 23"/>
          <p:cNvSpPr/>
          <p:nvPr/>
        </p:nvSpPr>
        <p:spPr>
          <a:xfrm>
            <a:off x="6489039" y="348818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708495" y="3410458"/>
            <a:ext cx="4568799" cy="442468"/>
          </a:xfrm>
          <a:prstGeom prst="rect">
            <a:avLst/>
          </a:prstGeom>
          <a:noFill/>
        </p:spPr>
        <p:txBody>
          <a:bodyPr wrap="square" anchor="t" lIns="0" rIns="0" tIns="0" bIns="0">
            <a:spAutoFit/>
          </a:bodyPr>
          <a:lstStyle/>
          <a:p>
            <a:pPr algn="l">
              <a:lnSpc>
                <a:spcPct val="118000"/>
              </a:lnSpc>
              <a:spcAft>
                <a:spcPts val="600"/>
              </a:spcAft>
            </a:pPr>
            <a:r>
              <a:rPr sz="1300" b="0" i="0">
                <a:solidFill>
                  <a:srgbClr val="243B53"/>
                </a:solidFill>
                <a:latin typeface="Segoe UI"/>
              </a:rPr>
              <a:t>Post hoc detection methods are mature, yet none has been carried into an evaluated chest radiograph system.</a:t>
            </a:r>
          </a:p>
        </p:txBody>
      </p:sp>
      <p:sp>
        <p:nvSpPr>
          <p:cNvPr id="26" name="Rounded Rectangle 25"/>
          <p:cNvSpPr/>
          <p:nvPr/>
        </p:nvSpPr>
        <p:spPr>
          <a:xfrm>
            <a:off x="658368" y="4718304"/>
            <a:ext cx="10874959" cy="960120"/>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58368" y="4718304"/>
            <a:ext cx="40640" cy="960120"/>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96112" y="4837176"/>
            <a:ext cx="10372039" cy="722376"/>
          </a:xfrm>
          <a:prstGeom prst="rect">
            <a:avLst/>
          </a:prstGeom>
          <a:noFill/>
        </p:spPr>
        <p:txBody>
          <a:bodyPr wrap="square" anchor="t" lIns="0" rIns="0" tIns="0" bIns="0">
            <a:spAutoFit/>
          </a:bodyPr>
          <a:lstStyle/>
          <a:p>
            <a:pPr algn="l">
              <a:lnSpc>
                <a:spcPct val="118000"/>
              </a:lnSpc>
              <a:spcAft>
                <a:spcPts val="300"/>
              </a:spcAft>
            </a:pPr>
            <a:r>
              <a:rPr sz="1250" b="1" i="0">
                <a:solidFill>
                  <a:srgbClr val="0E5A72"/>
                </a:solidFill>
                <a:latin typeface="Segoe UI"/>
              </a:rPr>
              <a:t>The property this project is built around</a:t>
            </a:r>
          </a:p>
          <a:p>
            <a:pPr algn="l">
              <a:lnSpc>
                <a:spcPct val="118000"/>
              </a:lnSpc>
              <a:spcAft>
                <a:spcPts val="300"/>
              </a:spcAft>
            </a:pPr>
            <a:r>
              <a:rPr sz="1150" b="0" i="0">
                <a:solidFill>
                  <a:srgbClr val="0E5A72"/>
                </a:solidFill>
                <a:latin typeface="Segoe UI"/>
              </a:rPr>
              <a:t>Softmax redistributes probability across the classes it was trained on, for every input it is ever shown. It expresses relative preference among those classes and never the absence of evidence for all of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LITERATURE REVIEW  ·  THE GAP</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No reviewed system checks input validity</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6</a:t>
            </a:r>
          </a:p>
        </p:txBody>
      </p:sp>
      <p:graphicFrame>
        <p:nvGraphicFramePr>
          <p:cNvPr id="8" name="Table 7"/>
          <p:cNvGraphicFramePr>
            <a:graphicFrameLocks noGrp="1"/>
          </p:cNvGraphicFramePr>
          <p:nvPr/>
        </p:nvGraphicFramePr>
        <p:xfrm>
          <a:off x="658368" y="1572768"/>
          <a:ext cx="10874957" cy="3035808"/>
        </p:xfrm>
        <a:graphic>
          <a:graphicData uri="http://schemas.openxmlformats.org/drawingml/2006/table">
            <a:tbl>
              <a:tblPr>
                <a:tableStyleId>{5C22544A-7EE6-4342-B048-85BDC9FD1C3A}</a:tableStyleId>
              </a:tblPr>
              <a:tblGrid>
                <a:gridCol w="2745135"/>
                <a:gridCol w="2006060"/>
                <a:gridCol w="2745135"/>
                <a:gridCol w="2322806"/>
                <a:gridCol w="1055821"/>
              </a:tblGrid>
              <a:tr h="347472">
                <a:tc>
                  <a:txBody>
                    <a:bodyPr wrap="square"/>
                    <a:lstStyle/>
                    <a:p>
                      <a:pPr algn="l"/>
                      <a:r>
                        <a:rPr sz="1050" b="1">
                          <a:solidFill>
                            <a:srgbClr val="FFFFFF"/>
                          </a:solidFill>
                          <a:latin typeface="Segoe UI"/>
                        </a:rPr>
                        <a:t>Study</a:t>
                      </a:r>
                    </a:p>
                  </a:txBody>
                  <a:tcPr marL="91440" marR="91440" marT="27432" marB="27432" anchor="ctr">
                    <a:solidFill>
                      <a:srgbClr val="0E5A72"/>
                    </a:solidFill>
                  </a:tcPr>
                </a:tc>
                <a:tc>
                  <a:txBody>
                    <a:bodyPr wrap="square"/>
                    <a:lstStyle/>
                    <a:p>
                      <a:pPr algn="l"/>
                      <a:r>
                        <a:rPr sz="1050" b="1">
                          <a:solidFill>
                            <a:srgbClr val="FFFFFF"/>
                          </a:solidFill>
                          <a:latin typeface="Segoe UI"/>
                        </a:rPr>
                        <a:t>Classes</a:t>
                      </a:r>
                    </a:p>
                  </a:txBody>
                  <a:tcPr marL="91440" marR="91440" marT="27432" marB="27432" anchor="ctr">
                    <a:solidFill>
                      <a:srgbClr val="0E5A72"/>
                    </a:solidFill>
                  </a:tcPr>
                </a:tc>
                <a:tc>
                  <a:txBody>
                    <a:bodyPr wrap="square"/>
                    <a:lstStyle/>
                    <a:p>
                      <a:pPr algn="l"/>
                      <a:r>
                        <a:rPr sz="1050" b="1">
                          <a:solidFill>
                            <a:srgbClr val="FFFFFF"/>
                          </a:solidFill>
                          <a:latin typeface="Segoe UI"/>
                        </a:rPr>
                        <a:t>Explainability</a:t>
                      </a:r>
                    </a:p>
                  </a:txBody>
                  <a:tcPr marL="91440" marR="91440" marT="27432" marB="27432" anchor="ctr">
                    <a:solidFill>
                      <a:srgbClr val="0E5A72"/>
                    </a:solidFill>
                  </a:tcPr>
                </a:tc>
                <a:tc>
                  <a:txBody>
                    <a:bodyPr wrap="square"/>
                    <a:lstStyle/>
                    <a:p>
                      <a:pPr algn="l"/>
                      <a:r>
                        <a:rPr sz="1050" b="1">
                          <a:solidFill>
                            <a:srgbClr val="FFFFFF"/>
                          </a:solidFill>
                          <a:latin typeface="Segoe UI"/>
                        </a:rPr>
                        <a:t>Input validity check</a:t>
                      </a:r>
                    </a:p>
                  </a:txBody>
                  <a:tcPr marL="91440" marR="91440" marT="27432" marB="27432" anchor="ctr">
                    <a:solidFill>
                      <a:srgbClr val="0E5A72"/>
                    </a:solidFill>
                  </a:tcPr>
                </a:tc>
                <a:tc>
                  <a:txBody>
                    <a:bodyPr wrap="square"/>
                    <a:lstStyle/>
                    <a:p>
                      <a:pPr algn="l"/>
                      <a:r>
                        <a:rPr sz="1050" b="1">
                          <a:solidFill>
                            <a:srgbClr val="FFFFFF"/>
                          </a:solidFill>
                          <a:latin typeface="Segoe UI"/>
                        </a:rPr>
                        <a:t>Deployed</a:t>
                      </a:r>
                    </a:p>
                  </a:txBody>
                  <a:tcPr marL="91440" marR="91440" marT="27432" marB="27432" anchor="ctr">
                    <a:solidFill>
                      <a:srgbClr val="0E5A72"/>
                    </a:solidFill>
                  </a:tcPr>
                </a:tc>
              </a:tr>
              <a:tr h="384048">
                <a:tc>
                  <a:txBody>
                    <a:bodyPr wrap="square"/>
                    <a:lstStyle/>
                    <a:p>
                      <a:pPr algn="l"/>
                      <a:r>
                        <a:rPr sz="1050" b="1">
                          <a:solidFill>
                            <a:srgbClr val="0B2B4A"/>
                          </a:solidFill>
                          <a:latin typeface="Segoe UI"/>
                        </a:rPr>
                        <a:t>Rajpurkar et al. [9]</a:t>
                      </a:r>
                    </a:p>
                  </a:txBody>
                  <a:tcPr marL="91440" marR="91440" marT="27432" marB="27432" anchor="ctr">
                    <a:solidFill>
                      <a:srgbClr val="FFFFFF"/>
                    </a:solidFill>
                  </a:tcPr>
                </a:tc>
                <a:tc>
                  <a:txBody>
                    <a:bodyPr wrap="square"/>
                    <a:lstStyle/>
                    <a:p>
                      <a:pPr algn="l"/>
                      <a:r>
                        <a:rPr sz="1050" b="0">
                          <a:solidFill>
                            <a:srgbClr val="243B53"/>
                          </a:solidFill>
                          <a:latin typeface="Segoe UI"/>
                        </a:rPr>
                        <a:t>Pneumonia vs rest</a:t>
                      </a:r>
                    </a:p>
                  </a:txBody>
                  <a:tcPr marL="91440" marR="91440" marT="27432" marB="27432" anchor="ctr">
                    <a:solidFill>
                      <a:srgbClr val="FFFFFF"/>
                    </a:solidFill>
                  </a:tcPr>
                </a:tc>
                <a:tc>
                  <a:txBody>
                    <a:bodyPr wrap="square"/>
                    <a:lstStyle/>
                    <a:p>
                      <a:pPr algn="l"/>
                      <a:r>
                        <a:rPr sz="1050" b="0">
                          <a:solidFill>
                            <a:srgbClr val="243B53"/>
                          </a:solidFill>
                          <a:latin typeface="Segoe UI"/>
                        </a:rPr>
                        <a:t>CAM, qualitative</a:t>
                      </a:r>
                    </a:p>
                  </a:txBody>
                  <a:tcPr marL="91440" marR="91440" marT="27432" marB="27432" anchor="ctr">
                    <a:solidFill>
                      <a:srgbClr val="FFFFFF"/>
                    </a:solidFill>
                  </a:tcPr>
                </a:tc>
                <a:tc>
                  <a:txBody>
                    <a:bodyPr wrap="square"/>
                    <a:lstStyle/>
                    <a:p>
                      <a:pPr algn="l"/>
                      <a:r>
                        <a:rPr sz="1050" b="0">
                          <a:solidFill>
                            <a:srgbClr val="243B53"/>
                          </a:solidFill>
                          <a:latin typeface="Segoe UI"/>
                        </a:rPr>
                        <a:t>None reported</a:t>
                      </a:r>
                    </a:p>
                  </a:txBody>
                  <a:tcPr marL="91440" marR="91440" marT="27432" marB="27432" anchor="ctr">
                    <a:solidFill>
                      <a:srgbClr val="FFFFFF"/>
                    </a:solidFill>
                  </a:tcPr>
                </a:tc>
                <a:tc>
                  <a:txBody>
                    <a:bodyPr wrap="square"/>
                    <a:lstStyle/>
                    <a:p>
                      <a:pPr algn="l"/>
                      <a:r>
                        <a:rPr sz="1050" b="0">
                          <a:solidFill>
                            <a:srgbClr val="243B53"/>
                          </a:solidFill>
                          <a:latin typeface="Segoe UI"/>
                        </a:rPr>
                        <a:t>No</a:t>
                      </a:r>
                    </a:p>
                  </a:txBody>
                  <a:tcPr marL="91440" marR="91440" marT="27432" marB="27432" anchor="ctr">
                    <a:solidFill>
                      <a:srgbClr val="FFFFFF"/>
                    </a:solidFill>
                  </a:tcPr>
                </a:tc>
              </a:tr>
              <a:tr h="384048">
                <a:tc>
                  <a:txBody>
                    <a:bodyPr wrap="square"/>
                    <a:lstStyle/>
                    <a:p>
                      <a:pPr algn="l"/>
                      <a:r>
                        <a:rPr sz="1050" b="1">
                          <a:solidFill>
                            <a:srgbClr val="0B2B4A"/>
                          </a:solidFill>
                          <a:latin typeface="Segoe UI"/>
                        </a:rPr>
                        <a:t>Apostolopoulos &amp; Mpesiana [12]</a:t>
                      </a:r>
                    </a:p>
                  </a:txBody>
                  <a:tcPr marL="91440" marR="91440" marT="27432" marB="27432" anchor="ctr">
                    <a:solidFill>
                      <a:srgbClr val="F3F8FB"/>
                    </a:solidFill>
                  </a:tcPr>
                </a:tc>
                <a:tc>
                  <a:txBody>
                    <a:bodyPr wrap="square"/>
                    <a:lstStyle/>
                    <a:p>
                      <a:pPr algn="l"/>
                      <a:r>
                        <a:rPr sz="1050" b="0">
                          <a:solidFill>
                            <a:srgbClr val="243B53"/>
                          </a:solidFill>
                          <a:latin typeface="Segoe UI"/>
                        </a:rPr>
                        <a:t>Binary and three class</a:t>
                      </a:r>
                    </a:p>
                  </a:txBody>
                  <a:tcPr marL="91440" marR="91440" marT="27432" marB="27432" anchor="ctr">
                    <a:solidFill>
                      <a:srgbClr val="F3F8FB"/>
                    </a:solidFill>
                  </a:tcPr>
                </a:tc>
                <a:tc>
                  <a:txBody>
                    <a:bodyPr wrap="square"/>
                    <a:lstStyle/>
                    <a:p>
                      <a:pPr algn="l"/>
                      <a:r>
                        <a:rPr sz="1050" b="0">
                          <a:solidFill>
                            <a:srgbClr val="243B53"/>
                          </a:solidFill>
                          <a:latin typeface="Segoe UI"/>
                        </a:rPr>
                        <a:t>None reported</a:t>
                      </a:r>
                    </a:p>
                  </a:txBody>
                  <a:tcPr marL="91440" marR="91440" marT="27432" marB="27432" anchor="ctr">
                    <a:solidFill>
                      <a:srgbClr val="F3F8FB"/>
                    </a:solidFill>
                  </a:tcPr>
                </a:tc>
                <a:tc>
                  <a:txBody>
                    <a:bodyPr wrap="square"/>
                    <a:lstStyle/>
                    <a:p>
                      <a:pPr algn="l"/>
                      <a:r>
                        <a:rPr sz="1050" b="0">
                          <a:solidFill>
                            <a:srgbClr val="243B53"/>
                          </a:solidFill>
                          <a:latin typeface="Segoe UI"/>
                        </a:rPr>
                        <a:t>None reported</a:t>
                      </a:r>
                    </a:p>
                  </a:txBody>
                  <a:tcPr marL="91440" marR="91440" marT="27432" marB="27432" anchor="ctr">
                    <a:solidFill>
                      <a:srgbClr val="F3F8FB"/>
                    </a:solidFill>
                  </a:tcPr>
                </a:tc>
                <a:tc>
                  <a:txBody>
                    <a:bodyPr wrap="square"/>
                    <a:lstStyle/>
                    <a:p>
                      <a:pPr algn="l"/>
                      <a:r>
                        <a:rPr sz="1050" b="0">
                          <a:solidFill>
                            <a:srgbClr val="243B53"/>
                          </a:solidFill>
                          <a:latin typeface="Segoe UI"/>
                        </a:rPr>
                        <a:t>No</a:t>
                      </a:r>
                    </a:p>
                  </a:txBody>
                  <a:tcPr marL="91440" marR="91440" marT="27432" marB="27432" anchor="ctr">
                    <a:solidFill>
                      <a:srgbClr val="F3F8FB"/>
                    </a:solidFill>
                  </a:tcPr>
                </a:tc>
              </a:tr>
              <a:tr h="384048">
                <a:tc>
                  <a:txBody>
                    <a:bodyPr wrap="square"/>
                    <a:lstStyle/>
                    <a:p>
                      <a:pPr algn="l"/>
                      <a:r>
                        <a:rPr sz="1050" b="1">
                          <a:solidFill>
                            <a:srgbClr val="0B2B4A"/>
                          </a:solidFill>
                          <a:latin typeface="Segoe UI"/>
                        </a:rPr>
                        <a:t>Ozturk et al. [13]</a:t>
                      </a:r>
                    </a:p>
                  </a:txBody>
                  <a:tcPr marL="91440" marR="91440" marT="27432" marB="27432" anchor="ctr">
                    <a:solidFill>
                      <a:srgbClr val="FFFFFF"/>
                    </a:solidFill>
                  </a:tcPr>
                </a:tc>
                <a:tc>
                  <a:txBody>
                    <a:bodyPr wrap="square"/>
                    <a:lstStyle/>
                    <a:p>
                      <a:pPr algn="l"/>
                      <a:r>
                        <a:rPr sz="1050" b="0">
                          <a:solidFill>
                            <a:srgbClr val="243B53"/>
                          </a:solidFill>
                          <a:latin typeface="Segoe UI"/>
                        </a:rPr>
                        <a:t>Binary and three class</a:t>
                      </a:r>
                    </a:p>
                  </a:txBody>
                  <a:tcPr marL="91440" marR="91440" marT="27432" marB="27432" anchor="ctr">
                    <a:solidFill>
                      <a:srgbClr val="FFFFFF"/>
                    </a:solidFill>
                  </a:tcPr>
                </a:tc>
                <a:tc>
                  <a:txBody>
                    <a:bodyPr wrap="square"/>
                    <a:lstStyle/>
                    <a:p>
                      <a:pPr algn="l"/>
                      <a:r>
                        <a:rPr sz="1050" b="0">
                          <a:solidFill>
                            <a:srgbClr val="243B53"/>
                          </a:solidFill>
                          <a:latin typeface="Segoe UI"/>
                        </a:rPr>
                        <a:t>Heatmaps, qualitative</a:t>
                      </a:r>
                    </a:p>
                  </a:txBody>
                  <a:tcPr marL="91440" marR="91440" marT="27432" marB="27432" anchor="ctr">
                    <a:solidFill>
                      <a:srgbClr val="FFFFFF"/>
                    </a:solidFill>
                  </a:tcPr>
                </a:tc>
                <a:tc>
                  <a:txBody>
                    <a:bodyPr wrap="square"/>
                    <a:lstStyle/>
                    <a:p>
                      <a:pPr algn="l"/>
                      <a:r>
                        <a:rPr sz="1050" b="0">
                          <a:solidFill>
                            <a:srgbClr val="243B53"/>
                          </a:solidFill>
                          <a:latin typeface="Segoe UI"/>
                        </a:rPr>
                        <a:t>None reported</a:t>
                      </a:r>
                    </a:p>
                  </a:txBody>
                  <a:tcPr marL="91440" marR="91440" marT="27432" marB="27432" anchor="ctr">
                    <a:solidFill>
                      <a:srgbClr val="FFFFFF"/>
                    </a:solidFill>
                  </a:tcPr>
                </a:tc>
                <a:tc>
                  <a:txBody>
                    <a:bodyPr wrap="square"/>
                    <a:lstStyle/>
                    <a:p>
                      <a:pPr algn="l"/>
                      <a:r>
                        <a:rPr sz="1050" b="0">
                          <a:solidFill>
                            <a:srgbClr val="243B53"/>
                          </a:solidFill>
                          <a:latin typeface="Segoe UI"/>
                        </a:rPr>
                        <a:t>No</a:t>
                      </a:r>
                    </a:p>
                  </a:txBody>
                  <a:tcPr marL="91440" marR="91440" marT="27432" marB="27432" anchor="ctr">
                    <a:solidFill>
                      <a:srgbClr val="FFFFFF"/>
                    </a:solidFill>
                  </a:tcPr>
                </a:tc>
              </a:tr>
              <a:tr h="384048">
                <a:tc>
                  <a:txBody>
                    <a:bodyPr wrap="square"/>
                    <a:lstStyle/>
                    <a:p>
                      <a:pPr algn="l"/>
                      <a:r>
                        <a:rPr sz="1050" b="1">
                          <a:solidFill>
                            <a:srgbClr val="0B2B4A"/>
                          </a:solidFill>
                          <a:latin typeface="Segoe UI"/>
                        </a:rPr>
                        <a:t>Narin et al. [14]</a:t>
                      </a:r>
                    </a:p>
                  </a:txBody>
                  <a:tcPr marL="91440" marR="91440" marT="27432" marB="27432" anchor="ctr">
                    <a:solidFill>
                      <a:srgbClr val="F3F8FB"/>
                    </a:solidFill>
                  </a:tcPr>
                </a:tc>
                <a:tc>
                  <a:txBody>
                    <a:bodyPr wrap="square"/>
                    <a:lstStyle/>
                    <a:p>
                      <a:pPr algn="l"/>
                      <a:r>
                        <a:rPr sz="1050" b="0">
                          <a:solidFill>
                            <a:srgbClr val="243B53"/>
                          </a:solidFill>
                          <a:latin typeface="Segoe UI"/>
                        </a:rPr>
                        <a:t>Binary COVID-19</a:t>
                      </a:r>
                    </a:p>
                  </a:txBody>
                  <a:tcPr marL="91440" marR="91440" marT="27432" marB="27432" anchor="ctr">
                    <a:solidFill>
                      <a:srgbClr val="F3F8FB"/>
                    </a:solidFill>
                  </a:tcPr>
                </a:tc>
                <a:tc>
                  <a:txBody>
                    <a:bodyPr wrap="square"/>
                    <a:lstStyle/>
                    <a:p>
                      <a:pPr algn="l"/>
                      <a:r>
                        <a:rPr sz="1050" b="0">
                          <a:solidFill>
                            <a:srgbClr val="243B53"/>
                          </a:solidFill>
                          <a:latin typeface="Segoe UI"/>
                        </a:rPr>
                        <a:t>None reported</a:t>
                      </a:r>
                    </a:p>
                  </a:txBody>
                  <a:tcPr marL="91440" marR="91440" marT="27432" marB="27432" anchor="ctr">
                    <a:solidFill>
                      <a:srgbClr val="F3F8FB"/>
                    </a:solidFill>
                  </a:tcPr>
                </a:tc>
                <a:tc>
                  <a:txBody>
                    <a:bodyPr wrap="square"/>
                    <a:lstStyle/>
                    <a:p>
                      <a:pPr algn="l"/>
                      <a:r>
                        <a:rPr sz="1050" b="0">
                          <a:solidFill>
                            <a:srgbClr val="243B53"/>
                          </a:solidFill>
                          <a:latin typeface="Segoe UI"/>
                        </a:rPr>
                        <a:t>None reported</a:t>
                      </a:r>
                    </a:p>
                  </a:txBody>
                  <a:tcPr marL="91440" marR="91440" marT="27432" marB="27432" anchor="ctr">
                    <a:solidFill>
                      <a:srgbClr val="F3F8FB"/>
                    </a:solidFill>
                  </a:tcPr>
                </a:tc>
                <a:tc>
                  <a:txBody>
                    <a:bodyPr wrap="square"/>
                    <a:lstStyle/>
                    <a:p>
                      <a:pPr algn="l"/>
                      <a:r>
                        <a:rPr sz="1050" b="0">
                          <a:solidFill>
                            <a:srgbClr val="243B53"/>
                          </a:solidFill>
                          <a:latin typeface="Segoe UI"/>
                        </a:rPr>
                        <a:t>No</a:t>
                      </a:r>
                    </a:p>
                  </a:txBody>
                  <a:tcPr marL="91440" marR="91440" marT="27432" marB="27432" anchor="ctr">
                    <a:solidFill>
                      <a:srgbClr val="F3F8FB"/>
                    </a:solidFill>
                  </a:tcPr>
                </a:tc>
              </a:tr>
              <a:tr h="384048">
                <a:tc>
                  <a:txBody>
                    <a:bodyPr wrap="square"/>
                    <a:lstStyle/>
                    <a:p>
                      <a:pPr algn="l"/>
                      <a:r>
                        <a:rPr sz="1050" b="1">
                          <a:solidFill>
                            <a:srgbClr val="0B2B4A"/>
                          </a:solidFill>
                          <a:latin typeface="Segoe UI"/>
                        </a:rPr>
                        <a:t>Chowdhury et al. [7]</a:t>
                      </a:r>
                    </a:p>
                  </a:txBody>
                  <a:tcPr marL="91440" marR="91440" marT="27432" marB="27432" anchor="ctr">
                    <a:solidFill>
                      <a:srgbClr val="FFFFFF"/>
                    </a:solidFill>
                  </a:tcPr>
                </a:tc>
                <a:tc>
                  <a:txBody>
                    <a:bodyPr wrap="square"/>
                    <a:lstStyle/>
                    <a:p>
                      <a:pPr algn="l"/>
                      <a:r>
                        <a:rPr sz="1050" b="0">
                          <a:solidFill>
                            <a:srgbClr val="243B53"/>
                          </a:solidFill>
                          <a:latin typeface="Segoe UI"/>
                        </a:rPr>
                        <a:t>Normal, viral, COVID-19</a:t>
                      </a:r>
                    </a:p>
                  </a:txBody>
                  <a:tcPr marL="91440" marR="91440" marT="27432" marB="27432" anchor="ctr">
                    <a:solidFill>
                      <a:srgbClr val="FFFFFF"/>
                    </a:solidFill>
                  </a:tcPr>
                </a:tc>
                <a:tc>
                  <a:txBody>
                    <a:bodyPr wrap="square"/>
                    <a:lstStyle/>
                    <a:p>
                      <a:pPr algn="l"/>
                      <a:r>
                        <a:rPr sz="1050" b="0">
                          <a:solidFill>
                            <a:srgbClr val="243B53"/>
                          </a:solidFill>
                          <a:latin typeface="Segoe UI"/>
                        </a:rPr>
                        <a:t>Score-CAM, qualitative</a:t>
                      </a:r>
                    </a:p>
                  </a:txBody>
                  <a:tcPr marL="91440" marR="91440" marT="27432" marB="27432" anchor="ctr">
                    <a:solidFill>
                      <a:srgbClr val="FFFFFF"/>
                    </a:solidFill>
                  </a:tcPr>
                </a:tc>
                <a:tc>
                  <a:txBody>
                    <a:bodyPr wrap="square"/>
                    <a:lstStyle/>
                    <a:p>
                      <a:pPr algn="l"/>
                      <a:r>
                        <a:rPr sz="1050" b="0">
                          <a:solidFill>
                            <a:srgbClr val="243B53"/>
                          </a:solidFill>
                          <a:latin typeface="Segoe UI"/>
                        </a:rPr>
                        <a:t>None reported</a:t>
                      </a:r>
                    </a:p>
                  </a:txBody>
                  <a:tcPr marL="91440" marR="91440" marT="27432" marB="27432" anchor="ctr">
                    <a:solidFill>
                      <a:srgbClr val="FFFFFF"/>
                    </a:solidFill>
                  </a:tcPr>
                </a:tc>
                <a:tc>
                  <a:txBody>
                    <a:bodyPr wrap="square"/>
                    <a:lstStyle/>
                    <a:p>
                      <a:pPr algn="l"/>
                      <a:r>
                        <a:rPr sz="1050" b="0">
                          <a:solidFill>
                            <a:srgbClr val="243B53"/>
                          </a:solidFill>
                          <a:latin typeface="Segoe UI"/>
                        </a:rPr>
                        <a:t>No</a:t>
                      </a:r>
                    </a:p>
                  </a:txBody>
                  <a:tcPr marL="91440" marR="91440" marT="27432" marB="27432" anchor="ctr">
                    <a:solidFill>
                      <a:srgbClr val="FFFFFF"/>
                    </a:solidFill>
                  </a:tcPr>
                </a:tc>
              </a:tr>
              <a:tr h="384048">
                <a:tc>
                  <a:txBody>
                    <a:bodyPr wrap="square"/>
                    <a:lstStyle/>
                    <a:p>
                      <a:pPr algn="l"/>
                      <a:r>
                        <a:rPr sz="1050" b="1">
                          <a:solidFill>
                            <a:srgbClr val="0B2B4A"/>
                          </a:solidFill>
                          <a:latin typeface="Segoe UI"/>
                        </a:rPr>
                        <a:t>Huang &amp; Liao [23]</a:t>
                      </a:r>
                    </a:p>
                  </a:txBody>
                  <a:tcPr marL="91440" marR="91440" marT="27432" marB="27432" anchor="ctr">
                    <a:solidFill>
                      <a:srgbClr val="F3F8FB"/>
                    </a:solidFill>
                  </a:tcPr>
                </a:tc>
                <a:tc>
                  <a:txBody>
                    <a:bodyPr wrap="square"/>
                    <a:lstStyle/>
                    <a:p>
                      <a:pPr algn="l"/>
                      <a:r>
                        <a:rPr sz="1050" b="0">
                          <a:solidFill>
                            <a:srgbClr val="243B53"/>
                          </a:solidFill>
                          <a:latin typeface="Segoe UI"/>
                        </a:rPr>
                        <a:t>Multi class chest disease</a:t>
                      </a:r>
                    </a:p>
                  </a:txBody>
                  <a:tcPr marL="91440" marR="91440" marT="27432" marB="27432" anchor="ctr">
                    <a:solidFill>
                      <a:srgbClr val="F3F8FB"/>
                    </a:solidFill>
                  </a:tcPr>
                </a:tc>
                <a:tc>
                  <a:txBody>
                    <a:bodyPr wrap="square"/>
                    <a:lstStyle/>
                    <a:p>
                      <a:pPr algn="l"/>
                      <a:r>
                        <a:rPr sz="1050" b="0">
                          <a:solidFill>
                            <a:srgbClr val="243B53"/>
                          </a:solidFill>
                          <a:latin typeface="Segoe UI"/>
                        </a:rPr>
                        <a:t>Limited</a:t>
                      </a:r>
                    </a:p>
                  </a:txBody>
                  <a:tcPr marL="91440" marR="91440" marT="27432" marB="27432" anchor="ctr">
                    <a:solidFill>
                      <a:srgbClr val="F3F8FB"/>
                    </a:solidFill>
                  </a:tcPr>
                </a:tc>
                <a:tc>
                  <a:txBody>
                    <a:bodyPr wrap="square"/>
                    <a:lstStyle/>
                    <a:p>
                      <a:pPr algn="l"/>
                      <a:r>
                        <a:rPr sz="1050" b="0">
                          <a:solidFill>
                            <a:srgbClr val="243B53"/>
                          </a:solidFill>
                          <a:latin typeface="Segoe UI"/>
                        </a:rPr>
                        <a:t>None reported</a:t>
                      </a:r>
                    </a:p>
                  </a:txBody>
                  <a:tcPr marL="91440" marR="91440" marT="27432" marB="27432" anchor="ctr">
                    <a:solidFill>
                      <a:srgbClr val="F3F8FB"/>
                    </a:solidFill>
                  </a:tcPr>
                </a:tc>
                <a:tc>
                  <a:txBody>
                    <a:bodyPr wrap="square"/>
                    <a:lstStyle/>
                    <a:p>
                      <a:pPr algn="l"/>
                      <a:r>
                        <a:rPr sz="1050" b="0">
                          <a:solidFill>
                            <a:srgbClr val="243B53"/>
                          </a:solidFill>
                          <a:latin typeface="Segoe UI"/>
                        </a:rPr>
                        <a:t>No</a:t>
                      </a:r>
                    </a:p>
                  </a:txBody>
                  <a:tcPr marL="91440" marR="91440" marT="27432" marB="27432" anchor="ctr">
                    <a:solidFill>
                      <a:srgbClr val="F3F8FB"/>
                    </a:solidFill>
                  </a:tcPr>
                </a:tc>
              </a:tr>
              <a:tr h="384048">
                <a:tc>
                  <a:txBody>
                    <a:bodyPr wrap="square"/>
                    <a:lstStyle/>
                    <a:p>
                      <a:pPr algn="l"/>
                      <a:r>
                        <a:rPr sz="1050" b="1">
                          <a:solidFill>
                            <a:srgbClr val="0B2B4A"/>
                          </a:solidFill>
                          <a:latin typeface="Segoe UI"/>
                        </a:rPr>
                        <a:t>This study</a:t>
                      </a:r>
                    </a:p>
                  </a:txBody>
                  <a:tcPr marL="91440" marR="91440" marT="27432" marB="27432" anchor="ctr">
                    <a:solidFill>
                      <a:srgbClr val="E6F2F7"/>
                    </a:solidFill>
                  </a:tcPr>
                </a:tc>
                <a:tc>
                  <a:txBody>
                    <a:bodyPr wrap="square"/>
                    <a:lstStyle/>
                    <a:p>
                      <a:pPr algn="l"/>
                      <a:r>
                        <a:rPr sz="1050" b="1">
                          <a:solidFill>
                            <a:srgbClr val="0B2B4A"/>
                          </a:solidFill>
                          <a:latin typeface="Segoe UI"/>
                        </a:rPr>
                        <a:t>Four class, bacterial vs viral</a:t>
                      </a:r>
                    </a:p>
                  </a:txBody>
                  <a:tcPr marL="91440" marR="91440" marT="27432" marB="27432" anchor="ctr">
                    <a:solidFill>
                      <a:srgbClr val="E6F2F7"/>
                    </a:solidFill>
                  </a:tcPr>
                </a:tc>
                <a:tc>
                  <a:txBody>
                    <a:bodyPr wrap="square"/>
                    <a:lstStyle/>
                    <a:p>
                      <a:pPr algn="l"/>
                      <a:r>
                        <a:rPr sz="1050" b="1">
                          <a:solidFill>
                            <a:srgbClr val="0B2B4A"/>
                          </a:solidFill>
                          <a:latin typeface="Segoe UI"/>
                        </a:rPr>
                        <a:t>Grad-CAM from logits, lung restricted, quantified</a:t>
                      </a:r>
                    </a:p>
                  </a:txBody>
                  <a:tcPr marL="91440" marR="91440" marT="27432" marB="27432" anchor="ctr">
                    <a:solidFill>
                      <a:srgbClr val="E6F2F7"/>
                    </a:solidFill>
                  </a:tcPr>
                </a:tc>
                <a:tc>
                  <a:txBody>
                    <a:bodyPr wrap="square"/>
                    <a:lstStyle/>
                    <a:p>
                      <a:pPr algn="l"/>
                      <a:r>
                        <a:rPr sz="1050" b="1">
                          <a:solidFill>
                            <a:srgbClr val="0B2B4A"/>
                          </a:solidFill>
                          <a:latin typeface="Segoe UI"/>
                        </a:rPr>
                        <a:t>Mahalanobis, energy and MSP, evaluated</a:t>
                      </a:r>
                    </a:p>
                  </a:txBody>
                  <a:tcPr marL="91440" marR="91440" marT="27432" marB="27432" anchor="ctr">
                    <a:solidFill>
                      <a:srgbClr val="E6F2F7"/>
                    </a:solidFill>
                  </a:tcPr>
                </a:tc>
                <a:tc>
                  <a:txBody>
                    <a:bodyPr wrap="square"/>
                    <a:lstStyle/>
                    <a:p>
                      <a:pPr algn="l"/>
                      <a:r>
                        <a:rPr sz="1050" b="1">
                          <a:solidFill>
                            <a:srgbClr val="0B2B4A"/>
                          </a:solidFill>
                          <a:latin typeface="Segoe UI"/>
                        </a:rPr>
                        <a:t>Yes, full platform</a:t>
                      </a:r>
                    </a:p>
                  </a:txBody>
                  <a:tcPr marL="91440" marR="91440" marT="27432" marB="27432" anchor="ctr">
                    <a:solidFill>
                      <a:srgbClr val="E6F2F7"/>
                    </a:solidFill>
                  </a:tcPr>
                </a:tc>
              </a:tr>
            </a:tbl>
          </a:graphicData>
        </a:graphic>
      </p:graphicFrame>
      <p:sp>
        <p:nvSpPr>
          <p:cNvPr id="9" name="TextBox 8"/>
          <p:cNvSpPr txBox="1"/>
          <p:nvPr/>
        </p:nvSpPr>
        <p:spPr>
          <a:xfrm>
            <a:off x="658368" y="5138928"/>
            <a:ext cx="10874959"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Three derived requirements separate this design from every row above</a:t>
            </a:r>
          </a:p>
        </p:txBody>
      </p:sp>
      <p:sp>
        <p:nvSpPr>
          <p:cNvPr id="10" name="Rounded Rectangle 9"/>
          <p:cNvSpPr/>
          <p:nvPr/>
        </p:nvSpPr>
        <p:spPr>
          <a:xfrm>
            <a:off x="658368" y="5504688"/>
            <a:ext cx="3478682" cy="658368"/>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 y="5596128"/>
            <a:ext cx="3112922" cy="502920"/>
          </a:xfrm>
          <a:prstGeom prst="rect">
            <a:avLst/>
          </a:prstGeom>
          <a:noFill/>
        </p:spPr>
        <p:txBody>
          <a:bodyPr wrap="square" anchor="t" lIns="0" rIns="0" tIns="0" bIns="0">
            <a:spAutoFit/>
          </a:bodyPr>
          <a:lstStyle/>
          <a:p>
            <a:pPr algn="l">
              <a:lnSpc>
                <a:spcPct val="118000"/>
              </a:lnSpc>
              <a:spcAft>
                <a:spcPts val="600"/>
              </a:spcAft>
            </a:pPr>
            <a:r>
              <a:rPr sz="1200" b="1" i="0">
                <a:solidFill>
                  <a:srgbClr val="0E5A72"/>
                </a:solidFill>
                <a:latin typeface="Segoe UI"/>
              </a:rPr>
              <a:t>DR4  </a:t>
            </a:r>
            <a:r>
              <a:rPr sz="1150" b="0" i="0">
                <a:solidFill>
                  <a:srgbClr val="243B53"/>
                </a:solidFill>
                <a:latin typeface="Segoe UI"/>
              </a:rPr>
              <a:t>the system must be able to refuse to answer</a:t>
            </a:r>
          </a:p>
        </p:txBody>
      </p:sp>
      <p:sp>
        <p:nvSpPr>
          <p:cNvPr id="12" name="Rounded Rectangle 11"/>
          <p:cNvSpPr/>
          <p:nvPr/>
        </p:nvSpPr>
        <p:spPr>
          <a:xfrm>
            <a:off x="4356506" y="5504688"/>
            <a:ext cx="3478682" cy="658368"/>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39386" y="5596128"/>
            <a:ext cx="3112922" cy="502920"/>
          </a:xfrm>
          <a:prstGeom prst="rect">
            <a:avLst/>
          </a:prstGeom>
          <a:noFill/>
        </p:spPr>
        <p:txBody>
          <a:bodyPr wrap="square" anchor="t" lIns="0" rIns="0" tIns="0" bIns="0">
            <a:spAutoFit/>
          </a:bodyPr>
          <a:lstStyle/>
          <a:p>
            <a:pPr algn="l">
              <a:lnSpc>
                <a:spcPct val="118000"/>
              </a:lnSpc>
              <a:spcAft>
                <a:spcPts val="600"/>
              </a:spcAft>
            </a:pPr>
            <a:r>
              <a:rPr sz="1200" b="1" i="0">
                <a:solidFill>
                  <a:srgbClr val="0E5A72"/>
                </a:solidFill>
                <a:latin typeface="Segoe UI"/>
              </a:rPr>
              <a:t>DR5  </a:t>
            </a:r>
            <a:r>
              <a:rPr sz="1150" b="0" i="0">
                <a:solidFill>
                  <a:srgbClr val="243B53"/>
                </a:solidFill>
                <a:latin typeface="Segoe UI"/>
              </a:rPr>
              <a:t>several validity signals compared, not one adopted</a:t>
            </a:r>
          </a:p>
        </p:txBody>
      </p:sp>
      <p:sp>
        <p:nvSpPr>
          <p:cNvPr id="14" name="Rounded Rectangle 13"/>
          <p:cNvSpPr/>
          <p:nvPr/>
        </p:nvSpPr>
        <p:spPr>
          <a:xfrm>
            <a:off x="8054644" y="5504688"/>
            <a:ext cx="3478682" cy="658368"/>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37524" y="5596128"/>
            <a:ext cx="3112922" cy="502920"/>
          </a:xfrm>
          <a:prstGeom prst="rect">
            <a:avLst/>
          </a:prstGeom>
          <a:noFill/>
        </p:spPr>
        <p:txBody>
          <a:bodyPr wrap="square" anchor="t" lIns="0" rIns="0" tIns="0" bIns="0">
            <a:spAutoFit/>
          </a:bodyPr>
          <a:lstStyle/>
          <a:p>
            <a:pPr algn="l">
              <a:lnSpc>
                <a:spcPct val="118000"/>
              </a:lnSpc>
              <a:spcAft>
                <a:spcPts val="600"/>
              </a:spcAft>
            </a:pPr>
            <a:r>
              <a:rPr sz="1200" b="1" i="0">
                <a:solidFill>
                  <a:srgbClr val="0E5A72"/>
                </a:solidFill>
                <a:latin typeface="Segoe UI"/>
              </a:rPr>
              <a:t>DR8  </a:t>
            </a:r>
            <a:r>
              <a:rPr sz="1150" b="0" i="0">
                <a:solidFill>
                  <a:srgbClr val="243B53"/>
                </a:solidFill>
                <a:latin typeface="Segoe UI"/>
              </a:rPr>
              <a:t>explanation localisation measured and disclosed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WHAT THE STUDY ASKS</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Research question</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7</a:t>
            </a:r>
          </a:p>
        </p:txBody>
      </p:sp>
      <p:sp>
        <p:nvSpPr>
          <p:cNvPr id="8" name="Rounded Rectangle 7"/>
          <p:cNvSpPr/>
          <p:nvPr/>
        </p:nvSpPr>
        <p:spPr>
          <a:xfrm>
            <a:off x="658368" y="1572768"/>
            <a:ext cx="10874959" cy="1298448"/>
          </a:xfrm>
          <a:prstGeom prst="roundRect">
            <a:avLst>
              <a:gd name="adj" fmla="val 5000"/>
            </a:avLst>
          </a:prstGeom>
          <a:solidFill>
            <a:srgbClr val="0B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45720" cy="129844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69264" y="1755648"/>
            <a:ext cx="10234879" cy="1005840"/>
          </a:xfrm>
          <a:prstGeom prst="rect">
            <a:avLst/>
          </a:prstGeom>
          <a:noFill/>
        </p:spPr>
        <p:txBody>
          <a:bodyPr wrap="square" anchor="t" lIns="0" rIns="0" tIns="0" bIns="0">
            <a:spAutoFit/>
          </a:bodyPr>
          <a:lstStyle/>
          <a:p>
            <a:pPr algn="l">
              <a:lnSpc>
                <a:spcPct val="122000"/>
              </a:lnSpc>
              <a:spcAft>
                <a:spcPts val="600"/>
              </a:spcAft>
            </a:pPr>
            <a:r>
              <a:rPr sz="1600" b="0" i="0">
                <a:solidFill>
                  <a:srgbClr val="FFFFFF"/>
                </a:solidFill>
                <a:latin typeface="Segoe UI"/>
              </a:rPr>
              <a:t>To what extent can a post hoc and explainable framework that is aware of out of distribution inputs improve the clinical safety of automated four class pneumonia classification from chest radiographs, without retraining the underlying classifier?</a:t>
            </a:r>
          </a:p>
        </p:txBody>
      </p:sp>
      <p:sp>
        <p:nvSpPr>
          <p:cNvPr id="11" name="Rounded Rectangle 10"/>
          <p:cNvSpPr/>
          <p:nvPr/>
        </p:nvSpPr>
        <p:spPr>
          <a:xfrm>
            <a:off x="658368" y="3200400"/>
            <a:ext cx="3466490" cy="2487168"/>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58368" y="3200400"/>
            <a:ext cx="3466490" cy="45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96112" y="3419856"/>
            <a:ext cx="3009290" cy="274320"/>
          </a:xfrm>
          <a:prstGeom prst="rect">
            <a:avLst/>
          </a:prstGeom>
          <a:noFill/>
        </p:spPr>
        <p:txBody>
          <a:bodyPr wrap="square" anchor="t" lIns="0" rIns="0" tIns="0" bIns="0">
            <a:spAutoFit/>
          </a:bodyPr>
          <a:lstStyle/>
          <a:p>
            <a:pPr algn="l">
              <a:lnSpc>
                <a:spcPct val="118000"/>
              </a:lnSpc>
              <a:spcAft>
                <a:spcPts val="600"/>
              </a:spcAft>
            </a:pPr>
            <a:r>
              <a:rPr sz="1500" b="1" i="0">
                <a:solidFill>
                  <a:srgbClr val="147D9B"/>
                </a:solidFill>
                <a:latin typeface="Segoe UI"/>
              </a:rPr>
              <a:t>RQ1</a:t>
            </a:r>
          </a:p>
        </p:txBody>
      </p:sp>
      <p:sp>
        <p:nvSpPr>
          <p:cNvPr id="14" name="TextBox 13"/>
          <p:cNvSpPr txBox="1"/>
          <p:nvPr/>
        </p:nvSpPr>
        <p:spPr>
          <a:xfrm>
            <a:off x="896112" y="3749040"/>
            <a:ext cx="3009290" cy="310896"/>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Performance and error structure</a:t>
            </a:r>
          </a:p>
        </p:txBody>
      </p:sp>
      <p:sp>
        <p:nvSpPr>
          <p:cNvPr id="15" name="TextBox 14"/>
          <p:cNvSpPr txBox="1"/>
          <p:nvPr/>
        </p:nvSpPr>
        <p:spPr>
          <a:xfrm>
            <a:off x="896112" y="4133088"/>
            <a:ext cx="3009290" cy="1371600"/>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What classification performance, and what per class error structure, do DenseNet121, EfficientNetV2B3 and EfficientNetV2S achieve under a common dataset and split?</a:t>
            </a:r>
          </a:p>
        </p:txBody>
      </p:sp>
      <p:sp>
        <p:nvSpPr>
          <p:cNvPr id="16" name="Rounded Rectangle 15"/>
          <p:cNvSpPr/>
          <p:nvPr/>
        </p:nvSpPr>
        <p:spPr>
          <a:xfrm>
            <a:off x="4362602" y="3200400"/>
            <a:ext cx="3466490" cy="2487168"/>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62602" y="3200400"/>
            <a:ext cx="3466490" cy="45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00346" y="3419856"/>
            <a:ext cx="3009290" cy="274320"/>
          </a:xfrm>
          <a:prstGeom prst="rect">
            <a:avLst/>
          </a:prstGeom>
          <a:noFill/>
        </p:spPr>
        <p:txBody>
          <a:bodyPr wrap="square" anchor="t" lIns="0" rIns="0" tIns="0" bIns="0">
            <a:spAutoFit/>
          </a:bodyPr>
          <a:lstStyle/>
          <a:p>
            <a:pPr algn="l">
              <a:lnSpc>
                <a:spcPct val="118000"/>
              </a:lnSpc>
              <a:spcAft>
                <a:spcPts val="600"/>
              </a:spcAft>
            </a:pPr>
            <a:r>
              <a:rPr sz="1500" b="1" i="0">
                <a:solidFill>
                  <a:srgbClr val="147D9B"/>
                </a:solidFill>
                <a:latin typeface="Segoe UI"/>
              </a:rPr>
              <a:t>RQ2</a:t>
            </a:r>
          </a:p>
        </p:txBody>
      </p:sp>
      <p:sp>
        <p:nvSpPr>
          <p:cNvPr id="19" name="TextBox 18"/>
          <p:cNvSpPr txBox="1"/>
          <p:nvPr/>
        </p:nvSpPr>
        <p:spPr>
          <a:xfrm>
            <a:off x="4600346" y="3749040"/>
            <a:ext cx="3009290" cy="310896"/>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Input validity</a:t>
            </a:r>
          </a:p>
        </p:txBody>
      </p:sp>
      <p:sp>
        <p:nvSpPr>
          <p:cNvPr id="20" name="TextBox 19"/>
          <p:cNvSpPr txBox="1"/>
          <p:nvPr/>
        </p:nvSpPr>
        <p:spPr>
          <a:xfrm>
            <a:off x="4600346" y="4133088"/>
            <a:ext cx="3009290" cy="1371600"/>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Can inference time signals from an already trained classifier detect out of distribution inputs reliably enough to justify withholding a diagnosis, and at what cost to genuine scans?</a:t>
            </a:r>
          </a:p>
        </p:txBody>
      </p:sp>
      <p:sp>
        <p:nvSpPr>
          <p:cNvPr id="21" name="Rounded Rectangle 20"/>
          <p:cNvSpPr/>
          <p:nvPr/>
        </p:nvSpPr>
        <p:spPr>
          <a:xfrm>
            <a:off x="8066836" y="3200400"/>
            <a:ext cx="3466490" cy="2487168"/>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066836" y="3200400"/>
            <a:ext cx="3466490" cy="45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04580" y="3419856"/>
            <a:ext cx="3009290" cy="274320"/>
          </a:xfrm>
          <a:prstGeom prst="rect">
            <a:avLst/>
          </a:prstGeom>
          <a:noFill/>
        </p:spPr>
        <p:txBody>
          <a:bodyPr wrap="square" anchor="t" lIns="0" rIns="0" tIns="0" bIns="0">
            <a:spAutoFit/>
          </a:bodyPr>
          <a:lstStyle/>
          <a:p>
            <a:pPr algn="l">
              <a:lnSpc>
                <a:spcPct val="118000"/>
              </a:lnSpc>
              <a:spcAft>
                <a:spcPts val="600"/>
              </a:spcAft>
            </a:pPr>
            <a:r>
              <a:rPr sz="1500" b="1" i="0">
                <a:solidFill>
                  <a:srgbClr val="147D9B"/>
                </a:solidFill>
                <a:latin typeface="Segoe UI"/>
              </a:rPr>
              <a:t>RQ3</a:t>
            </a:r>
          </a:p>
        </p:txBody>
      </p:sp>
      <p:sp>
        <p:nvSpPr>
          <p:cNvPr id="24" name="TextBox 23"/>
          <p:cNvSpPr txBox="1"/>
          <p:nvPr/>
        </p:nvSpPr>
        <p:spPr>
          <a:xfrm>
            <a:off x="8304580" y="3749040"/>
            <a:ext cx="3009290" cy="310896"/>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Explanation localisation</a:t>
            </a:r>
          </a:p>
        </p:txBody>
      </p:sp>
      <p:sp>
        <p:nvSpPr>
          <p:cNvPr id="25" name="TextBox 24"/>
          <p:cNvSpPr txBox="1"/>
          <p:nvPr/>
        </p:nvSpPr>
        <p:spPr>
          <a:xfrm>
            <a:off x="8304580" y="4133088"/>
            <a:ext cx="3009290" cy="1371600"/>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Do the Grad-CAM explanations fall on the lung fields and on the regions clinically associated with each class?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WHAT THE STUDY SET OUT TO DO</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Aim and objectives</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8</a:t>
            </a:r>
          </a:p>
        </p:txBody>
      </p:sp>
      <p:sp>
        <p:nvSpPr>
          <p:cNvPr id="8" name="Rounded Rectangle 7"/>
          <p:cNvSpPr/>
          <p:nvPr/>
        </p:nvSpPr>
        <p:spPr>
          <a:xfrm>
            <a:off x="658368" y="1572768"/>
            <a:ext cx="10874959" cy="1389888"/>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40640" cy="138988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755648"/>
            <a:ext cx="10362895"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Aim</a:t>
            </a:r>
          </a:p>
        </p:txBody>
      </p:sp>
      <p:sp>
        <p:nvSpPr>
          <p:cNvPr id="11" name="TextBox 10"/>
          <p:cNvSpPr txBox="1"/>
          <p:nvPr/>
        </p:nvSpPr>
        <p:spPr>
          <a:xfrm>
            <a:off x="914400" y="2121408"/>
            <a:ext cx="10362895" cy="640080"/>
          </a:xfrm>
          <a:prstGeom prst="rect">
            <a:avLst/>
          </a:prstGeom>
          <a:noFill/>
        </p:spPr>
        <p:txBody>
          <a:bodyPr wrap="square" anchor="t" lIns="0" rIns="0" tIns="0" bIns="0">
            <a:spAutoFit/>
          </a:bodyPr>
          <a:lstStyle/>
          <a:p>
            <a:pPr algn="l">
              <a:lnSpc>
                <a:spcPct val="118000"/>
              </a:lnSpc>
              <a:spcAft>
                <a:spcPts val="600"/>
              </a:spcAft>
            </a:pPr>
            <a:r>
              <a:rPr sz="1300" b="0" i="0">
                <a:solidFill>
                  <a:srgbClr val="243B53"/>
                </a:solidFill>
                <a:latin typeface="Segoe UI"/>
              </a:rPr>
              <a:t>To design, implement and evaluate an explainable four class framework that is aware of out of distribution inputs, to deliver it as a working clinical decision support platform, and to produce evidence about its performance, its input validity behaviour and where its explanations place their attention.</a:t>
            </a:r>
          </a:p>
        </p:txBody>
      </p:sp>
      <p:sp>
        <p:nvSpPr>
          <p:cNvPr id="12" name="Rounded Rectangle 11"/>
          <p:cNvSpPr/>
          <p:nvPr/>
        </p:nvSpPr>
        <p:spPr>
          <a:xfrm>
            <a:off x="658368" y="3127248"/>
            <a:ext cx="10874959" cy="54864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58368" y="3127248"/>
            <a:ext cx="786384" cy="548640"/>
          </a:xfrm>
          <a:prstGeom prst="roundRect">
            <a:avLst>
              <a:gd name="adj" fmla="val 10000"/>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58368" y="3273552"/>
            <a:ext cx="786384" cy="274320"/>
          </a:xfrm>
          <a:prstGeom prst="rect">
            <a:avLst/>
          </a:prstGeom>
          <a:noFill/>
        </p:spPr>
        <p:txBody>
          <a:bodyPr wrap="square" anchor="t" lIns="0" rIns="0" tIns="0" bIns="0">
            <a:spAutoFit/>
          </a:bodyPr>
          <a:lstStyle/>
          <a:p>
            <a:pPr algn="ctr">
              <a:lnSpc>
                <a:spcPct val="118000"/>
              </a:lnSpc>
              <a:spcAft>
                <a:spcPts val="600"/>
              </a:spcAft>
            </a:pPr>
            <a:r>
              <a:rPr sz="1300" b="1" i="0">
                <a:solidFill>
                  <a:srgbClr val="FFFFFF"/>
                </a:solidFill>
                <a:latin typeface="Segoe UI"/>
              </a:rPr>
              <a:t>RO1</a:t>
            </a:r>
          </a:p>
        </p:txBody>
      </p:sp>
      <p:sp>
        <p:nvSpPr>
          <p:cNvPr id="15" name="TextBox 14"/>
          <p:cNvSpPr txBox="1"/>
          <p:nvPr/>
        </p:nvSpPr>
        <p:spPr>
          <a:xfrm>
            <a:off x="1645920" y="3259836"/>
            <a:ext cx="9594799" cy="36576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Identify  </a:t>
            </a:r>
            <a:r>
              <a:rPr sz="1250" b="0" i="0">
                <a:solidFill>
                  <a:srgbClr val="243B53"/>
                </a:solidFill>
                <a:latin typeface="Segoe UI"/>
              </a:rPr>
              <a:t>the limitations of existing systems through a critical review, and derive design requirements from them</a:t>
            </a:r>
          </a:p>
        </p:txBody>
      </p:sp>
      <p:sp>
        <p:nvSpPr>
          <p:cNvPr id="16" name="Rounded Rectangle 15"/>
          <p:cNvSpPr/>
          <p:nvPr/>
        </p:nvSpPr>
        <p:spPr>
          <a:xfrm>
            <a:off x="658368" y="3749040"/>
            <a:ext cx="10874959" cy="54864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58368" y="3749040"/>
            <a:ext cx="786384" cy="548640"/>
          </a:xfrm>
          <a:prstGeom prst="roundRect">
            <a:avLst>
              <a:gd name="adj" fmla="val 10000"/>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8368" y="3895344"/>
            <a:ext cx="786384" cy="274320"/>
          </a:xfrm>
          <a:prstGeom prst="rect">
            <a:avLst/>
          </a:prstGeom>
          <a:noFill/>
        </p:spPr>
        <p:txBody>
          <a:bodyPr wrap="square" anchor="t" lIns="0" rIns="0" tIns="0" bIns="0">
            <a:spAutoFit/>
          </a:bodyPr>
          <a:lstStyle/>
          <a:p>
            <a:pPr algn="ctr">
              <a:lnSpc>
                <a:spcPct val="118000"/>
              </a:lnSpc>
              <a:spcAft>
                <a:spcPts val="600"/>
              </a:spcAft>
            </a:pPr>
            <a:r>
              <a:rPr sz="1300" b="1" i="0">
                <a:solidFill>
                  <a:srgbClr val="FFFFFF"/>
                </a:solidFill>
                <a:latin typeface="Segoe UI"/>
              </a:rPr>
              <a:t>RO2</a:t>
            </a:r>
          </a:p>
        </p:txBody>
      </p:sp>
      <p:sp>
        <p:nvSpPr>
          <p:cNvPr id="19" name="TextBox 18"/>
          <p:cNvSpPr txBox="1"/>
          <p:nvPr/>
        </p:nvSpPr>
        <p:spPr>
          <a:xfrm>
            <a:off x="1645920" y="3881628"/>
            <a:ext cx="9594799" cy="36576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Analyse  </a:t>
            </a:r>
            <a:r>
              <a:rPr sz="1250" b="0" i="0">
                <a:solidFill>
                  <a:srgbClr val="243B53"/>
                </a:solidFill>
                <a:latin typeface="Segoe UI"/>
              </a:rPr>
              <a:t>three architectures under a common dataset, split and transfer learning protocol, with per class metrics</a:t>
            </a:r>
          </a:p>
        </p:txBody>
      </p:sp>
      <p:sp>
        <p:nvSpPr>
          <p:cNvPr id="20" name="Rounded Rectangle 19"/>
          <p:cNvSpPr/>
          <p:nvPr/>
        </p:nvSpPr>
        <p:spPr>
          <a:xfrm>
            <a:off x="658368" y="4370832"/>
            <a:ext cx="10874959" cy="54864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58368" y="4370832"/>
            <a:ext cx="786384" cy="548640"/>
          </a:xfrm>
          <a:prstGeom prst="roundRect">
            <a:avLst>
              <a:gd name="adj" fmla="val 10000"/>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8368" y="4517136"/>
            <a:ext cx="786384" cy="274320"/>
          </a:xfrm>
          <a:prstGeom prst="rect">
            <a:avLst/>
          </a:prstGeom>
          <a:noFill/>
        </p:spPr>
        <p:txBody>
          <a:bodyPr wrap="square" anchor="t" lIns="0" rIns="0" tIns="0" bIns="0">
            <a:spAutoFit/>
          </a:bodyPr>
          <a:lstStyle/>
          <a:p>
            <a:pPr algn="ctr">
              <a:lnSpc>
                <a:spcPct val="118000"/>
              </a:lnSpc>
              <a:spcAft>
                <a:spcPts val="600"/>
              </a:spcAft>
            </a:pPr>
            <a:r>
              <a:rPr sz="1300" b="1" i="0">
                <a:solidFill>
                  <a:srgbClr val="FFFFFF"/>
                </a:solidFill>
                <a:latin typeface="Segoe UI"/>
              </a:rPr>
              <a:t>RO3</a:t>
            </a:r>
          </a:p>
        </p:txBody>
      </p:sp>
      <p:sp>
        <p:nvSpPr>
          <p:cNvPr id="23" name="TextBox 22"/>
          <p:cNvSpPr txBox="1"/>
          <p:nvPr/>
        </p:nvSpPr>
        <p:spPr>
          <a:xfrm>
            <a:off x="1645920" y="4503420"/>
            <a:ext cx="9594799" cy="36576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Design and develop  </a:t>
            </a:r>
            <a:r>
              <a:rPr sz="1250" b="0" i="0">
                <a:solidFill>
                  <a:srgbClr val="243B53"/>
                </a:solidFill>
                <a:latin typeface="Segoe UI"/>
              </a:rPr>
              <a:t>a post hoc safeguard that assesses input validity without retraining, integrated end to end</a:t>
            </a:r>
          </a:p>
        </p:txBody>
      </p:sp>
      <p:sp>
        <p:nvSpPr>
          <p:cNvPr id="24" name="Rounded Rectangle 23"/>
          <p:cNvSpPr/>
          <p:nvPr/>
        </p:nvSpPr>
        <p:spPr>
          <a:xfrm>
            <a:off x="658368" y="4992624"/>
            <a:ext cx="10874959" cy="54864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58368" y="4992624"/>
            <a:ext cx="786384" cy="548640"/>
          </a:xfrm>
          <a:prstGeom prst="roundRect">
            <a:avLst>
              <a:gd name="adj" fmla="val 10000"/>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8368" y="5138928"/>
            <a:ext cx="786384" cy="274320"/>
          </a:xfrm>
          <a:prstGeom prst="rect">
            <a:avLst/>
          </a:prstGeom>
          <a:noFill/>
        </p:spPr>
        <p:txBody>
          <a:bodyPr wrap="square" anchor="t" lIns="0" rIns="0" tIns="0" bIns="0">
            <a:spAutoFit/>
          </a:bodyPr>
          <a:lstStyle/>
          <a:p>
            <a:pPr algn="ctr">
              <a:lnSpc>
                <a:spcPct val="118000"/>
              </a:lnSpc>
              <a:spcAft>
                <a:spcPts val="600"/>
              </a:spcAft>
            </a:pPr>
            <a:r>
              <a:rPr sz="1300" b="1" i="0">
                <a:solidFill>
                  <a:srgbClr val="FFFFFF"/>
                </a:solidFill>
                <a:latin typeface="Segoe UI"/>
              </a:rPr>
              <a:t>RO4</a:t>
            </a:r>
          </a:p>
        </p:txBody>
      </p:sp>
      <p:sp>
        <p:nvSpPr>
          <p:cNvPr id="27" name="TextBox 26"/>
          <p:cNvSpPr txBox="1"/>
          <p:nvPr/>
        </p:nvSpPr>
        <p:spPr>
          <a:xfrm>
            <a:off x="1645920" y="5125212"/>
            <a:ext cx="9594799" cy="36576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Evaluate  </a:t>
            </a:r>
            <a:r>
              <a:rPr sz="1250" b="0" i="0">
                <a:solidFill>
                  <a:srgbClr val="243B53"/>
                </a:solidFill>
                <a:latin typeface="Segoe UI"/>
              </a:rPr>
              <a:t>the safeguard and the explanation: retention, separability, and where attention falls</a:t>
            </a:r>
          </a:p>
        </p:txBody>
      </p:sp>
      <p:sp>
        <p:nvSpPr>
          <p:cNvPr id="28" name="Rounded Rectangle 27"/>
          <p:cNvSpPr/>
          <p:nvPr/>
        </p:nvSpPr>
        <p:spPr>
          <a:xfrm>
            <a:off x="658368" y="5614416"/>
            <a:ext cx="10874959" cy="54864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58368" y="5614416"/>
            <a:ext cx="786384" cy="548640"/>
          </a:xfrm>
          <a:prstGeom prst="roundRect">
            <a:avLst>
              <a:gd name="adj" fmla="val 10000"/>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8368" y="5760720"/>
            <a:ext cx="786384" cy="274320"/>
          </a:xfrm>
          <a:prstGeom prst="rect">
            <a:avLst/>
          </a:prstGeom>
          <a:noFill/>
        </p:spPr>
        <p:txBody>
          <a:bodyPr wrap="square" anchor="t" lIns="0" rIns="0" tIns="0" bIns="0">
            <a:spAutoFit/>
          </a:bodyPr>
          <a:lstStyle/>
          <a:p>
            <a:pPr algn="ctr">
              <a:lnSpc>
                <a:spcPct val="118000"/>
              </a:lnSpc>
              <a:spcAft>
                <a:spcPts val="600"/>
              </a:spcAft>
            </a:pPr>
            <a:r>
              <a:rPr sz="1300" b="1" i="0">
                <a:solidFill>
                  <a:srgbClr val="FFFFFF"/>
                </a:solidFill>
                <a:latin typeface="Segoe UI"/>
              </a:rPr>
              <a:t>RO5</a:t>
            </a:r>
          </a:p>
        </p:txBody>
      </p:sp>
      <p:sp>
        <p:nvSpPr>
          <p:cNvPr id="31" name="TextBox 30"/>
          <p:cNvSpPr txBox="1"/>
          <p:nvPr/>
        </p:nvSpPr>
        <p:spPr>
          <a:xfrm>
            <a:off x="1645920" y="5747004"/>
            <a:ext cx="9594799" cy="36576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Recommend  </a:t>
            </a:r>
            <a:r>
              <a:rPr sz="1250" b="0" i="0">
                <a:solidFill>
                  <a:srgbClr val="243B53"/>
                </a:solidFill>
                <a:latin typeface="Segoe UI"/>
              </a:rPr>
              <a:t>the conditions under which such a framework is, and is not, suitable for screening and triage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WHAT THE STUDY DOES AND DOES NOT COVER</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Scope and delimitations</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9</a:t>
            </a:r>
          </a:p>
        </p:txBody>
      </p:sp>
      <p:graphicFrame>
        <p:nvGraphicFramePr>
          <p:cNvPr id="8" name="Table 7"/>
          <p:cNvGraphicFramePr>
            <a:graphicFrameLocks noGrp="1"/>
          </p:cNvGraphicFramePr>
          <p:nvPr/>
        </p:nvGraphicFramePr>
        <p:xfrm>
          <a:off x="658368" y="1572768"/>
          <a:ext cx="10874958" cy="2907792"/>
        </p:xfrm>
        <a:graphic>
          <a:graphicData uri="http://schemas.openxmlformats.org/drawingml/2006/table">
            <a:tbl>
              <a:tblPr>
                <a:tableStyleId>{5C22544A-7EE6-4342-B048-85BDC9FD1C3A}</a:tableStyleId>
              </a:tblPr>
              <a:tblGrid>
                <a:gridCol w="5437479"/>
                <a:gridCol w="5437479"/>
              </a:tblGrid>
              <a:tr h="347472">
                <a:tc>
                  <a:txBody>
                    <a:bodyPr wrap="square"/>
                    <a:lstStyle/>
                    <a:p>
                      <a:pPr algn="l"/>
                      <a:r>
                        <a:rPr sz="1100" b="1">
                          <a:solidFill>
                            <a:srgbClr val="FFFFFF"/>
                          </a:solidFill>
                          <a:latin typeface="Segoe UI"/>
                        </a:rPr>
                        <a:t>In scope</a:t>
                      </a:r>
                    </a:p>
                  </a:txBody>
                  <a:tcPr marL="91440" marR="91440" marT="27432" marB="27432" anchor="ctr">
                    <a:solidFill>
                      <a:srgbClr val="0E5A72"/>
                    </a:solidFill>
                  </a:tcPr>
                </a:tc>
                <a:tc>
                  <a:txBody>
                    <a:bodyPr wrap="square"/>
                    <a:lstStyle/>
                    <a:p>
                      <a:pPr algn="l"/>
                      <a:r>
                        <a:rPr sz="1100" b="1">
                          <a:solidFill>
                            <a:srgbClr val="FFFFFF"/>
                          </a:solidFill>
                          <a:latin typeface="Segoe UI"/>
                        </a:rPr>
                        <a:t>Out of scope</a:t>
                      </a:r>
                    </a:p>
                  </a:txBody>
                  <a:tcPr marL="91440" marR="91440" marT="27432" marB="27432" anchor="ctr">
                    <a:solidFill>
                      <a:srgbClr val="0E5A72"/>
                    </a:solidFill>
                  </a:tcPr>
                </a:tc>
              </a:tr>
              <a:tr h="365760">
                <a:tc>
                  <a:txBody>
                    <a:bodyPr wrap="square"/>
                    <a:lstStyle/>
                    <a:p>
                      <a:pPr algn="l"/>
                      <a:r>
                        <a:rPr sz="1150" b="1">
                          <a:solidFill>
                            <a:srgbClr val="0B2B4A"/>
                          </a:solidFill>
                          <a:latin typeface="Segoe UI"/>
                        </a:rPr>
                        <a:t>Four class classification of Normal, COVID-19, bacterial and viral pneumonia</a:t>
                      </a:r>
                    </a:p>
                  </a:txBody>
                  <a:tcPr marL="91440" marR="91440" marT="27432" marB="27432" anchor="ctr">
                    <a:solidFill>
                      <a:srgbClr val="FFFFFF"/>
                    </a:solidFill>
                  </a:tcPr>
                </a:tc>
                <a:tc>
                  <a:txBody>
                    <a:bodyPr wrap="square"/>
                    <a:lstStyle/>
                    <a:p>
                      <a:pPr algn="l"/>
                      <a:r>
                        <a:rPr sz="1150" b="0">
                          <a:solidFill>
                            <a:srgbClr val="243B53"/>
                          </a:solidFill>
                          <a:latin typeface="Segoe UI"/>
                        </a:rPr>
                        <a:t>Other pathologies such as tuberculosis, effusion or nodules</a:t>
                      </a:r>
                    </a:p>
                  </a:txBody>
                  <a:tcPr marL="91440" marR="91440" marT="27432" marB="27432" anchor="ctr">
                    <a:solidFill>
                      <a:srgbClr val="FFFFFF"/>
                    </a:solidFill>
                  </a:tcPr>
                </a:tc>
              </a:tr>
              <a:tr h="365760">
                <a:tc>
                  <a:txBody>
                    <a:bodyPr wrap="square"/>
                    <a:lstStyle/>
                    <a:p>
                      <a:pPr algn="l"/>
                      <a:r>
                        <a:rPr sz="1150" b="1">
                          <a:solidFill>
                            <a:srgbClr val="0B2B4A"/>
                          </a:solidFill>
                          <a:latin typeface="Segoe UI"/>
                        </a:rPr>
                        <a:t>Frontal chest radiographs from a curated public dataset</a:t>
                      </a:r>
                    </a:p>
                  </a:txBody>
                  <a:tcPr marL="91440" marR="91440" marT="27432" marB="27432" anchor="ctr">
                    <a:solidFill>
                      <a:srgbClr val="F3F8FB"/>
                    </a:solidFill>
                  </a:tcPr>
                </a:tc>
                <a:tc>
                  <a:txBody>
                    <a:bodyPr wrap="square"/>
                    <a:lstStyle/>
                    <a:p>
                      <a:pPr algn="l"/>
                      <a:r>
                        <a:rPr sz="1150" b="0">
                          <a:solidFill>
                            <a:srgbClr val="243B53"/>
                          </a:solidFill>
                          <a:latin typeface="Segoe UI"/>
                        </a:rPr>
                        <a:t>Lateral views, computed tomography, other modalities</a:t>
                      </a:r>
                    </a:p>
                  </a:txBody>
                  <a:tcPr marL="91440" marR="91440" marT="27432" marB="27432" anchor="ctr">
                    <a:solidFill>
                      <a:srgbClr val="F3F8FB"/>
                    </a:solidFill>
                  </a:tcPr>
                </a:tc>
              </a:tr>
              <a:tr h="365760">
                <a:tc>
                  <a:txBody>
                    <a:bodyPr wrap="square"/>
                    <a:lstStyle/>
                    <a:p>
                      <a:pPr algn="l"/>
                      <a:r>
                        <a:rPr sz="1150" b="1">
                          <a:solidFill>
                            <a:srgbClr val="0B2B4A"/>
                          </a:solidFill>
                          <a:latin typeface="Segoe UI"/>
                        </a:rPr>
                        <a:t>Comparison of three named architectures under one protocol</a:t>
                      </a:r>
                    </a:p>
                  </a:txBody>
                  <a:tcPr marL="91440" marR="91440" marT="27432" marB="27432" anchor="ctr">
                    <a:solidFill>
                      <a:srgbClr val="FFFFFF"/>
                    </a:solidFill>
                  </a:tcPr>
                </a:tc>
                <a:tc>
                  <a:txBody>
                    <a:bodyPr wrap="square"/>
                    <a:lstStyle/>
                    <a:p>
                      <a:pPr algn="l"/>
                      <a:r>
                        <a:rPr sz="1150" b="0">
                          <a:solidFill>
                            <a:srgbClr val="243B53"/>
                          </a:solidFill>
                          <a:latin typeface="Segoe UI"/>
                        </a:rPr>
                        <a:t>Novel architecture design or training from scratch</a:t>
                      </a:r>
                    </a:p>
                  </a:txBody>
                  <a:tcPr marL="91440" marR="91440" marT="27432" marB="27432" anchor="ctr">
                    <a:solidFill>
                      <a:srgbClr val="FFFFFF"/>
                    </a:solidFill>
                  </a:tcPr>
                </a:tc>
              </a:tr>
              <a:tr h="365760">
                <a:tc>
                  <a:txBody>
                    <a:bodyPr wrap="square"/>
                    <a:lstStyle/>
                    <a:p>
                      <a:pPr algn="l"/>
                      <a:r>
                        <a:rPr sz="1150" b="1">
                          <a:solidFill>
                            <a:srgbClr val="0B2B4A"/>
                          </a:solidFill>
                          <a:latin typeface="Segoe UI"/>
                        </a:rPr>
                        <a:t>A post hoc safeguard calibrated without retraining</a:t>
                      </a:r>
                    </a:p>
                  </a:txBody>
                  <a:tcPr marL="91440" marR="91440" marT="27432" marB="27432" anchor="ctr">
                    <a:solidFill>
                      <a:srgbClr val="F3F8FB"/>
                    </a:solidFill>
                  </a:tcPr>
                </a:tc>
                <a:tc>
                  <a:txBody>
                    <a:bodyPr wrap="square"/>
                    <a:lstStyle/>
                    <a:p>
                      <a:pPr algn="l"/>
                      <a:r>
                        <a:rPr sz="1150" b="0">
                          <a:solidFill>
                            <a:srgbClr val="243B53"/>
                          </a:solidFill>
                          <a:latin typeface="Segoe UI"/>
                        </a:rPr>
                        <a:t>Retraining or architectural modification for robustness</a:t>
                      </a:r>
                    </a:p>
                  </a:txBody>
                  <a:tcPr marL="91440" marR="91440" marT="27432" marB="27432" anchor="ctr">
                    <a:solidFill>
                      <a:srgbClr val="F3F8FB"/>
                    </a:solidFill>
                  </a:tcPr>
                </a:tc>
              </a:tr>
              <a:tr h="365760">
                <a:tc>
                  <a:txBody>
                    <a:bodyPr wrap="square"/>
                    <a:lstStyle/>
                    <a:p>
                      <a:pPr algn="l"/>
                      <a:r>
                        <a:rPr sz="1150" b="1">
                          <a:solidFill>
                            <a:srgbClr val="0B2B4A"/>
                          </a:solidFill>
                          <a:latin typeface="Segoe UI"/>
                        </a:rPr>
                        <a:t>Grad-CAM with lung restriction and measurement</a:t>
                      </a:r>
                    </a:p>
                  </a:txBody>
                  <a:tcPr marL="91440" marR="91440" marT="27432" marB="27432" anchor="ctr">
                    <a:solidFill>
                      <a:srgbClr val="FFFFFF"/>
                    </a:solidFill>
                  </a:tcPr>
                </a:tc>
                <a:tc>
                  <a:txBody>
                    <a:bodyPr wrap="square"/>
                    <a:lstStyle/>
                    <a:p>
                      <a:pPr algn="l"/>
                      <a:r>
                        <a:rPr sz="1150" b="0">
                          <a:solidFill>
                            <a:srgbClr val="243B53"/>
                          </a:solidFill>
                          <a:latin typeface="Segoe UI"/>
                        </a:rPr>
                        <a:t>Lesion segmentation or automated reporting</a:t>
                      </a:r>
                    </a:p>
                  </a:txBody>
                  <a:tcPr marL="91440" marR="91440" marT="27432" marB="27432" anchor="ctr">
                    <a:solidFill>
                      <a:srgbClr val="FFFFFF"/>
                    </a:solidFill>
                  </a:tcPr>
                </a:tc>
              </a:tr>
              <a:tr h="365760">
                <a:tc>
                  <a:txBody>
                    <a:bodyPr wrap="square"/>
                    <a:lstStyle/>
                    <a:p>
                      <a:pPr algn="l"/>
                      <a:r>
                        <a:rPr sz="1150" b="1">
                          <a:solidFill>
                            <a:srgbClr val="0B2B4A"/>
                          </a:solidFill>
                          <a:latin typeface="Segoe UI"/>
                        </a:rPr>
                        <a:t>Held out test split and a synthetic probe</a:t>
                      </a:r>
                    </a:p>
                  </a:txBody>
                  <a:tcPr marL="91440" marR="91440" marT="27432" marB="27432" anchor="ctr">
                    <a:solidFill>
                      <a:srgbClr val="F3F8FB"/>
                    </a:solidFill>
                  </a:tcPr>
                </a:tc>
                <a:tc>
                  <a:txBody>
                    <a:bodyPr wrap="square"/>
                    <a:lstStyle/>
                    <a:p>
                      <a:pPr algn="l"/>
                      <a:r>
                        <a:rPr sz="1150" b="0">
                          <a:solidFill>
                            <a:srgbClr val="243B53"/>
                          </a:solidFill>
                          <a:latin typeface="Segoe UI"/>
                        </a:rPr>
                        <a:t>Clinical trial or validation across hospitals</a:t>
                      </a:r>
                    </a:p>
                  </a:txBody>
                  <a:tcPr marL="91440" marR="91440" marT="27432" marB="27432" anchor="ctr">
                    <a:solidFill>
                      <a:srgbClr val="F3F8FB"/>
                    </a:solidFill>
                  </a:tcPr>
                </a:tc>
              </a:tr>
              <a:tr h="365760">
                <a:tc>
                  <a:txBody>
                    <a:bodyPr wrap="square"/>
                    <a:lstStyle/>
                    <a:p>
                      <a:pPr algn="l"/>
                      <a:r>
                        <a:rPr sz="1150" b="1">
                          <a:solidFill>
                            <a:srgbClr val="0B2B4A"/>
                          </a:solidFill>
                          <a:latin typeface="Segoe UI"/>
                        </a:rPr>
                        <a:t>Web platform with authentication and reporting</a:t>
                      </a:r>
                    </a:p>
                  </a:txBody>
                  <a:tcPr marL="91440" marR="91440" marT="27432" marB="27432" anchor="ctr">
                    <a:solidFill>
                      <a:srgbClr val="FFFFFF"/>
                    </a:solidFill>
                  </a:tcPr>
                </a:tc>
                <a:tc>
                  <a:txBody>
                    <a:bodyPr wrap="square"/>
                    <a:lstStyle/>
                    <a:p>
                      <a:pPr algn="l"/>
                      <a:r>
                        <a:rPr sz="1150" b="0">
                          <a:solidFill>
                            <a:srgbClr val="243B53"/>
                          </a:solidFill>
                          <a:latin typeface="Segoe UI"/>
                        </a:rPr>
                        <a:t>Integration with hospital systems or records</a:t>
                      </a:r>
                    </a:p>
                  </a:txBody>
                  <a:tcPr marL="91440" marR="91440" marT="27432" marB="27432" anchor="ctr">
                    <a:solidFill>
                      <a:srgbClr val="FFFFFF"/>
                    </a:solidFill>
                  </a:tcPr>
                </a:tc>
              </a:tr>
            </a:tbl>
          </a:graphicData>
        </a:graphic>
      </p:graphicFrame>
      <p:sp>
        <p:nvSpPr>
          <p:cNvPr id="9" name="Rounded Rectangle 8"/>
          <p:cNvSpPr/>
          <p:nvPr/>
        </p:nvSpPr>
        <p:spPr>
          <a:xfrm>
            <a:off x="658368" y="5431536"/>
            <a:ext cx="10874959" cy="859536"/>
          </a:xfrm>
          <a:prstGeom prst="roundRect">
            <a:avLst>
              <a:gd name="adj" fmla="val 10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58368" y="5431536"/>
            <a:ext cx="40640" cy="85953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6112" y="5550408"/>
            <a:ext cx="10372039" cy="621792"/>
          </a:xfrm>
          <a:prstGeom prst="rect">
            <a:avLst/>
          </a:prstGeom>
          <a:noFill/>
        </p:spPr>
        <p:txBody>
          <a:bodyPr wrap="square" anchor="t" lIns="0" rIns="0" tIns="0" bIns="0">
            <a:spAutoFit/>
          </a:bodyPr>
          <a:lstStyle/>
          <a:p>
            <a:pPr algn="l">
              <a:lnSpc>
                <a:spcPct val="118000"/>
              </a:lnSpc>
              <a:spcAft>
                <a:spcPts val="300"/>
              </a:spcAft>
            </a:pPr>
            <a:r>
              <a:rPr sz="1250" b="1" i="0">
                <a:solidFill>
                  <a:srgbClr val="B45309"/>
                </a:solidFill>
                <a:latin typeface="Segoe UI"/>
              </a:rPr>
              <a:t>The most significant delimitation</a:t>
            </a:r>
          </a:p>
          <a:p>
            <a:pPr algn="l">
              <a:lnSpc>
                <a:spcPct val="118000"/>
              </a:lnSpc>
              <a:spcAft>
                <a:spcPts val="300"/>
              </a:spcAft>
            </a:pPr>
            <a:r>
              <a:rPr sz="1150" b="0" i="0">
                <a:solidFill>
                  <a:srgbClr val="B45309"/>
                </a:solidFill>
                <a:latin typeface="Segoe UI"/>
              </a:rPr>
              <a:t>The single curated dataset. External validation across hospitals, devices and demographic groups is necessary before any clinical claim can be made.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1463040" cy="457200"/>
          </a:xfrm>
          <a:prstGeom prst="rect">
            <a:avLst/>
          </a:prstGeom>
          <a:noFill/>
        </p:spPr>
        <p:txBody>
          <a:bodyPr wrap="square" anchor="t" lIns="0" rIns="0" tIns="0" bIns="0">
            <a:spAutoFit/>
          </a:bodyPr>
          <a:lstStyle/>
          <a:p>
            <a:pPr algn="l">
              <a:lnSpc>
                <a:spcPct val="118000"/>
              </a:lnSpc>
              <a:spcAft>
                <a:spcPts val="600"/>
              </a:spcAft>
            </a:pPr>
            <a:r>
              <a:rPr sz="1300" b="1" i="0">
                <a:solidFill>
                  <a:srgbClr val="7FC3D8"/>
                </a:solidFill>
                <a:latin typeface="Segoe UI"/>
              </a:rPr>
              <a:t>02</a:t>
            </a:r>
          </a:p>
        </p:txBody>
      </p:sp>
      <p:sp>
        <p:nvSpPr>
          <p:cNvPr id="5" name="TextBox 4"/>
          <p:cNvSpPr txBox="1"/>
          <p:nvPr/>
        </p:nvSpPr>
        <p:spPr>
          <a:xfrm>
            <a:off x="1051560" y="2331720"/>
            <a:ext cx="8778240" cy="1005840"/>
          </a:xfrm>
          <a:prstGeom prst="rect">
            <a:avLst/>
          </a:prstGeom>
          <a:noFill/>
        </p:spPr>
        <p:txBody>
          <a:bodyPr wrap="square" anchor="t" lIns="0" rIns="0" tIns="0" bIns="0">
            <a:spAutoFit/>
          </a:bodyPr>
          <a:lstStyle/>
          <a:p>
            <a:pPr algn="l">
              <a:lnSpc>
                <a:spcPct val="102000"/>
              </a:lnSpc>
              <a:spcAft>
                <a:spcPts val="600"/>
              </a:spcAft>
            </a:pPr>
            <a:r>
              <a:rPr sz="4000" b="1" i="0">
                <a:solidFill>
                  <a:srgbClr val="FFFFFF"/>
                </a:solidFill>
                <a:latin typeface="Segoe UI"/>
              </a:rPr>
              <a:t>Design and method</a:t>
            </a:r>
          </a:p>
        </p:txBody>
      </p:sp>
      <p:sp>
        <p:nvSpPr>
          <p:cNvPr id="6" name="TextBox 5"/>
          <p:cNvSpPr txBox="1"/>
          <p:nvPr/>
        </p:nvSpPr>
        <p:spPr>
          <a:xfrm>
            <a:off x="1051560" y="3520440"/>
            <a:ext cx="7680960" cy="731520"/>
          </a:xfrm>
          <a:prstGeom prst="rect">
            <a:avLst/>
          </a:prstGeom>
          <a:noFill/>
        </p:spPr>
        <p:txBody>
          <a:bodyPr wrap="square" anchor="t" lIns="0" rIns="0" tIns="0" bIns="0">
            <a:spAutoFit/>
          </a:bodyPr>
          <a:lstStyle/>
          <a:p>
            <a:pPr algn="l">
              <a:lnSpc>
                <a:spcPct val="118000"/>
              </a:lnSpc>
              <a:spcAft>
                <a:spcPts val="600"/>
              </a:spcAft>
            </a:pPr>
            <a:r>
              <a:rPr sz="1500" b="0" i="0">
                <a:solidFill>
                  <a:srgbClr val="B8D2E2"/>
                </a:solidFill>
                <a:latin typeface="Segoe UI"/>
              </a:rPr>
              <a:t>Knowledge is produced by building the artefact and then evaluating it against criteria fixed before any measurement existed.</a:t>
            </a:r>
          </a:p>
        </p:txBody>
      </p:sp>
      <p:sp>
        <p:nvSpPr>
          <p:cNvPr id="7" name="Rounded Rectangle 6"/>
          <p:cNvSpPr/>
          <p:nvPr/>
        </p:nvSpPr>
        <p:spPr>
          <a:xfrm>
            <a:off x="1051560" y="4306824"/>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8448" y="4224528"/>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Design science with experimental evaluation</a:t>
            </a:r>
          </a:p>
        </p:txBody>
      </p:sp>
      <p:sp>
        <p:nvSpPr>
          <p:cNvPr id="9" name="Rounded Rectangle 8"/>
          <p:cNvSpPr/>
          <p:nvPr/>
        </p:nvSpPr>
        <p:spPr>
          <a:xfrm>
            <a:off x="1051560" y="4636008"/>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8448" y="4553712"/>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One stratified split reused by every model and by calibration</a:t>
            </a:r>
          </a:p>
        </p:txBody>
      </p:sp>
      <p:sp>
        <p:nvSpPr>
          <p:cNvPr id="11" name="Rounded Rectangle 10"/>
          <p:cNvSpPr/>
          <p:nvPr/>
        </p:nvSpPr>
        <p:spPr>
          <a:xfrm>
            <a:off x="1051560" y="4965192"/>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8448" y="4882896"/>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Three components carry the contribution</a:t>
            </a:r>
          </a:p>
        </p:txBody>
      </p:sp>
      <p:sp>
        <p:nvSpPr>
          <p:cNvPr id="13" name="TextBox 12"/>
          <p:cNvSpPr txBox="1"/>
          <p:nvPr/>
        </p:nvSpPr>
        <p:spPr>
          <a:xfrm>
            <a:off x="10728655" y="6144768"/>
            <a:ext cx="822960" cy="274320"/>
          </a:xfrm>
          <a:prstGeom prst="rect">
            <a:avLst/>
          </a:prstGeom>
          <a:noFill/>
        </p:spPr>
        <p:txBody>
          <a:bodyPr wrap="square" anchor="t" lIns="0" rIns="0" tIns="0" bIns="0">
            <a:spAutoFit/>
          </a:bodyPr>
          <a:lstStyle/>
          <a:p>
            <a:pPr algn="r">
              <a:lnSpc>
                <a:spcPct val="118000"/>
              </a:lnSpc>
              <a:spcAft>
                <a:spcPts val="600"/>
              </a:spcAft>
            </a:pPr>
            <a:r>
              <a:rPr sz="1100" b="0" i="0">
                <a:solidFill>
                  <a:srgbClr val="648AA6"/>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METHODOLOGY</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Research design</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11</a:t>
            </a:r>
          </a:p>
        </p:txBody>
      </p:sp>
      <p:sp>
        <p:nvSpPr>
          <p:cNvPr id="8" name="Rounded Rectangle 7"/>
          <p:cNvSpPr/>
          <p:nvPr/>
        </p:nvSpPr>
        <p:spPr>
          <a:xfrm>
            <a:off x="658368" y="1572768"/>
            <a:ext cx="10874959" cy="1188720"/>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1755648"/>
            <a:ext cx="2194560" cy="256032"/>
          </a:xfrm>
          <a:prstGeom prst="rect">
            <a:avLst/>
          </a:prstGeom>
          <a:noFill/>
        </p:spPr>
        <p:txBody>
          <a:bodyPr wrap="square" anchor="t" lIns="0" rIns="0" tIns="0" bIns="0">
            <a:spAutoFit/>
          </a:bodyPr>
          <a:lstStyle/>
          <a:p>
            <a:pPr algn="l">
              <a:lnSpc>
                <a:spcPct val="118000"/>
              </a:lnSpc>
              <a:spcAft>
                <a:spcPts val="600"/>
              </a:spcAft>
            </a:pPr>
            <a:r>
              <a:rPr sz="1000" b="1" i="0">
                <a:solidFill>
                  <a:srgbClr val="147D9B"/>
                </a:solidFill>
                <a:latin typeface="Segoe UI"/>
              </a:rPr>
              <a:t>PARADIGM</a:t>
            </a:r>
          </a:p>
        </p:txBody>
      </p:sp>
      <p:sp>
        <p:nvSpPr>
          <p:cNvPr id="11" name="TextBox 10"/>
          <p:cNvSpPr txBox="1"/>
          <p:nvPr/>
        </p:nvSpPr>
        <p:spPr>
          <a:xfrm>
            <a:off x="932688" y="2029968"/>
            <a:ext cx="2651760" cy="329184"/>
          </a:xfrm>
          <a:prstGeom prst="rect">
            <a:avLst/>
          </a:prstGeom>
          <a:noFill/>
        </p:spPr>
        <p:txBody>
          <a:bodyPr wrap="square" anchor="t" lIns="0" rIns="0" tIns="0" bIns="0">
            <a:spAutoFit/>
          </a:bodyPr>
          <a:lstStyle/>
          <a:p>
            <a:pPr algn="l">
              <a:lnSpc>
                <a:spcPct val="118000"/>
              </a:lnSpc>
              <a:spcAft>
                <a:spcPts val="600"/>
              </a:spcAft>
            </a:pPr>
            <a:r>
              <a:rPr sz="1500" b="1" i="0">
                <a:solidFill>
                  <a:srgbClr val="0B2B4A"/>
                </a:solidFill>
                <a:latin typeface="Segoe UI"/>
              </a:rPr>
              <a:t>Post positivist</a:t>
            </a:r>
          </a:p>
        </p:txBody>
      </p:sp>
      <p:sp>
        <p:nvSpPr>
          <p:cNvPr id="12" name="TextBox 11"/>
          <p:cNvSpPr txBox="1"/>
          <p:nvPr/>
        </p:nvSpPr>
        <p:spPr>
          <a:xfrm>
            <a:off x="3904488" y="1773936"/>
            <a:ext cx="7308799" cy="914400"/>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Accuracy, recall, AUROC and in lung attention are objective quantities that can be estimated but not known exactly. Every measurement is reported with its sample size, and a disconfirming result is reported in the same terms as a confirming one.</a:t>
            </a:r>
          </a:p>
        </p:txBody>
      </p:sp>
      <p:sp>
        <p:nvSpPr>
          <p:cNvPr id="13" name="Rounded Rectangle 12"/>
          <p:cNvSpPr/>
          <p:nvPr/>
        </p:nvSpPr>
        <p:spPr>
          <a:xfrm>
            <a:off x="658368" y="2926080"/>
            <a:ext cx="10874959" cy="1188720"/>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58368" y="2926080"/>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108960"/>
            <a:ext cx="2194560" cy="256032"/>
          </a:xfrm>
          <a:prstGeom prst="rect">
            <a:avLst/>
          </a:prstGeom>
          <a:noFill/>
        </p:spPr>
        <p:txBody>
          <a:bodyPr wrap="square" anchor="t" lIns="0" rIns="0" tIns="0" bIns="0">
            <a:spAutoFit/>
          </a:bodyPr>
          <a:lstStyle/>
          <a:p>
            <a:pPr algn="l">
              <a:lnSpc>
                <a:spcPct val="118000"/>
              </a:lnSpc>
              <a:spcAft>
                <a:spcPts val="600"/>
              </a:spcAft>
            </a:pPr>
            <a:r>
              <a:rPr sz="1000" b="1" i="0">
                <a:solidFill>
                  <a:srgbClr val="147D9B"/>
                </a:solidFill>
                <a:latin typeface="Segoe UI"/>
              </a:rPr>
              <a:t>APPROACH</a:t>
            </a:r>
          </a:p>
        </p:txBody>
      </p:sp>
      <p:sp>
        <p:nvSpPr>
          <p:cNvPr id="16" name="TextBox 15"/>
          <p:cNvSpPr txBox="1"/>
          <p:nvPr/>
        </p:nvSpPr>
        <p:spPr>
          <a:xfrm>
            <a:off x="932688" y="3383280"/>
            <a:ext cx="2651760" cy="329184"/>
          </a:xfrm>
          <a:prstGeom prst="rect">
            <a:avLst/>
          </a:prstGeom>
          <a:noFill/>
        </p:spPr>
        <p:txBody>
          <a:bodyPr wrap="square" anchor="t" lIns="0" rIns="0" tIns="0" bIns="0">
            <a:spAutoFit/>
          </a:bodyPr>
          <a:lstStyle/>
          <a:p>
            <a:pPr algn="l">
              <a:lnSpc>
                <a:spcPct val="118000"/>
              </a:lnSpc>
              <a:spcAft>
                <a:spcPts val="600"/>
              </a:spcAft>
            </a:pPr>
            <a:r>
              <a:rPr sz="1500" b="1" i="0">
                <a:solidFill>
                  <a:srgbClr val="0B2B4A"/>
                </a:solidFill>
                <a:latin typeface="Segoe UI"/>
              </a:rPr>
              <a:t>Predominantly deductive</a:t>
            </a:r>
          </a:p>
        </p:txBody>
      </p:sp>
      <p:sp>
        <p:nvSpPr>
          <p:cNvPr id="17" name="TextBox 16"/>
          <p:cNvSpPr txBox="1"/>
          <p:nvPr/>
        </p:nvSpPr>
        <p:spPr>
          <a:xfrm>
            <a:off x="3904488" y="3127248"/>
            <a:ext cx="7308799" cy="914400"/>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closed world property of softmax and the feature space method of Lee et al. yield a testable expectation, which was operationalised into thresholds and measured. The inductive element is kept separate.</a:t>
            </a:r>
          </a:p>
        </p:txBody>
      </p:sp>
      <p:sp>
        <p:nvSpPr>
          <p:cNvPr id="18" name="Rounded Rectangle 17"/>
          <p:cNvSpPr/>
          <p:nvPr/>
        </p:nvSpPr>
        <p:spPr>
          <a:xfrm>
            <a:off x="658368" y="4279392"/>
            <a:ext cx="10874959" cy="1188720"/>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58368" y="4279392"/>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462272"/>
            <a:ext cx="2194560" cy="256032"/>
          </a:xfrm>
          <a:prstGeom prst="rect">
            <a:avLst/>
          </a:prstGeom>
          <a:noFill/>
        </p:spPr>
        <p:txBody>
          <a:bodyPr wrap="square" anchor="t" lIns="0" rIns="0" tIns="0" bIns="0">
            <a:spAutoFit/>
          </a:bodyPr>
          <a:lstStyle/>
          <a:p>
            <a:pPr algn="l">
              <a:lnSpc>
                <a:spcPct val="118000"/>
              </a:lnSpc>
              <a:spcAft>
                <a:spcPts val="600"/>
              </a:spcAft>
            </a:pPr>
            <a:r>
              <a:rPr sz="1000" b="1" i="0">
                <a:solidFill>
                  <a:srgbClr val="147D9B"/>
                </a:solidFill>
                <a:latin typeface="Segoe UI"/>
              </a:rPr>
              <a:t>STRATEGY</a:t>
            </a:r>
          </a:p>
        </p:txBody>
      </p:sp>
      <p:sp>
        <p:nvSpPr>
          <p:cNvPr id="21" name="TextBox 20"/>
          <p:cNvSpPr txBox="1"/>
          <p:nvPr/>
        </p:nvSpPr>
        <p:spPr>
          <a:xfrm>
            <a:off x="932688" y="4736592"/>
            <a:ext cx="2651760" cy="329184"/>
          </a:xfrm>
          <a:prstGeom prst="rect">
            <a:avLst/>
          </a:prstGeom>
          <a:noFill/>
        </p:spPr>
        <p:txBody>
          <a:bodyPr wrap="square" anchor="t" lIns="0" rIns="0" tIns="0" bIns="0">
            <a:spAutoFit/>
          </a:bodyPr>
          <a:lstStyle/>
          <a:p>
            <a:pPr algn="l">
              <a:lnSpc>
                <a:spcPct val="118000"/>
              </a:lnSpc>
              <a:spcAft>
                <a:spcPts val="600"/>
              </a:spcAft>
            </a:pPr>
            <a:r>
              <a:rPr sz="1500" b="1" i="0">
                <a:solidFill>
                  <a:srgbClr val="0B2B4A"/>
                </a:solidFill>
                <a:latin typeface="Segoe UI"/>
              </a:rPr>
              <a:t>Design science</a:t>
            </a:r>
          </a:p>
        </p:txBody>
      </p:sp>
      <p:sp>
        <p:nvSpPr>
          <p:cNvPr id="22" name="TextBox 21"/>
          <p:cNvSpPr txBox="1"/>
          <p:nvPr/>
        </p:nvSpPr>
        <p:spPr>
          <a:xfrm>
            <a:off x="3904488" y="4480560"/>
            <a:ext cx="7308799" cy="914400"/>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question asks to what extent a safeguard can improve safety, and that quantity does not exist until the safeguard has been built. Evaluation within it is experimental.</a:t>
            </a:r>
          </a:p>
        </p:txBody>
      </p:sp>
      <p:sp>
        <p:nvSpPr>
          <p:cNvPr id="23" name="Rounded Rectangle 22"/>
          <p:cNvSpPr/>
          <p:nvPr/>
        </p:nvSpPr>
        <p:spPr>
          <a:xfrm>
            <a:off x="658368" y="5687568"/>
            <a:ext cx="10874959" cy="749808"/>
          </a:xfrm>
          <a:prstGeom prst="roundRect">
            <a:avLst>
              <a:gd name="adj" fmla="val 10000"/>
            </a:avLst>
          </a:prstGeom>
          <a:solidFill>
            <a:srgbClr val="E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5687568"/>
            <a:ext cx="40640" cy="749808"/>
          </a:xfrm>
          <a:prstGeom prst="rect">
            <a:avLst/>
          </a:prstGeom>
          <a:solidFill>
            <a:srgbClr val="1B6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6112" y="5806440"/>
            <a:ext cx="10372039" cy="512064"/>
          </a:xfrm>
          <a:prstGeom prst="rect">
            <a:avLst/>
          </a:prstGeom>
          <a:noFill/>
        </p:spPr>
        <p:txBody>
          <a:bodyPr wrap="square" anchor="t" lIns="0" rIns="0" tIns="0" bIns="0">
            <a:spAutoFit/>
          </a:bodyPr>
          <a:lstStyle/>
          <a:p>
            <a:pPr algn="l">
              <a:lnSpc>
                <a:spcPct val="118000"/>
              </a:lnSpc>
              <a:spcAft>
                <a:spcPts val="300"/>
              </a:spcAft>
            </a:pPr>
            <a:r>
              <a:rPr sz="1250" b="1" i="0">
                <a:solidFill>
                  <a:srgbClr val="1B6E52"/>
                </a:solidFill>
                <a:latin typeface="Segoe UI"/>
              </a:rPr>
              <a:t>The freeze point</a:t>
            </a:r>
          </a:p>
          <a:p>
            <a:pPr algn="l">
              <a:lnSpc>
                <a:spcPct val="118000"/>
              </a:lnSpc>
              <a:spcAft>
                <a:spcPts val="300"/>
              </a:spcAft>
            </a:pPr>
            <a:r>
              <a:rPr sz="1150" b="0" i="0">
                <a:solidFill>
                  <a:srgbClr val="1B6E52"/>
                </a:solidFill>
                <a:latin typeface="Segoe UI"/>
              </a:rPr>
              <a:t>Calibration follows model selection and uses only training and validation data. Evaluation follows the freeze, so no result reported later was used to adjust the artefact that produced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DATA</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400" b="1" i="0">
                <a:solidFill>
                  <a:srgbClr val="0B2B4A"/>
                </a:solidFill>
                <a:latin typeface="Segoe UI"/>
              </a:rPr>
              <a:t>One stratified split, reused by every model and by calibration</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12</a:t>
            </a:r>
          </a:p>
        </p:txBody>
      </p:sp>
      <p:sp>
        <p:nvSpPr>
          <p:cNvPr id="8" name="Rounded Rectangle 7"/>
          <p:cNvSpPr/>
          <p:nvPr/>
        </p:nvSpPr>
        <p:spPr>
          <a:xfrm>
            <a:off x="658368" y="1572768"/>
            <a:ext cx="3490874" cy="118872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 y="1719072"/>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9,209</a:t>
            </a:r>
          </a:p>
        </p:txBody>
      </p:sp>
      <p:sp>
        <p:nvSpPr>
          <p:cNvPr id="11" name="TextBox 10"/>
          <p:cNvSpPr txBox="1"/>
          <p:nvPr/>
        </p:nvSpPr>
        <p:spPr>
          <a:xfrm>
            <a:off x="877824" y="2157984"/>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RADIOGRAPHS AFTER AUDIT</a:t>
            </a:r>
          </a:p>
        </p:txBody>
      </p:sp>
      <p:sp>
        <p:nvSpPr>
          <p:cNvPr id="12" name="TextBox 11"/>
          <p:cNvSpPr txBox="1"/>
          <p:nvPr/>
        </p:nvSpPr>
        <p:spPr>
          <a:xfrm>
            <a:off x="877824" y="2450592"/>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duplicate, corrupted and low resolution files removed first</a:t>
            </a:r>
          </a:p>
        </p:txBody>
      </p:sp>
      <p:sp>
        <p:nvSpPr>
          <p:cNvPr id="13" name="Rounded Rectangle 12"/>
          <p:cNvSpPr/>
          <p:nvPr/>
        </p:nvSpPr>
        <p:spPr>
          <a:xfrm>
            <a:off x="4350410" y="1572768"/>
            <a:ext cx="3490874" cy="118872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50410" y="1572768"/>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69866" y="1719072"/>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70 / 15 / 15</a:t>
            </a:r>
          </a:p>
        </p:txBody>
      </p:sp>
      <p:sp>
        <p:nvSpPr>
          <p:cNvPr id="16" name="TextBox 15"/>
          <p:cNvSpPr txBox="1"/>
          <p:nvPr/>
        </p:nvSpPr>
        <p:spPr>
          <a:xfrm>
            <a:off x="4569866" y="2157984"/>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STRATIFIED SPLIT</a:t>
            </a:r>
          </a:p>
        </p:txBody>
      </p:sp>
      <p:sp>
        <p:nvSpPr>
          <p:cNvPr id="17" name="TextBox 16"/>
          <p:cNvSpPr txBox="1"/>
          <p:nvPr/>
        </p:nvSpPr>
        <p:spPr>
          <a:xfrm>
            <a:off x="4569866" y="2450592"/>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6,446 train · 1,381 val · 1,382 test</a:t>
            </a:r>
          </a:p>
        </p:txBody>
      </p:sp>
      <p:sp>
        <p:nvSpPr>
          <p:cNvPr id="18" name="Rounded Rectangle 17"/>
          <p:cNvSpPr/>
          <p:nvPr/>
        </p:nvSpPr>
        <p:spPr>
          <a:xfrm>
            <a:off x="8042452" y="1572768"/>
            <a:ext cx="3490874" cy="118872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42452" y="1572768"/>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61908" y="1719072"/>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4</a:t>
            </a:r>
          </a:p>
        </p:txBody>
      </p:sp>
      <p:sp>
        <p:nvSpPr>
          <p:cNvPr id="21" name="TextBox 20"/>
          <p:cNvSpPr txBox="1"/>
          <p:nvPr/>
        </p:nvSpPr>
        <p:spPr>
          <a:xfrm>
            <a:off x="8261908" y="2157984"/>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CLASSES</a:t>
            </a:r>
          </a:p>
        </p:txBody>
      </p:sp>
      <p:sp>
        <p:nvSpPr>
          <p:cNvPr id="22" name="TextBox 21"/>
          <p:cNvSpPr txBox="1"/>
          <p:nvPr/>
        </p:nvSpPr>
        <p:spPr>
          <a:xfrm>
            <a:off x="8261908" y="2450592"/>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Normal, COVID-19, bacterial, viral</a:t>
            </a:r>
          </a:p>
        </p:txBody>
      </p:sp>
      <p:graphicFrame>
        <p:nvGraphicFramePr>
          <p:cNvPr id="23" name="Table 22"/>
          <p:cNvGraphicFramePr>
            <a:graphicFrameLocks noGrp="1"/>
          </p:cNvGraphicFramePr>
          <p:nvPr/>
        </p:nvGraphicFramePr>
        <p:xfrm>
          <a:off x="658368" y="3017520"/>
          <a:ext cx="6903717" cy="2176272"/>
        </p:xfrm>
        <a:graphic>
          <a:graphicData uri="http://schemas.openxmlformats.org/drawingml/2006/table">
            <a:tbl>
              <a:tblPr>
                <a:tableStyleId>{5C22544A-7EE6-4342-B048-85BDC9FD1C3A}</a:tableStyleId>
              </a:tblPr>
              <a:tblGrid>
                <a:gridCol w="2347264"/>
                <a:gridCol w="1173632"/>
                <a:gridCol w="1173632"/>
                <a:gridCol w="1242669"/>
                <a:gridCol w="966520"/>
              </a:tblGrid>
              <a:tr h="347472">
                <a:tc>
                  <a:txBody>
                    <a:bodyPr wrap="square"/>
                    <a:lstStyle/>
                    <a:p>
                      <a:pPr algn="l"/>
                      <a:r>
                        <a:rPr sz="1100" b="1">
                          <a:solidFill>
                            <a:srgbClr val="FFFFFF"/>
                          </a:solidFill>
                          <a:latin typeface="Segoe UI"/>
                        </a:rPr>
                        <a:t>Class</a:t>
                      </a:r>
                    </a:p>
                  </a:txBody>
                  <a:tcPr marL="91440" marR="91440" marT="27432" marB="27432" anchor="ctr">
                    <a:solidFill>
                      <a:srgbClr val="0E5A72"/>
                    </a:solidFill>
                  </a:tcPr>
                </a:tc>
                <a:tc>
                  <a:txBody>
                    <a:bodyPr wrap="square"/>
                    <a:lstStyle/>
                    <a:p>
                      <a:pPr algn="r"/>
                      <a:r>
                        <a:rPr sz="1100" b="1">
                          <a:solidFill>
                            <a:srgbClr val="FFFFFF"/>
                          </a:solidFill>
                          <a:latin typeface="Segoe UI"/>
                        </a:rPr>
                        <a:t>Total</a:t>
                      </a:r>
                    </a:p>
                  </a:txBody>
                  <a:tcPr marL="91440" marR="91440" marT="27432" marB="27432" anchor="ctr">
                    <a:solidFill>
                      <a:srgbClr val="0E5A72"/>
                    </a:solidFill>
                  </a:tcPr>
                </a:tc>
                <a:tc>
                  <a:txBody>
                    <a:bodyPr wrap="square"/>
                    <a:lstStyle/>
                    <a:p>
                      <a:pPr algn="r"/>
                      <a:r>
                        <a:rPr sz="1100" b="1">
                          <a:solidFill>
                            <a:srgbClr val="FFFFFF"/>
                          </a:solidFill>
                          <a:latin typeface="Segoe UI"/>
                        </a:rPr>
                        <a:t>Train</a:t>
                      </a:r>
                    </a:p>
                  </a:txBody>
                  <a:tcPr marL="91440" marR="91440" marT="27432" marB="27432" anchor="ctr">
                    <a:solidFill>
                      <a:srgbClr val="0E5A72"/>
                    </a:solidFill>
                  </a:tcPr>
                </a:tc>
                <a:tc>
                  <a:txBody>
                    <a:bodyPr wrap="square"/>
                    <a:lstStyle/>
                    <a:p>
                      <a:pPr algn="r"/>
                      <a:r>
                        <a:rPr sz="1100" b="1">
                          <a:solidFill>
                            <a:srgbClr val="FFFFFF"/>
                          </a:solidFill>
                          <a:latin typeface="Segoe UI"/>
                        </a:rPr>
                        <a:t>Validation</a:t>
                      </a:r>
                    </a:p>
                  </a:txBody>
                  <a:tcPr marL="91440" marR="91440" marT="27432" marB="27432" anchor="ctr">
                    <a:solidFill>
                      <a:srgbClr val="0E5A72"/>
                    </a:solidFill>
                  </a:tcPr>
                </a:tc>
                <a:tc>
                  <a:txBody>
                    <a:bodyPr wrap="square"/>
                    <a:lstStyle/>
                    <a:p>
                      <a:pPr algn="r"/>
                      <a:r>
                        <a:rPr sz="1100" b="1">
                          <a:solidFill>
                            <a:srgbClr val="FFFFFF"/>
                          </a:solidFill>
                          <a:latin typeface="Segoe UI"/>
                        </a:rPr>
                        <a:t>Test</a:t>
                      </a:r>
                    </a:p>
                  </a:txBody>
                  <a:tcPr marL="91440" marR="91440" marT="27432" marB="27432" anchor="ctr">
                    <a:solidFill>
                      <a:srgbClr val="0E5A72"/>
                    </a:solidFill>
                  </a:tcPr>
                </a:tc>
              </a:tr>
              <a:tr h="365760">
                <a:tc>
                  <a:txBody>
                    <a:bodyPr wrap="square"/>
                    <a:lstStyle/>
                    <a:p>
                      <a:pPr algn="l"/>
                      <a:r>
                        <a:rPr sz="1200" b="1">
                          <a:solidFill>
                            <a:srgbClr val="0B2B4A"/>
                          </a:solidFill>
                          <a:latin typeface="Segoe UI"/>
                        </a:rPr>
                        <a:t>COVID-19</a:t>
                      </a:r>
                    </a:p>
                  </a:txBody>
                  <a:tcPr marL="91440" marR="91440" marT="27432" marB="27432" anchor="ctr">
                    <a:solidFill>
                      <a:srgbClr val="FFFFFF"/>
                    </a:solidFill>
                  </a:tcPr>
                </a:tc>
                <a:tc>
                  <a:txBody>
                    <a:bodyPr wrap="square"/>
                    <a:lstStyle/>
                    <a:p>
                      <a:pPr algn="r"/>
                      <a:r>
                        <a:rPr sz="1200" b="0">
                          <a:solidFill>
                            <a:srgbClr val="243B53"/>
                          </a:solidFill>
                          <a:latin typeface="Segoe UI"/>
                        </a:rPr>
                        <a:t>1,281</a:t>
                      </a:r>
                    </a:p>
                  </a:txBody>
                  <a:tcPr marL="91440" marR="91440" marT="27432" marB="27432" anchor="ctr">
                    <a:solidFill>
                      <a:srgbClr val="FFFFFF"/>
                    </a:solidFill>
                  </a:tcPr>
                </a:tc>
                <a:tc>
                  <a:txBody>
                    <a:bodyPr wrap="square"/>
                    <a:lstStyle/>
                    <a:p>
                      <a:pPr algn="r"/>
                      <a:r>
                        <a:rPr sz="1200" b="0">
                          <a:solidFill>
                            <a:srgbClr val="243B53"/>
                          </a:solidFill>
                          <a:latin typeface="Segoe UI"/>
                        </a:rPr>
                        <a:t>897</a:t>
                      </a:r>
                    </a:p>
                  </a:txBody>
                  <a:tcPr marL="91440" marR="91440" marT="27432" marB="27432" anchor="ctr">
                    <a:solidFill>
                      <a:srgbClr val="FFFFFF"/>
                    </a:solidFill>
                  </a:tcPr>
                </a:tc>
                <a:tc>
                  <a:txBody>
                    <a:bodyPr wrap="square"/>
                    <a:lstStyle/>
                    <a:p>
                      <a:pPr algn="r"/>
                      <a:r>
                        <a:rPr sz="1200" b="0">
                          <a:solidFill>
                            <a:srgbClr val="243B53"/>
                          </a:solidFill>
                          <a:latin typeface="Segoe UI"/>
                        </a:rPr>
                        <a:t>192</a:t>
                      </a:r>
                    </a:p>
                  </a:txBody>
                  <a:tcPr marL="91440" marR="91440" marT="27432" marB="27432" anchor="ctr">
                    <a:solidFill>
                      <a:srgbClr val="FFFFFF"/>
                    </a:solidFill>
                  </a:tcPr>
                </a:tc>
                <a:tc>
                  <a:txBody>
                    <a:bodyPr wrap="square"/>
                    <a:lstStyle/>
                    <a:p>
                      <a:pPr algn="r"/>
                      <a:r>
                        <a:rPr sz="1200" b="0">
                          <a:solidFill>
                            <a:srgbClr val="243B53"/>
                          </a:solidFill>
                          <a:latin typeface="Segoe UI"/>
                        </a:rPr>
                        <a:t>192</a:t>
                      </a:r>
                    </a:p>
                  </a:txBody>
                  <a:tcPr marL="91440" marR="91440" marT="27432" marB="27432" anchor="ctr">
                    <a:solidFill>
                      <a:srgbClr val="FFFFFF"/>
                    </a:solidFill>
                  </a:tcPr>
                </a:tc>
              </a:tr>
              <a:tr h="365760">
                <a:tc>
                  <a:txBody>
                    <a:bodyPr wrap="square"/>
                    <a:lstStyle/>
                    <a:p>
                      <a:pPr algn="l"/>
                      <a:r>
                        <a:rPr sz="1200" b="1">
                          <a:solidFill>
                            <a:srgbClr val="0B2B4A"/>
                          </a:solidFill>
                          <a:latin typeface="Segoe UI"/>
                        </a:rPr>
                        <a:t>Normal</a:t>
                      </a:r>
                    </a:p>
                  </a:txBody>
                  <a:tcPr marL="91440" marR="91440" marT="27432" marB="27432" anchor="ctr">
                    <a:solidFill>
                      <a:srgbClr val="F3F8FB"/>
                    </a:solidFill>
                  </a:tcPr>
                </a:tc>
                <a:tc>
                  <a:txBody>
                    <a:bodyPr wrap="square"/>
                    <a:lstStyle/>
                    <a:p>
                      <a:pPr algn="r"/>
                      <a:r>
                        <a:rPr sz="1200" b="0">
                          <a:solidFill>
                            <a:srgbClr val="243B53"/>
                          </a:solidFill>
                          <a:latin typeface="Segoe UI"/>
                        </a:rPr>
                        <a:t>3,271</a:t>
                      </a:r>
                    </a:p>
                  </a:txBody>
                  <a:tcPr marL="91440" marR="91440" marT="27432" marB="27432" anchor="ctr">
                    <a:solidFill>
                      <a:srgbClr val="F3F8FB"/>
                    </a:solidFill>
                  </a:tcPr>
                </a:tc>
                <a:tc>
                  <a:txBody>
                    <a:bodyPr wrap="square"/>
                    <a:lstStyle/>
                    <a:p>
                      <a:pPr algn="r"/>
                      <a:r>
                        <a:rPr sz="1200" b="0">
                          <a:solidFill>
                            <a:srgbClr val="243B53"/>
                          </a:solidFill>
                          <a:latin typeface="Segoe UI"/>
                        </a:rPr>
                        <a:t>2,289</a:t>
                      </a:r>
                    </a:p>
                  </a:txBody>
                  <a:tcPr marL="91440" marR="91440" marT="27432" marB="27432" anchor="ctr">
                    <a:solidFill>
                      <a:srgbClr val="F3F8FB"/>
                    </a:solidFill>
                  </a:tcPr>
                </a:tc>
                <a:tc>
                  <a:txBody>
                    <a:bodyPr wrap="square"/>
                    <a:lstStyle/>
                    <a:p>
                      <a:pPr algn="r"/>
                      <a:r>
                        <a:rPr sz="1200" b="0">
                          <a:solidFill>
                            <a:srgbClr val="243B53"/>
                          </a:solidFill>
                          <a:latin typeface="Segoe UI"/>
                        </a:rPr>
                        <a:t>491</a:t>
                      </a:r>
                    </a:p>
                  </a:txBody>
                  <a:tcPr marL="91440" marR="91440" marT="27432" marB="27432" anchor="ctr">
                    <a:solidFill>
                      <a:srgbClr val="F3F8FB"/>
                    </a:solidFill>
                  </a:tcPr>
                </a:tc>
                <a:tc>
                  <a:txBody>
                    <a:bodyPr wrap="square"/>
                    <a:lstStyle/>
                    <a:p>
                      <a:pPr algn="r"/>
                      <a:r>
                        <a:rPr sz="1200" b="0">
                          <a:solidFill>
                            <a:srgbClr val="243B53"/>
                          </a:solidFill>
                          <a:latin typeface="Segoe UI"/>
                        </a:rPr>
                        <a:t>491</a:t>
                      </a:r>
                    </a:p>
                  </a:txBody>
                  <a:tcPr marL="91440" marR="91440" marT="27432" marB="27432" anchor="ctr">
                    <a:solidFill>
                      <a:srgbClr val="F3F8FB"/>
                    </a:solidFill>
                  </a:tcPr>
                </a:tc>
              </a:tr>
              <a:tr h="365760">
                <a:tc>
                  <a:txBody>
                    <a:bodyPr wrap="square"/>
                    <a:lstStyle/>
                    <a:p>
                      <a:pPr algn="l"/>
                      <a:r>
                        <a:rPr sz="1200" b="1">
                          <a:solidFill>
                            <a:srgbClr val="0B2B4A"/>
                          </a:solidFill>
                          <a:latin typeface="Segoe UI"/>
                        </a:rPr>
                        <a:t>Bacterial pneumonia</a:t>
                      </a:r>
                    </a:p>
                  </a:txBody>
                  <a:tcPr marL="91440" marR="91440" marT="27432" marB="27432" anchor="ctr">
                    <a:solidFill>
                      <a:srgbClr val="FFFFFF"/>
                    </a:solidFill>
                  </a:tcPr>
                </a:tc>
                <a:tc>
                  <a:txBody>
                    <a:bodyPr wrap="square"/>
                    <a:lstStyle/>
                    <a:p>
                      <a:pPr algn="r"/>
                      <a:r>
                        <a:rPr sz="1200" b="0">
                          <a:solidFill>
                            <a:srgbClr val="243B53"/>
                          </a:solidFill>
                          <a:latin typeface="Segoe UI"/>
                        </a:rPr>
                        <a:t>3,001</a:t>
                      </a:r>
                    </a:p>
                  </a:txBody>
                  <a:tcPr marL="91440" marR="91440" marT="27432" marB="27432" anchor="ctr">
                    <a:solidFill>
                      <a:srgbClr val="FFFFFF"/>
                    </a:solidFill>
                  </a:tcPr>
                </a:tc>
                <a:tc>
                  <a:txBody>
                    <a:bodyPr wrap="square"/>
                    <a:lstStyle/>
                    <a:p>
                      <a:pPr algn="r"/>
                      <a:r>
                        <a:rPr sz="1200" b="0">
                          <a:solidFill>
                            <a:srgbClr val="243B53"/>
                          </a:solidFill>
                          <a:latin typeface="Segoe UI"/>
                        </a:rPr>
                        <a:t>2,101</a:t>
                      </a:r>
                    </a:p>
                  </a:txBody>
                  <a:tcPr marL="91440" marR="91440" marT="27432" marB="27432" anchor="ctr">
                    <a:solidFill>
                      <a:srgbClr val="FFFFFF"/>
                    </a:solidFill>
                  </a:tcPr>
                </a:tc>
                <a:tc>
                  <a:txBody>
                    <a:bodyPr wrap="square"/>
                    <a:lstStyle/>
                    <a:p>
                      <a:pPr algn="r"/>
                      <a:r>
                        <a:rPr sz="1200" b="0">
                          <a:solidFill>
                            <a:srgbClr val="243B53"/>
                          </a:solidFill>
                          <a:latin typeface="Segoe UI"/>
                        </a:rPr>
                        <a:t>450</a:t>
                      </a:r>
                    </a:p>
                  </a:txBody>
                  <a:tcPr marL="91440" marR="91440" marT="27432" marB="27432" anchor="ctr">
                    <a:solidFill>
                      <a:srgbClr val="FFFFFF"/>
                    </a:solidFill>
                  </a:tcPr>
                </a:tc>
                <a:tc>
                  <a:txBody>
                    <a:bodyPr wrap="square"/>
                    <a:lstStyle/>
                    <a:p>
                      <a:pPr algn="r"/>
                      <a:r>
                        <a:rPr sz="1200" b="0">
                          <a:solidFill>
                            <a:srgbClr val="243B53"/>
                          </a:solidFill>
                          <a:latin typeface="Segoe UI"/>
                        </a:rPr>
                        <a:t>450</a:t>
                      </a:r>
                    </a:p>
                  </a:txBody>
                  <a:tcPr marL="91440" marR="91440" marT="27432" marB="27432" anchor="ctr">
                    <a:solidFill>
                      <a:srgbClr val="FFFFFF"/>
                    </a:solidFill>
                  </a:tcPr>
                </a:tc>
              </a:tr>
              <a:tr h="365760">
                <a:tc>
                  <a:txBody>
                    <a:bodyPr wrap="square"/>
                    <a:lstStyle/>
                    <a:p>
                      <a:pPr algn="l"/>
                      <a:r>
                        <a:rPr sz="1200" b="1">
                          <a:solidFill>
                            <a:srgbClr val="0B2B4A"/>
                          </a:solidFill>
                          <a:latin typeface="Segoe UI"/>
                        </a:rPr>
                        <a:t>Viral pneumonia</a:t>
                      </a:r>
                    </a:p>
                  </a:txBody>
                  <a:tcPr marL="91440" marR="91440" marT="27432" marB="27432" anchor="ctr">
                    <a:solidFill>
                      <a:srgbClr val="F3F8FB"/>
                    </a:solidFill>
                  </a:tcPr>
                </a:tc>
                <a:tc>
                  <a:txBody>
                    <a:bodyPr wrap="square"/>
                    <a:lstStyle/>
                    <a:p>
                      <a:pPr algn="r"/>
                      <a:r>
                        <a:rPr sz="1200" b="0">
                          <a:solidFill>
                            <a:srgbClr val="243B53"/>
                          </a:solidFill>
                          <a:latin typeface="Segoe UI"/>
                        </a:rPr>
                        <a:t>1,656</a:t>
                      </a:r>
                    </a:p>
                  </a:txBody>
                  <a:tcPr marL="91440" marR="91440" marT="27432" marB="27432" anchor="ctr">
                    <a:solidFill>
                      <a:srgbClr val="F3F8FB"/>
                    </a:solidFill>
                  </a:tcPr>
                </a:tc>
                <a:tc>
                  <a:txBody>
                    <a:bodyPr wrap="square"/>
                    <a:lstStyle/>
                    <a:p>
                      <a:pPr algn="r"/>
                      <a:r>
                        <a:rPr sz="1200" b="0">
                          <a:solidFill>
                            <a:srgbClr val="243B53"/>
                          </a:solidFill>
                          <a:latin typeface="Segoe UI"/>
                        </a:rPr>
                        <a:t>1,159</a:t>
                      </a:r>
                    </a:p>
                  </a:txBody>
                  <a:tcPr marL="91440" marR="91440" marT="27432" marB="27432" anchor="ctr">
                    <a:solidFill>
                      <a:srgbClr val="F3F8FB"/>
                    </a:solidFill>
                  </a:tcPr>
                </a:tc>
                <a:tc>
                  <a:txBody>
                    <a:bodyPr wrap="square"/>
                    <a:lstStyle/>
                    <a:p>
                      <a:pPr algn="r"/>
                      <a:r>
                        <a:rPr sz="1200" b="0">
                          <a:solidFill>
                            <a:srgbClr val="243B53"/>
                          </a:solidFill>
                          <a:latin typeface="Segoe UI"/>
                        </a:rPr>
                        <a:t>248</a:t>
                      </a:r>
                    </a:p>
                  </a:txBody>
                  <a:tcPr marL="91440" marR="91440" marT="27432" marB="27432" anchor="ctr">
                    <a:solidFill>
                      <a:srgbClr val="F3F8FB"/>
                    </a:solidFill>
                  </a:tcPr>
                </a:tc>
                <a:tc>
                  <a:txBody>
                    <a:bodyPr wrap="square"/>
                    <a:lstStyle/>
                    <a:p>
                      <a:pPr algn="r"/>
                      <a:r>
                        <a:rPr sz="1200" b="0">
                          <a:solidFill>
                            <a:srgbClr val="243B53"/>
                          </a:solidFill>
                          <a:latin typeface="Segoe UI"/>
                        </a:rPr>
                        <a:t>249</a:t>
                      </a:r>
                    </a:p>
                  </a:txBody>
                  <a:tcPr marL="91440" marR="91440" marT="27432" marB="27432" anchor="ctr">
                    <a:solidFill>
                      <a:srgbClr val="F3F8FB"/>
                    </a:solidFill>
                  </a:tcPr>
                </a:tc>
              </a:tr>
              <a:tr h="365760">
                <a:tc>
                  <a:txBody>
                    <a:bodyPr wrap="square"/>
                    <a:lstStyle/>
                    <a:p>
                      <a:pPr algn="l"/>
                      <a:r>
                        <a:rPr sz="1200" b="1">
                          <a:solidFill>
                            <a:srgbClr val="0B2B4A"/>
                          </a:solidFill>
                          <a:latin typeface="Segoe UI"/>
                        </a:rPr>
                        <a:t>Total</a:t>
                      </a:r>
                    </a:p>
                  </a:txBody>
                  <a:tcPr marL="91440" marR="91440" marT="27432" marB="27432" anchor="ctr">
                    <a:solidFill>
                      <a:srgbClr val="E6F2F7"/>
                    </a:solidFill>
                  </a:tcPr>
                </a:tc>
                <a:tc>
                  <a:txBody>
                    <a:bodyPr wrap="square"/>
                    <a:lstStyle/>
                    <a:p>
                      <a:pPr algn="r"/>
                      <a:r>
                        <a:rPr sz="1200" b="1">
                          <a:solidFill>
                            <a:srgbClr val="0B2B4A"/>
                          </a:solidFill>
                          <a:latin typeface="Segoe UI"/>
                        </a:rPr>
                        <a:t>9,209</a:t>
                      </a:r>
                    </a:p>
                  </a:txBody>
                  <a:tcPr marL="91440" marR="91440" marT="27432" marB="27432" anchor="ctr">
                    <a:solidFill>
                      <a:srgbClr val="E6F2F7"/>
                    </a:solidFill>
                  </a:tcPr>
                </a:tc>
                <a:tc>
                  <a:txBody>
                    <a:bodyPr wrap="square"/>
                    <a:lstStyle/>
                    <a:p>
                      <a:pPr algn="r"/>
                      <a:r>
                        <a:rPr sz="1200" b="1">
                          <a:solidFill>
                            <a:srgbClr val="0B2B4A"/>
                          </a:solidFill>
                          <a:latin typeface="Segoe UI"/>
                        </a:rPr>
                        <a:t>6,446</a:t>
                      </a:r>
                    </a:p>
                  </a:txBody>
                  <a:tcPr marL="91440" marR="91440" marT="27432" marB="27432" anchor="ctr">
                    <a:solidFill>
                      <a:srgbClr val="E6F2F7"/>
                    </a:solidFill>
                  </a:tcPr>
                </a:tc>
                <a:tc>
                  <a:txBody>
                    <a:bodyPr wrap="square"/>
                    <a:lstStyle/>
                    <a:p>
                      <a:pPr algn="r"/>
                      <a:r>
                        <a:rPr sz="1200" b="1">
                          <a:solidFill>
                            <a:srgbClr val="0B2B4A"/>
                          </a:solidFill>
                          <a:latin typeface="Segoe UI"/>
                        </a:rPr>
                        <a:t>1,381</a:t>
                      </a:r>
                    </a:p>
                  </a:txBody>
                  <a:tcPr marL="91440" marR="91440" marT="27432" marB="27432" anchor="ctr">
                    <a:solidFill>
                      <a:srgbClr val="E6F2F7"/>
                    </a:solidFill>
                  </a:tcPr>
                </a:tc>
                <a:tc>
                  <a:txBody>
                    <a:bodyPr wrap="square"/>
                    <a:lstStyle/>
                    <a:p>
                      <a:pPr algn="r"/>
                      <a:r>
                        <a:rPr sz="1200" b="1">
                          <a:solidFill>
                            <a:srgbClr val="0B2B4A"/>
                          </a:solidFill>
                          <a:latin typeface="Segoe UI"/>
                        </a:rPr>
                        <a:t>1,382</a:t>
                      </a:r>
                    </a:p>
                  </a:txBody>
                  <a:tcPr marL="91440" marR="91440" marT="27432" marB="27432" anchor="ctr">
                    <a:solidFill>
                      <a:srgbClr val="E6F2F7"/>
                    </a:solidFill>
                  </a:tcPr>
                </a:tc>
              </a:tr>
            </a:tbl>
          </a:graphicData>
        </a:graphic>
      </p:graphicFrame>
      <p:sp>
        <p:nvSpPr>
          <p:cNvPr id="24" name="Rounded Rectangle 23"/>
          <p:cNvSpPr/>
          <p:nvPr/>
        </p:nvSpPr>
        <p:spPr>
          <a:xfrm>
            <a:off x="7836408" y="3017520"/>
            <a:ext cx="3694176" cy="2523744"/>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836408" y="3017520"/>
            <a:ext cx="40640" cy="2523744"/>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092440" y="3200400"/>
            <a:ext cx="318211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Design consequences</a:t>
            </a:r>
          </a:p>
        </p:txBody>
      </p:sp>
      <p:sp>
        <p:nvSpPr>
          <p:cNvPr id="27" name="Rounded Rectangle 26"/>
          <p:cNvSpPr/>
          <p:nvPr/>
        </p:nvSpPr>
        <p:spPr>
          <a:xfrm>
            <a:off x="8092440" y="3643884"/>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311896" y="3566160"/>
            <a:ext cx="2962656" cy="587121"/>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audit precedes the split, because a duplicate spanning a partition boundary is a direct route to leakage.</a:t>
            </a:r>
          </a:p>
        </p:txBody>
      </p:sp>
      <p:sp>
        <p:nvSpPr>
          <p:cNvPr id="29" name="Rounded Rectangle 28"/>
          <p:cNvSpPr/>
          <p:nvPr/>
        </p:nvSpPr>
        <p:spPr>
          <a:xfrm>
            <a:off x="8092440" y="4322445"/>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311896" y="4244721"/>
            <a:ext cx="2962656" cy="587121"/>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realised split file is reused by all three architectures and by calibration, so results are comparable.</a:t>
            </a:r>
          </a:p>
        </p:txBody>
      </p:sp>
      <p:sp>
        <p:nvSpPr>
          <p:cNvPr id="31" name="Rounded Rectangle 30"/>
          <p:cNvSpPr/>
          <p:nvPr/>
        </p:nvSpPr>
        <p:spPr>
          <a:xfrm>
            <a:off x="8092440" y="5001006"/>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311896" y="4923282"/>
            <a:ext cx="296265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imbalance is addressed with stratified sampling and a class weighted loss.</a:t>
            </a:r>
          </a:p>
        </p:txBody>
      </p:sp>
      <p:sp>
        <p:nvSpPr>
          <p:cNvPr id="33" name="Rounded Rectangle 32"/>
          <p:cNvSpPr/>
          <p:nvPr/>
        </p:nvSpPr>
        <p:spPr>
          <a:xfrm>
            <a:off x="658368" y="5705856"/>
            <a:ext cx="10874959" cy="566928"/>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58368" y="5705856"/>
            <a:ext cx="40640" cy="566928"/>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96112" y="5824728"/>
            <a:ext cx="10372039" cy="329184"/>
          </a:xfrm>
          <a:prstGeom prst="rect">
            <a:avLst/>
          </a:prstGeom>
          <a:noFill/>
        </p:spPr>
        <p:txBody>
          <a:bodyPr wrap="square" anchor="t" lIns="0" rIns="0" tIns="0" bIns="0">
            <a:spAutoFit/>
          </a:bodyPr>
          <a:lstStyle/>
          <a:p>
            <a:pPr algn="l">
              <a:lnSpc>
                <a:spcPct val="118000"/>
              </a:lnSpc>
              <a:spcAft>
                <a:spcPts val="300"/>
              </a:spcAft>
            </a:pPr>
            <a:r>
              <a:rPr sz="1150" b="0" i="0">
                <a:solidFill>
                  <a:srgbClr val="0E5A72"/>
                </a:solidFill>
                <a:latin typeface="Segoe UI"/>
              </a:rPr>
              <a:t>Secondary data: curated public research collections, released for research use and carrying no patient identifiers. No human participants, so institutional ethics approval was not applicable.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SYSTEM ARCHITECTURE</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Three tiers, with the contribution isolated</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13</a:t>
            </a:r>
          </a:p>
        </p:txBody>
      </p:sp>
      <p:sp>
        <p:nvSpPr>
          <p:cNvPr id="8" name="Rounded Rectangle 7"/>
          <p:cNvSpPr/>
          <p:nvPr/>
        </p:nvSpPr>
        <p:spPr>
          <a:xfrm>
            <a:off x="608076" y="1654737"/>
            <a:ext cx="7552944" cy="3612534"/>
          </a:xfrm>
          <a:prstGeom prst="roundRect">
            <a:avLst>
              <a:gd name="adj" fmla="val 2000"/>
            </a:avLst>
          </a:prstGeom>
          <a:solidFill>
            <a:srgbClr val="FFFFFF"/>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ig_architecture.png"/>
          <p:cNvPicPr>
            <a:picLocks noChangeAspect="1"/>
          </p:cNvPicPr>
          <p:nvPr/>
        </p:nvPicPr>
        <p:blipFill>
          <a:blip r:embed="rId2"/>
          <a:stretch>
            <a:fillRect/>
          </a:stretch>
        </p:blipFill>
        <p:spPr>
          <a:xfrm>
            <a:off x="658368" y="1705029"/>
            <a:ext cx="7452360" cy="3511950"/>
          </a:xfrm>
          <a:prstGeom prst="rect">
            <a:avLst/>
          </a:prstGeom>
          <a:effectLst/>
        </p:spPr>
      </p:pic>
      <p:sp>
        <p:nvSpPr>
          <p:cNvPr id="10" name="Rounded Rectangle 9"/>
          <p:cNvSpPr/>
          <p:nvPr/>
        </p:nvSpPr>
        <p:spPr>
          <a:xfrm>
            <a:off x="8339328" y="1609344"/>
            <a:ext cx="3191256" cy="370332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339328" y="1609344"/>
            <a:ext cx="40640" cy="37033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595360" y="1792224"/>
            <a:ext cx="267919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Why inference is its own service</a:t>
            </a:r>
          </a:p>
        </p:txBody>
      </p:sp>
      <p:sp>
        <p:nvSpPr>
          <p:cNvPr id="13" name="Rounded Rectangle 12"/>
          <p:cNvSpPr/>
          <p:nvPr/>
        </p:nvSpPr>
        <p:spPr>
          <a:xfrm>
            <a:off x="8595360" y="223570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14816" y="2157984"/>
            <a:ext cx="2459736" cy="587121"/>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Model loading is expensive and must be amortised by a long lived process.</a:t>
            </a:r>
          </a:p>
        </p:txBody>
      </p:sp>
      <p:sp>
        <p:nvSpPr>
          <p:cNvPr id="15" name="Rounded Rectangle 14"/>
          <p:cNvSpPr/>
          <p:nvPr/>
        </p:nvSpPr>
        <p:spPr>
          <a:xfrm>
            <a:off x="8595360" y="2914269"/>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814816" y="2836545"/>
            <a:ext cx="2459736" cy="782828"/>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Isolating the models behind a narrow interface makes the safeguard a property of the system, not of one caller.</a:t>
            </a:r>
          </a:p>
        </p:txBody>
      </p:sp>
      <p:sp>
        <p:nvSpPr>
          <p:cNvPr id="17" name="Rounded Rectangle 16"/>
          <p:cNvSpPr/>
          <p:nvPr/>
        </p:nvSpPr>
        <p:spPr>
          <a:xfrm>
            <a:off x="8595360" y="3788537"/>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814816" y="3710813"/>
            <a:ext cx="2459736" cy="587121"/>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application tier treats unavailability as an error rather than degrading to a placeholder.</a:t>
            </a:r>
          </a:p>
        </p:txBody>
      </p:sp>
      <p:sp>
        <p:nvSpPr>
          <p:cNvPr id="19" name="Rounded Rectangle 18"/>
          <p:cNvSpPr/>
          <p:nvPr/>
        </p:nvSpPr>
        <p:spPr>
          <a:xfrm>
            <a:off x="658368" y="5504688"/>
            <a:ext cx="10874959" cy="786384"/>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58368" y="5504688"/>
            <a:ext cx="40640" cy="786384"/>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6112" y="5623560"/>
            <a:ext cx="10372039" cy="548640"/>
          </a:xfrm>
          <a:prstGeom prst="rect">
            <a:avLst/>
          </a:prstGeom>
          <a:noFill/>
        </p:spPr>
        <p:txBody>
          <a:bodyPr wrap="square" anchor="t" lIns="0" rIns="0" tIns="0" bIns="0">
            <a:spAutoFit/>
          </a:bodyPr>
          <a:lstStyle/>
          <a:p>
            <a:pPr algn="l">
              <a:lnSpc>
                <a:spcPct val="118000"/>
              </a:lnSpc>
              <a:spcAft>
                <a:spcPts val="300"/>
              </a:spcAft>
            </a:pPr>
            <a:r>
              <a:rPr sz="1250" b="1" i="0">
                <a:solidFill>
                  <a:srgbClr val="0E5A72"/>
                </a:solidFill>
                <a:latin typeface="Segoe UI"/>
              </a:rPr>
              <a:t>Data design</a:t>
            </a:r>
          </a:p>
          <a:p>
            <a:pPr algn="l">
              <a:lnSpc>
                <a:spcPct val="118000"/>
              </a:lnSpc>
              <a:spcAft>
                <a:spcPts val="300"/>
              </a:spcAft>
            </a:pPr>
            <a:r>
              <a:rPr sz="1150" b="0" i="0">
                <a:solidFill>
                  <a:srgbClr val="0E5A72"/>
                </a:solidFill>
                <a:latin typeface="Segoe UI"/>
              </a:rPr>
              <a:t>The scans table holds one row per analysis with all four probabilities, the model identifier, and the verdict, score and reason as persisted columns, so a decision taken inside the service survives reload, reopening and export.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INFERENCE PIPELINE</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One forward pass, three outputs</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14</a:t>
            </a:r>
          </a:p>
        </p:txBody>
      </p:sp>
      <p:sp>
        <p:nvSpPr>
          <p:cNvPr id="8" name="Rounded Rectangle 7"/>
          <p:cNvSpPr/>
          <p:nvPr/>
        </p:nvSpPr>
        <p:spPr>
          <a:xfrm>
            <a:off x="3197674" y="1522476"/>
            <a:ext cx="5796347" cy="2843784"/>
          </a:xfrm>
          <a:prstGeom prst="roundRect">
            <a:avLst>
              <a:gd name="adj" fmla="val 2000"/>
            </a:avLst>
          </a:prstGeom>
          <a:solidFill>
            <a:srgbClr val="FFFFFF"/>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ig_pipeline.png"/>
          <p:cNvPicPr>
            <a:picLocks noChangeAspect="1"/>
          </p:cNvPicPr>
          <p:nvPr/>
        </p:nvPicPr>
        <p:blipFill>
          <a:blip r:embed="rId2"/>
          <a:stretch>
            <a:fillRect/>
          </a:stretch>
        </p:blipFill>
        <p:spPr>
          <a:xfrm>
            <a:off x="3247966" y="1572768"/>
            <a:ext cx="5695763" cy="2743200"/>
          </a:xfrm>
          <a:prstGeom prst="rect">
            <a:avLst/>
          </a:prstGeom>
          <a:effectLst/>
        </p:spPr>
      </p:pic>
      <p:sp>
        <p:nvSpPr>
          <p:cNvPr id="10" name="Rounded Rectangle 9"/>
          <p:cNvSpPr/>
          <p:nvPr/>
        </p:nvSpPr>
        <p:spPr>
          <a:xfrm>
            <a:off x="658368" y="4498848"/>
            <a:ext cx="3478682" cy="1024128"/>
          </a:xfrm>
          <a:prstGeom prst="roundRect">
            <a:avLst>
              <a:gd name="adj" fmla="val 8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58368" y="4498848"/>
            <a:ext cx="3478682" cy="4064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77824" y="4681728"/>
            <a:ext cx="3039770" cy="274320"/>
          </a:xfrm>
          <a:prstGeom prst="rect">
            <a:avLst/>
          </a:prstGeom>
          <a:noFill/>
        </p:spPr>
        <p:txBody>
          <a:bodyPr wrap="square" anchor="t" lIns="0" rIns="0" tIns="0" bIns="0">
            <a:spAutoFit/>
          </a:bodyPr>
          <a:lstStyle/>
          <a:p>
            <a:pPr algn="l">
              <a:lnSpc>
                <a:spcPct val="118000"/>
              </a:lnSpc>
              <a:spcAft>
                <a:spcPts val="600"/>
              </a:spcAft>
            </a:pPr>
            <a:r>
              <a:rPr sz="1250" b="1" i="0">
                <a:solidFill>
                  <a:srgbClr val="0B2B4A"/>
                </a:solidFill>
                <a:latin typeface="Segoe UI"/>
              </a:rPr>
              <a:t>Penultimate features, 256-d</a:t>
            </a:r>
          </a:p>
        </p:txBody>
      </p:sp>
      <p:sp>
        <p:nvSpPr>
          <p:cNvPr id="13" name="TextBox 12"/>
          <p:cNvSpPr txBox="1"/>
          <p:nvPr/>
        </p:nvSpPr>
        <p:spPr>
          <a:xfrm>
            <a:off x="877824" y="4992624"/>
            <a:ext cx="3039770" cy="502920"/>
          </a:xfrm>
          <a:prstGeom prst="rect">
            <a:avLst/>
          </a:prstGeom>
          <a:noFill/>
        </p:spPr>
        <p:txBody>
          <a:bodyPr wrap="square" anchor="t" lIns="0" rIns="0" tIns="0" bIns="0">
            <a:spAutoFit/>
          </a:bodyPr>
          <a:lstStyle/>
          <a:p>
            <a:pPr algn="l">
              <a:lnSpc>
                <a:spcPct val="118000"/>
              </a:lnSpc>
              <a:spcAft>
                <a:spcPts val="600"/>
              </a:spcAft>
            </a:pPr>
            <a:r>
              <a:rPr sz="1100" b="0" i="0">
                <a:solidFill>
                  <a:srgbClr val="243B53"/>
                </a:solidFill>
                <a:latin typeface="Segoe UI"/>
              </a:rPr>
              <a:t>feed the Mahalanobis distance to the nearest class conditional mean</a:t>
            </a:r>
          </a:p>
        </p:txBody>
      </p:sp>
      <p:sp>
        <p:nvSpPr>
          <p:cNvPr id="14" name="Rounded Rectangle 13"/>
          <p:cNvSpPr/>
          <p:nvPr/>
        </p:nvSpPr>
        <p:spPr>
          <a:xfrm>
            <a:off x="4356506" y="4498848"/>
            <a:ext cx="3478682" cy="1024128"/>
          </a:xfrm>
          <a:prstGeom prst="roundRect">
            <a:avLst>
              <a:gd name="adj" fmla="val 8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356506" y="4498848"/>
            <a:ext cx="3478682" cy="4064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5962" y="4681728"/>
            <a:ext cx="3039770" cy="274320"/>
          </a:xfrm>
          <a:prstGeom prst="rect">
            <a:avLst/>
          </a:prstGeom>
          <a:noFill/>
        </p:spPr>
        <p:txBody>
          <a:bodyPr wrap="square" anchor="t" lIns="0" rIns="0" tIns="0" bIns="0">
            <a:spAutoFit/>
          </a:bodyPr>
          <a:lstStyle/>
          <a:p>
            <a:pPr algn="l">
              <a:lnSpc>
                <a:spcPct val="118000"/>
              </a:lnSpc>
              <a:spcAft>
                <a:spcPts val="600"/>
              </a:spcAft>
            </a:pPr>
            <a:r>
              <a:rPr sz="1250" b="1" i="0">
                <a:solidFill>
                  <a:srgbClr val="0B2B4A"/>
                </a:solidFill>
                <a:latin typeface="Segoe UI"/>
              </a:rPr>
              <a:t>Logits, recovered as fW + b</a:t>
            </a:r>
          </a:p>
        </p:txBody>
      </p:sp>
      <p:sp>
        <p:nvSpPr>
          <p:cNvPr id="17" name="TextBox 16"/>
          <p:cNvSpPr txBox="1"/>
          <p:nvPr/>
        </p:nvSpPr>
        <p:spPr>
          <a:xfrm>
            <a:off x="4575962" y="4992624"/>
            <a:ext cx="3039770" cy="502920"/>
          </a:xfrm>
          <a:prstGeom prst="rect">
            <a:avLst/>
          </a:prstGeom>
          <a:noFill/>
        </p:spPr>
        <p:txBody>
          <a:bodyPr wrap="square" anchor="t" lIns="0" rIns="0" tIns="0" bIns="0">
            <a:spAutoFit/>
          </a:bodyPr>
          <a:lstStyle/>
          <a:p>
            <a:pPr algn="l">
              <a:lnSpc>
                <a:spcPct val="118000"/>
              </a:lnSpc>
              <a:spcAft>
                <a:spcPts val="600"/>
              </a:spcAft>
            </a:pPr>
            <a:r>
              <a:rPr sz="1100" b="0" i="0">
                <a:solidFill>
                  <a:srgbClr val="243B53"/>
                </a:solidFill>
                <a:latin typeface="Segoe UI"/>
              </a:rPr>
              <a:t>give both the energy score and the probabilities shown to the user</a:t>
            </a:r>
          </a:p>
        </p:txBody>
      </p:sp>
      <p:sp>
        <p:nvSpPr>
          <p:cNvPr id="18" name="Rounded Rectangle 17"/>
          <p:cNvSpPr/>
          <p:nvPr/>
        </p:nvSpPr>
        <p:spPr>
          <a:xfrm>
            <a:off x="8054644" y="4498848"/>
            <a:ext cx="3478682" cy="1024128"/>
          </a:xfrm>
          <a:prstGeom prst="roundRect">
            <a:avLst>
              <a:gd name="adj" fmla="val 8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54644" y="4498848"/>
            <a:ext cx="3478682" cy="4064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74100" y="4681728"/>
            <a:ext cx="3039770" cy="274320"/>
          </a:xfrm>
          <a:prstGeom prst="rect">
            <a:avLst/>
          </a:prstGeom>
          <a:noFill/>
        </p:spPr>
        <p:txBody>
          <a:bodyPr wrap="square" anchor="t" lIns="0" rIns="0" tIns="0" bIns="0">
            <a:spAutoFit/>
          </a:bodyPr>
          <a:lstStyle/>
          <a:p>
            <a:pPr algn="l">
              <a:lnSpc>
                <a:spcPct val="118000"/>
              </a:lnSpc>
              <a:spcAft>
                <a:spcPts val="600"/>
              </a:spcAft>
            </a:pPr>
            <a:r>
              <a:rPr sz="1250" b="1" i="0">
                <a:solidFill>
                  <a:srgbClr val="0B2B4A"/>
                </a:solidFill>
                <a:latin typeface="Segoe UI"/>
              </a:rPr>
              <a:t>Last convolutional feature map</a:t>
            </a:r>
          </a:p>
        </p:txBody>
      </p:sp>
      <p:sp>
        <p:nvSpPr>
          <p:cNvPr id="21" name="TextBox 20"/>
          <p:cNvSpPr txBox="1"/>
          <p:nvPr/>
        </p:nvSpPr>
        <p:spPr>
          <a:xfrm>
            <a:off x="8274100" y="4992624"/>
            <a:ext cx="3039770" cy="502920"/>
          </a:xfrm>
          <a:prstGeom prst="rect">
            <a:avLst/>
          </a:prstGeom>
          <a:noFill/>
        </p:spPr>
        <p:txBody>
          <a:bodyPr wrap="square" anchor="t" lIns="0" rIns="0" tIns="0" bIns="0">
            <a:spAutoFit/>
          </a:bodyPr>
          <a:lstStyle/>
          <a:p>
            <a:pPr algn="l">
              <a:lnSpc>
                <a:spcPct val="118000"/>
              </a:lnSpc>
              <a:spcAft>
                <a:spcPts val="600"/>
              </a:spcAft>
            </a:pPr>
            <a:r>
              <a:rPr sz="1100" b="0" i="0">
                <a:solidFill>
                  <a:srgbClr val="243B53"/>
                </a:solidFill>
                <a:latin typeface="Segoe UI"/>
              </a:rPr>
              <a:t>gives Grad-CAM, differentiated on the logit, then lung restricted</a:t>
            </a:r>
          </a:p>
        </p:txBody>
      </p:sp>
      <p:sp>
        <p:nvSpPr>
          <p:cNvPr id="22" name="Rounded Rectangle 21"/>
          <p:cNvSpPr/>
          <p:nvPr/>
        </p:nvSpPr>
        <p:spPr>
          <a:xfrm>
            <a:off x="658368" y="5669280"/>
            <a:ext cx="10874959" cy="694944"/>
          </a:xfrm>
          <a:prstGeom prst="roundRect">
            <a:avLst>
              <a:gd name="adj" fmla="val 10000"/>
            </a:avLst>
          </a:prstGeom>
          <a:solidFill>
            <a:srgbClr val="E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58368" y="5669280"/>
            <a:ext cx="40640" cy="694944"/>
          </a:xfrm>
          <a:prstGeom prst="rect">
            <a:avLst/>
          </a:prstGeom>
          <a:solidFill>
            <a:srgbClr val="1B6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6112" y="5788152"/>
            <a:ext cx="10372039" cy="457200"/>
          </a:xfrm>
          <a:prstGeom prst="rect">
            <a:avLst/>
          </a:prstGeom>
          <a:noFill/>
        </p:spPr>
        <p:txBody>
          <a:bodyPr wrap="square" anchor="t" lIns="0" rIns="0" tIns="0" bIns="0">
            <a:spAutoFit/>
          </a:bodyPr>
          <a:lstStyle/>
          <a:p>
            <a:pPr algn="l">
              <a:lnSpc>
                <a:spcPct val="118000"/>
              </a:lnSpc>
              <a:spcAft>
                <a:spcPts val="300"/>
              </a:spcAft>
            </a:pPr>
            <a:r>
              <a:rPr sz="1150" b="0" i="0">
                <a:solidFill>
                  <a:srgbClr val="1B6E52"/>
                </a:solidFill>
                <a:latin typeface="Segoe UI"/>
              </a:rPr>
              <a:t>The reconstruction reuses the parameters the model itself would apply, so the features, the logits and the probabilities all describe the same forward pass. It is that correspondence, not the saving in computation, that motivates the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CONTRIBUTION 1  ·  INPUT VALIDITY</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400" b="1" i="0">
                <a:solidFill>
                  <a:srgbClr val="0B2B4A"/>
                </a:solidFill>
                <a:latin typeface="Segoe UI"/>
              </a:rPr>
              <a:t>The safeguard: fitted from genuine data, no retraining</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15</a:t>
            </a:r>
          </a:p>
        </p:txBody>
      </p:sp>
      <p:sp>
        <p:nvSpPr>
          <p:cNvPr id="8" name="Rounded Rectangle 7"/>
          <p:cNvSpPr/>
          <p:nvPr/>
        </p:nvSpPr>
        <p:spPr>
          <a:xfrm>
            <a:off x="658368" y="1572768"/>
            <a:ext cx="3478682" cy="2148840"/>
          </a:xfrm>
          <a:prstGeom prst="roundRect">
            <a:avLst>
              <a:gd name="adj" fmla="val 7000"/>
            </a:avLst>
          </a:prstGeom>
          <a:solidFill>
            <a:srgbClr val="E6F2F7"/>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3478682" cy="43180"/>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96112" y="1773936"/>
            <a:ext cx="3021482" cy="237744"/>
          </a:xfrm>
          <a:prstGeom prst="rect">
            <a:avLst/>
          </a:prstGeom>
          <a:noFill/>
        </p:spPr>
        <p:txBody>
          <a:bodyPr wrap="square" anchor="t" lIns="0" rIns="0" tIns="0" bIns="0">
            <a:spAutoFit/>
          </a:bodyPr>
          <a:lstStyle/>
          <a:p>
            <a:pPr algn="l">
              <a:lnSpc>
                <a:spcPct val="118000"/>
              </a:lnSpc>
              <a:spcAft>
                <a:spcPts val="600"/>
              </a:spcAft>
            </a:pPr>
            <a:r>
              <a:rPr sz="950" b="1" i="0">
                <a:solidFill>
                  <a:srgbClr val="0E5A72"/>
                </a:solidFill>
                <a:latin typeface="Segoe UI"/>
              </a:rPr>
              <a:t>DEPLOYED POLICY</a:t>
            </a:r>
          </a:p>
        </p:txBody>
      </p:sp>
      <p:sp>
        <p:nvSpPr>
          <p:cNvPr id="11" name="TextBox 10"/>
          <p:cNvSpPr txBox="1"/>
          <p:nvPr/>
        </p:nvSpPr>
        <p:spPr>
          <a:xfrm>
            <a:off x="896112" y="2048256"/>
            <a:ext cx="3021482" cy="310896"/>
          </a:xfrm>
          <a:prstGeom prst="rect">
            <a:avLst/>
          </a:prstGeom>
          <a:noFill/>
        </p:spPr>
        <p:txBody>
          <a:bodyPr wrap="square" anchor="t" lIns="0" rIns="0" tIns="0" bIns="0">
            <a:spAutoFit/>
          </a:bodyPr>
          <a:lstStyle/>
          <a:p>
            <a:pPr algn="l">
              <a:lnSpc>
                <a:spcPct val="118000"/>
              </a:lnSpc>
              <a:spcAft>
                <a:spcPts val="600"/>
              </a:spcAft>
            </a:pPr>
            <a:r>
              <a:rPr sz="1600" b="1" i="0">
                <a:solidFill>
                  <a:srgbClr val="0B2B4A"/>
                </a:solidFill>
                <a:latin typeface="Segoe UI"/>
              </a:rPr>
              <a:t>Mahalanobis</a:t>
            </a:r>
          </a:p>
        </p:txBody>
      </p:sp>
      <p:sp>
        <p:nvSpPr>
          <p:cNvPr id="12" name="TextBox 11"/>
          <p:cNvSpPr txBox="1"/>
          <p:nvPr/>
        </p:nvSpPr>
        <p:spPr>
          <a:xfrm>
            <a:off x="896112" y="2395728"/>
            <a:ext cx="3021482"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feature space</a:t>
            </a:r>
          </a:p>
        </p:txBody>
      </p:sp>
      <p:sp>
        <p:nvSpPr>
          <p:cNvPr id="13" name="TextBox 12"/>
          <p:cNvSpPr txBox="1"/>
          <p:nvPr/>
        </p:nvSpPr>
        <p:spPr>
          <a:xfrm>
            <a:off x="896112" y="2688336"/>
            <a:ext cx="3021482" cy="1097280"/>
          </a:xfrm>
          <a:prstGeom prst="rect">
            <a:avLst/>
          </a:prstGeom>
          <a:noFill/>
        </p:spPr>
        <p:txBody>
          <a:bodyPr wrap="square" anchor="t" lIns="0" rIns="0" tIns="0" bIns="0">
            <a:spAutoFit/>
          </a:bodyPr>
          <a:lstStyle/>
          <a:p>
            <a:pPr algn="l">
              <a:lnSpc>
                <a:spcPct val="118000"/>
              </a:lnSpc>
              <a:spcAft>
                <a:spcPts val="600"/>
              </a:spcAft>
            </a:pPr>
            <a:r>
              <a:rPr sz="1100" b="0" i="0">
                <a:solidFill>
                  <a:srgbClr val="243B53"/>
                </a:solidFill>
                <a:latin typeface="Segoe UI"/>
              </a:rPr>
              <a:t>Class conditional Gaussians on the 256-d penultimate features with a single tied covariance, shrunk by 0.01 on the identity. Score is the distance to the nearest class mean.</a:t>
            </a:r>
          </a:p>
        </p:txBody>
      </p:sp>
      <p:sp>
        <p:nvSpPr>
          <p:cNvPr id="14" name="Rounded Rectangle 13"/>
          <p:cNvSpPr/>
          <p:nvPr/>
        </p:nvSpPr>
        <p:spPr>
          <a:xfrm>
            <a:off x="4356506" y="1572768"/>
            <a:ext cx="3478682" cy="2148840"/>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356506" y="1572768"/>
            <a:ext cx="3478682" cy="43180"/>
          </a:xfrm>
          <a:prstGeom prst="rect">
            <a:avLst/>
          </a:prstGeom>
          <a:solidFill>
            <a:srgbClr val="647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94250" y="1773936"/>
            <a:ext cx="3021482" cy="237744"/>
          </a:xfrm>
          <a:prstGeom prst="rect">
            <a:avLst/>
          </a:prstGeom>
          <a:noFill/>
        </p:spPr>
        <p:txBody>
          <a:bodyPr wrap="square" anchor="t" lIns="0" rIns="0" tIns="0" bIns="0">
            <a:spAutoFit/>
          </a:bodyPr>
          <a:lstStyle/>
          <a:p>
            <a:pPr algn="l">
              <a:lnSpc>
                <a:spcPct val="118000"/>
              </a:lnSpc>
              <a:spcAft>
                <a:spcPts val="600"/>
              </a:spcAft>
            </a:pPr>
            <a:r>
              <a:rPr sz="950" b="1" i="0">
                <a:solidFill>
                  <a:srgbClr val="647C93"/>
                </a:solidFill>
                <a:latin typeface="Segoe UI"/>
              </a:rPr>
              <a:t>REPORTED</a:t>
            </a:r>
          </a:p>
        </p:txBody>
      </p:sp>
      <p:sp>
        <p:nvSpPr>
          <p:cNvPr id="17" name="TextBox 16"/>
          <p:cNvSpPr txBox="1"/>
          <p:nvPr/>
        </p:nvSpPr>
        <p:spPr>
          <a:xfrm>
            <a:off x="4594250" y="2048256"/>
            <a:ext cx="3021482" cy="310896"/>
          </a:xfrm>
          <a:prstGeom prst="rect">
            <a:avLst/>
          </a:prstGeom>
          <a:noFill/>
        </p:spPr>
        <p:txBody>
          <a:bodyPr wrap="square" anchor="t" lIns="0" rIns="0" tIns="0" bIns="0">
            <a:spAutoFit/>
          </a:bodyPr>
          <a:lstStyle/>
          <a:p>
            <a:pPr algn="l">
              <a:lnSpc>
                <a:spcPct val="118000"/>
              </a:lnSpc>
              <a:spcAft>
                <a:spcPts val="600"/>
              </a:spcAft>
            </a:pPr>
            <a:r>
              <a:rPr sz="1600" b="1" i="0">
                <a:solidFill>
                  <a:srgbClr val="0B2B4A"/>
                </a:solidFill>
                <a:latin typeface="Segoe UI"/>
              </a:rPr>
              <a:t>Energy</a:t>
            </a:r>
          </a:p>
        </p:txBody>
      </p:sp>
      <p:sp>
        <p:nvSpPr>
          <p:cNvPr id="18" name="TextBox 17"/>
          <p:cNvSpPr txBox="1"/>
          <p:nvPr/>
        </p:nvSpPr>
        <p:spPr>
          <a:xfrm>
            <a:off x="4594250" y="2395728"/>
            <a:ext cx="3021482"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output space</a:t>
            </a:r>
          </a:p>
        </p:txBody>
      </p:sp>
      <p:sp>
        <p:nvSpPr>
          <p:cNvPr id="19" name="TextBox 18"/>
          <p:cNvSpPr txBox="1"/>
          <p:nvPr/>
        </p:nvSpPr>
        <p:spPr>
          <a:xfrm>
            <a:off x="4594250" y="2688336"/>
            <a:ext cx="3021482" cy="1097280"/>
          </a:xfrm>
          <a:prstGeom prst="rect">
            <a:avLst/>
          </a:prstGeom>
          <a:noFill/>
        </p:spPr>
        <p:txBody>
          <a:bodyPr wrap="square" anchor="t" lIns="0" rIns="0" tIns="0" bIns="0">
            <a:spAutoFit/>
          </a:bodyPr>
          <a:lstStyle/>
          <a:p>
            <a:pPr algn="l">
              <a:lnSpc>
                <a:spcPct val="118000"/>
              </a:lnSpc>
              <a:spcAft>
                <a:spcPts val="600"/>
              </a:spcAft>
            </a:pPr>
            <a:r>
              <a:rPr sz="1100" b="0" i="0">
                <a:solidFill>
                  <a:srgbClr val="243B53"/>
                </a:solidFill>
                <a:latin typeface="Segoe UI"/>
              </a:rPr>
              <a:t>The negative log sum exp of the logits at temperature 1.0. Computed and reported for every scan.</a:t>
            </a:r>
          </a:p>
        </p:txBody>
      </p:sp>
      <p:sp>
        <p:nvSpPr>
          <p:cNvPr id="20" name="Rounded Rectangle 19"/>
          <p:cNvSpPr/>
          <p:nvPr/>
        </p:nvSpPr>
        <p:spPr>
          <a:xfrm>
            <a:off x="8054644" y="1572768"/>
            <a:ext cx="3478682" cy="2148840"/>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054644" y="1572768"/>
            <a:ext cx="3478682" cy="43180"/>
          </a:xfrm>
          <a:prstGeom prst="rect">
            <a:avLst/>
          </a:prstGeom>
          <a:solidFill>
            <a:srgbClr val="647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92388" y="1773936"/>
            <a:ext cx="3021482" cy="237744"/>
          </a:xfrm>
          <a:prstGeom prst="rect">
            <a:avLst/>
          </a:prstGeom>
          <a:noFill/>
        </p:spPr>
        <p:txBody>
          <a:bodyPr wrap="square" anchor="t" lIns="0" rIns="0" tIns="0" bIns="0">
            <a:spAutoFit/>
          </a:bodyPr>
          <a:lstStyle/>
          <a:p>
            <a:pPr algn="l">
              <a:lnSpc>
                <a:spcPct val="118000"/>
              </a:lnSpc>
              <a:spcAft>
                <a:spcPts val="600"/>
              </a:spcAft>
            </a:pPr>
            <a:r>
              <a:rPr sz="950" b="1" i="0">
                <a:solidFill>
                  <a:srgbClr val="647C93"/>
                </a:solidFill>
                <a:latin typeface="Segoe UI"/>
              </a:rPr>
              <a:t>REPORTED</a:t>
            </a:r>
          </a:p>
        </p:txBody>
      </p:sp>
      <p:sp>
        <p:nvSpPr>
          <p:cNvPr id="23" name="TextBox 22"/>
          <p:cNvSpPr txBox="1"/>
          <p:nvPr/>
        </p:nvSpPr>
        <p:spPr>
          <a:xfrm>
            <a:off x="8292388" y="2048256"/>
            <a:ext cx="3021482" cy="310896"/>
          </a:xfrm>
          <a:prstGeom prst="rect">
            <a:avLst/>
          </a:prstGeom>
          <a:noFill/>
        </p:spPr>
        <p:txBody>
          <a:bodyPr wrap="square" anchor="t" lIns="0" rIns="0" tIns="0" bIns="0">
            <a:spAutoFit/>
          </a:bodyPr>
          <a:lstStyle/>
          <a:p>
            <a:pPr algn="l">
              <a:lnSpc>
                <a:spcPct val="118000"/>
              </a:lnSpc>
              <a:spcAft>
                <a:spcPts val="600"/>
              </a:spcAft>
            </a:pPr>
            <a:r>
              <a:rPr sz="1600" b="1" i="0">
                <a:solidFill>
                  <a:srgbClr val="0B2B4A"/>
                </a:solidFill>
                <a:latin typeface="Segoe UI"/>
              </a:rPr>
              <a:t>Maximum softmax</a:t>
            </a:r>
          </a:p>
        </p:txBody>
      </p:sp>
      <p:sp>
        <p:nvSpPr>
          <p:cNvPr id="24" name="TextBox 23"/>
          <p:cNvSpPr txBox="1"/>
          <p:nvPr/>
        </p:nvSpPr>
        <p:spPr>
          <a:xfrm>
            <a:off x="8292388" y="2395728"/>
            <a:ext cx="3021482"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output space</a:t>
            </a:r>
          </a:p>
        </p:txBody>
      </p:sp>
      <p:sp>
        <p:nvSpPr>
          <p:cNvPr id="25" name="TextBox 24"/>
          <p:cNvSpPr txBox="1"/>
          <p:nvPr/>
        </p:nvSpPr>
        <p:spPr>
          <a:xfrm>
            <a:off x="8292388" y="2688336"/>
            <a:ext cx="3021482" cy="1097280"/>
          </a:xfrm>
          <a:prstGeom prst="rect">
            <a:avLst/>
          </a:prstGeom>
          <a:noFill/>
        </p:spPr>
        <p:txBody>
          <a:bodyPr wrap="square" anchor="t" lIns="0" rIns="0" tIns="0" bIns="0">
            <a:spAutoFit/>
          </a:bodyPr>
          <a:lstStyle/>
          <a:p>
            <a:pPr algn="l">
              <a:lnSpc>
                <a:spcPct val="118000"/>
              </a:lnSpc>
              <a:spcAft>
                <a:spcPts val="600"/>
              </a:spcAft>
            </a:pPr>
            <a:r>
              <a:rPr sz="1100" b="0" i="0">
                <a:solidFill>
                  <a:srgbClr val="243B53"/>
                </a:solidFill>
                <a:latin typeface="Segoe UI"/>
              </a:rPr>
              <a:t>The Hendrycks and Gimpel baseline. Computed and thresholded, ordering reversed because higher means more familiar.</a:t>
            </a:r>
          </a:p>
        </p:txBody>
      </p:sp>
      <p:sp>
        <p:nvSpPr>
          <p:cNvPr id="26" name="Rounded Rectangle 25"/>
          <p:cNvSpPr/>
          <p:nvPr/>
        </p:nvSpPr>
        <p:spPr>
          <a:xfrm>
            <a:off x="658368" y="3895344"/>
            <a:ext cx="10874959" cy="1847088"/>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58368" y="3895344"/>
            <a:ext cx="40640" cy="184708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4400" y="4078224"/>
            <a:ext cx="10362895"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Calibration runs once per model, on genuine data only</a:t>
            </a:r>
          </a:p>
        </p:txBody>
      </p:sp>
      <p:sp>
        <p:nvSpPr>
          <p:cNvPr id="29" name="Rounded Rectangle 28"/>
          <p:cNvSpPr/>
          <p:nvPr/>
        </p:nvSpPr>
        <p:spPr>
          <a:xfrm>
            <a:off x="914400" y="452170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33856" y="4443984"/>
            <a:ext cx="10143439" cy="195707"/>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Statistics are fitted on 1,200 training images and thresholded on 600 validation images, at a target retention of 95 per cent of genuine scans.</a:t>
            </a:r>
          </a:p>
        </p:txBody>
      </p:sp>
      <p:sp>
        <p:nvSpPr>
          <p:cNvPr id="31" name="Rounded Rectangle 30"/>
          <p:cNvSpPr/>
          <p:nvPr/>
        </p:nvSpPr>
        <p:spPr>
          <a:xfrm>
            <a:off x="914400" y="4808855"/>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133856" y="4731131"/>
            <a:ext cx="10143439"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covariance is tied across classes because the fitting sample is only about 4.7 times the 256 dimensions, so four separate matrices would be rank deficient.</a:t>
            </a:r>
          </a:p>
        </p:txBody>
      </p:sp>
      <p:sp>
        <p:nvSpPr>
          <p:cNvPr id="33" name="Rounded Rectangle 32"/>
          <p:cNvSpPr/>
          <p:nvPr/>
        </p:nvSpPr>
        <p:spPr>
          <a:xfrm>
            <a:off x="914400" y="5291709"/>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133856" y="5213985"/>
            <a:ext cx="10143439" cy="195707"/>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safeguard never sees an invalid example during calibration. The operating point is set entirely from real radiographs.</a:t>
            </a:r>
          </a:p>
        </p:txBody>
      </p:sp>
      <p:sp>
        <p:nvSpPr>
          <p:cNvPr id="35" name="Rounded Rectangle 34"/>
          <p:cNvSpPr/>
          <p:nvPr/>
        </p:nvSpPr>
        <p:spPr>
          <a:xfrm>
            <a:off x="658368" y="5833872"/>
            <a:ext cx="10874959" cy="438912"/>
          </a:xfrm>
          <a:prstGeom prst="roundRect">
            <a:avLst>
              <a:gd name="adj" fmla="val 10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58368" y="5833872"/>
            <a:ext cx="40640" cy="43891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96112" y="5952744"/>
            <a:ext cx="10372039" cy="201168"/>
          </a:xfrm>
          <a:prstGeom prst="rect">
            <a:avLst/>
          </a:prstGeom>
          <a:noFill/>
        </p:spPr>
        <p:txBody>
          <a:bodyPr wrap="square" anchor="t" lIns="0" rIns="0" tIns="0" bIns="0">
            <a:spAutoFit/>
          </a:bodyPr>
          <a:lstStyle/>
          <a:p>
            <a:pPr algn="l">
              <a:lnSpc>
                <a:spcPct val="118000"/>
              </a:lnSpc>
              <a:spcAft>
                <a:spcPts val="300"/>
              </a:spcAft>
            </a:pPr>
            <a:r>
              <a:rPr sz="1150" b="0" i="0">
                <a:solidFill>
                  <a:srgbClr val="B45309"/>
                </a:solidFill>
                <a:latin typeface="Segoe UI"/>
              </a:rPr>
              <a:t>When the verdict fires the response carries no diagnosis: no predicted class, no confidence, no probability bars.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CONTRIBUTION 2  ·  EXPLANATION</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Grad-CAM, corrected in two places</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16</a:t>
            </a:r>
          </a:p>
        </p:txBody>
      </p:sp>
      <p:sp>
        <p:nvSpPr>
          <p:cNvPr id="8" name="Rounded Rectangle 7"/>
          <p:cNvSpPr/>
          <p:nvPr/>
        </p:nvSpPr>
        <p:spPr>
          <a:xfrm>
            <a:off x="658368" y="1572768"/>
            <a:ext cx="5300319" cy="283464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40640" cy="283464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755648"/>
            <a:ext cx="4788255"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Differentiate the logit, not the probability</a:t>
            </a:r>
          </a:p>
        </p:txBody>
      </p:sp>
      <p:sp>
        <p:nvSpPr>
          <p:cNvPr id="11" name="Rounded Rectangle 10"/>
          <p:cNvSpPr/>
          <p:nvPr/>
        </p:nvSpPr>
        <p:spPr>
          <a:xfrm>
            <a:off x="914400" y="219913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33856" y="2121408"/>
            <a:ext cx="4568799" cy="204216"/>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Grad-CAM is defined on the class score before the softmax.</a:t>
            </a:r>
          </a:p>
        </p:txBody>
      </p:sp>
      <p:sp>
        <p:nvSpPr>
          <p:cNvPr id="13" name="Rounded Rectangle 12"/>
          <p:cNvSpPr/>
          <p:nvPr/>
        </p:nvSpPr>
        <p:spPr>
          <a:xfrm>
            <a:off x="914400" y="249478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33856" y="2417064"/>
            <a:ext cx="4568799"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Differentiating the probability introduces a factor that approaches zero exactly when the model is confident.</a:t>
            </a:r>
          </a:p>
        </p:txBody>
      </p:sp>
      <p:sp>
        <p:nvSpPr>
          <p:cNvPr id="15" name="Rounded Rectangle 14"/>
          <p:cNvSpPr/>
          <p:nvPr/>
        </p:nvSpPr>
        <p:spPr>
          <a:xfrm>
            <a:off x="914400" y="299466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33856" y="2916936"/>
            <a:ext cx="4568799" cy="612648"/>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For COVID-19 and Normal, predicted probabilities routinely exceed 0.97, so that factor falls below 0.03 and the map becomes numerical noise.</a:t>
            </a:r>
          </a:p>
        </p:txBody>
      </p:sp>
      <p:sp>
        <p:nvSpPr>
          <p:cNvPr id="17" name="Rounded Rectangle 16"/>
          <p:cNvSpPr/>
          <p:nvPr/>
        </p:nvSpPr>
        <p:spPr>
          <a:xfrm>
            <a:off x="914400" y="369874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33856" y="3621024"/>
            <a:ext cx="4568799" cy="204216"/>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Differentiating the logit removes the factor entirely.</a:t>
            </a:r>
          </a:p>
        </p:txBody>
      </p:sp>
      <p:sp>
        <p:nvSpPr>
          <p:cNvPr id="19" name="Rounded Rectangle 18"/>
          <p:cNvSpPr/>
          <p:nvPr/>
        </p:nvSpPr>
        <p:spPr>
          <a:xfrm>
            <a:off x="6233007" y="1572768"/>
            <a:ext cx="5300319" cy="283464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33007" y="1572768"/>
            <a:ext cx="40640" cy="283464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89039" y="1755648"/>
            <a:ext cx="4788255"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Restrict to the lung field, and disclose the share</a:t>
            </a:r>
          </a:p>
        </p:txBody>
      </p:sp>
      <p:sp>
        <p:nvSpPr>
          <p:cNvPr id="22" name="Rounded Rectangle 21"/>
          <p:cNvSpPr/>
          <p:nvPr/>
        </p:nvSpPr>
        <p:spPr>
          <a:xfrm>
            <a:off x="6489039" y="219913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708495" y="2121408"/>
            <a:ext cx="4568799" cy="612648"/>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estimator is classical, not learned: Otsu thresholding on a contrast equalised copy, then at most two plausible air filled regions.</a:t>
            </a:r>
          </a:p>
        </p:txBody>
      </p:sp>
      <p:sp>
        <p:nvSpPr>
          <p:cNvPr id="24" name="Rounded Rectangle 23"/>
          <p:cNvSpPr/>
          <p:nvPr/>
        </p:nvSpPr>
        <p:spPr>
          <a:xfrm>
            <a:off x="6489039" y="290322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708495" y="2825496"/>
            <a:ext cx="4568799"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A learned segmenter would add a second set of weights and a second failure mode to a component meant to increase trust.</a:t>
            </a:r>
          </a:p>
        </p:txBody>
      </p:sp>
      <p:sp>
        <p:nvSpPr>
          <p:cNvPr id="26" name="Rounded Rectangle 25"/>
          <p:cNvSpPr/>
          <p:nvPr/>
        </p:nvSpPr>
        <p:spPr>
          <a:xfrm>
            <a:off x="6489039" y="340309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708495" y="3325368"/>
            <a:ext cx="4568799" cy="612648"/>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in lung share is computed on the unmasked map, so it describes where the model actually looked. After masking it would be identically one.</a:t>
            </a:r>
          </a:p>
        </p:txBody>
      </p:sp>
      <p:sp>
        <p:nvSpPr>
          <p:cNvPr id="28" name="Rounded Rectangle 27"/>
          <p:cNvSpPr/>
          <p:nvPr/>
        </p:nvSpPr>
        <p:spPr>
          <a:xfrm>
            <a:off x="658368" y="4590288"/>
            <a:ext cx="10874959" cy="822960"/>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58368" y="4590288"/>
            <a:ext cx="40640" cy="822960"/>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6112" y="4709160"/>
            <a:ext cx="10372039" cy="585216"/>
          </a:xfrm>
          <a:prstGeom prst="rect">
            <a:avLst/>
          </a:prstGeom>
          <a:noFill/>
        </p:spPr>
        <p:txBody>
          <a:bodyPr wrap="square" anchor="t" lIns="0" rIns="0" tIns="0" bIns="0">
            <a:spAutoFit/>
          </a:bodyPr>
          <a:lstStyle/>
          <a:p>
            <a:pPr algn="l">
              <a:lnSpc>
                <a:spcPct val="118000"/>
              </a:lnSpc>
              <a:spcAft>
                <a:spcPts val="300"/>
              </a:spcAft>
            </a:pPr>
            <a:r>
              <a:rPr sz="1250" b="1" i="0">
                <a:solidFill>
                  <a:srgbClr val="0E5A72"/>
                </a:solidFill>
                <a:latin typeface="Segoe UI"/>
              </a:rPr>
              <a:t>Why it was implemented by hand</a:t>
            </a:r>
          </a:p>
          <a:p>
            <a:pPr algn="l">
              <a:lnSpc>
                <a:spcPct val="118000"/>
              </a:lnSpc>
              <a:spcAft>
                <a:spcPts val="300"/>
              </a:spcAft>
            </a:pPr>
            <a:r>
              <a:rPr sz="1150" b="0" i="0">
                <a:solidFill>
                  <a:srgbClr val="0E5A72"/>
                </a:solidFill>
                <a:latin typeface="Segoe UI"/>
              </a:rPr>
              <a:t>Library implementations were not used: they assume a flat graph and expose only the post softmax output. Both the detector graph and the explanation graph are rebuilt directly over the trained weights.</a:t>
            </a:r>
          </a:p>
        </p:txBody>
      </p:sp>
      <p:sp>
        <p:nvSpPr>
          <p:cNvPr id="31" name="Rounded Rectangle 30"/>
          <p:cNvSpPr/>
          <p:nvPr/>
        </p:nvSpPr>
        <p:spPr>
          <a:xfrm>
            <a:off x="658368" y="5541264"/>
            <a:ext cx="10874959" cy="457200"/>
          </a:xfrm>
          <a:prstGeom prst="roundRect">
            <a:avLst>
              <a:gd name="adj" fmla="val 10000"/>
            </a:avLst>
          </a:prstGeom>
          <a:solidFill>
            <a:srgbClr val="E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58368" y="5541264"/>
            <a:ext cx="40640" cy="457200"/>
          </a:xfrm>
          <a:prstGeom prst="rect">
            <a:avLst/>
          </a:prstGeom>
          <a:solidFill>
            <a:srgbClr val="1B6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96112" y="5660136"/>
            <a:ext cx="10372039" cy="219456"/>
          </a:xfrm>
          <a:prstGeom prst="rect">
            <a:avLst/>
          </a:prstGeom>
          <a:noFill/>
        </p:spPr>
        <p:txBody>
          <a:bodyPr wrap="square" anchor="t" lIns="0" rIns="0" tIns="0" bIns="0">
            <a:spAutoFit/>
          </a:bodyPr>
          <a:lstStyle/>
          <a:p>
            <a:pPr algn="l">
              <a:lnSpc>
                <a:spcPct val="118000"/>
              </a:lnSpc>
              <a:spcAft>
                <a:spcPts val="300"/>
              </a:spcAft>
            </a:pPr>
            <a:r>
              <a:rPr sz="1150" b="0" i="0">
                <a:solidFill>
                  <a:srgbClr val="1B6E52"/>
                </a:solidFill>
                <a:latin typeface="Segoe UI"/>
              </a:rPr>
              <a:t>A caution is raised when the measured share falls below one half, and the value is returned for every response whether or not it triggers the caution.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CONTRIBUTION 2  ·  IN PRACTICE</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What lung restriction changes</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17</a:t>
            </a:r>
          </a:p>
        </p:txBody>
      </p:sp>
      <p:sp>
        <p:nvSpPr>
          <p:cNvPr id="8" name="Rounded Rectangle 7"/>
          <p:cNvSpPr/>
          <p:nvPr/>
        </p:nvSpPr>
        <p:spPr>
          <a:xfrm>
            <a:off x="2070434" y="1485900"/>
            <a:ext cx="3850988" cy="4288536"/>
          </a:xfrm>
          <a:prstGeom prst="roundRect">
            <a:avLst>
              <a:gd name="adj" fmla="val 2000"/>
            </a:avLst>
          </a:prstGeom>
          <a:solidFill>
            <a:srgbClr val="FFFFFF"/>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mp_lung_restriction.png"/>
          <p:cNvPicPr>
            <a:picLocks noChangeAspect="1"/>
          </p:cNvPicPr>
          <p:nvPr/>
        </p:nvPicPr>
        <p:blipFill>
          <a:blip r:embed="rId2"/>
          <a:stretch>
            <a:fillRect/>
          </a:stretch>
        </p:blipFill>
        <p:spPr>
          <a:xfrm>
            <a:off x="2120726" y="1536192"/>
            <a:ext cx="3750404" cy="4187952"/>
          </a:xfrm>
          <a:prstGeom prst="rect">
            <a:avLst/>
          </a:prstGeom>
          <a:effectLst/>
        </p:spPr>
      </p:pic>
      <p:sp>
        <p:nvSpPr>
          <p:cNvPr id="10" name="Rounded Rectangle 9"/>
          <p:cNvSpPr/>
          <p:nvPr/>
        </p:nvSpPr>
        <p:spPr>
          <a:xfrm>
            <a:off x="7242048" y="1536192"/>
            <a:ext cx="4288536" cy="233172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242048" y="1536192"/>
            <a:ext cx="40640" cy="2331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0" y="1719072"/>
            <a:ext cx="377647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Read left to right</a:t>
            </a:r>
          </a:p>
        </p:txBody>
      </p:sp>
      <p:sp>
        <p:nvSpPr>
          <p:cNvPr id="13" name="Rounded Rectangle 12"/>
          <p:cNvSpPr/>
          <p:nvPr/>
        </p:nvSpPr>
        <p:spPr>
          <a:xfrm>
            <a:off x="7498080" y="2162556"/>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17536" y="2084832"/>
            <a:ext cx="355701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Left: the raw map, with substantial mass on the image border and outside the chest entirely.</a:t>
            </a:r>
          </a:p>
        </p:txBody>
      </p:sp>
      <p:sp>
        <p:nvSpPr>
          <p:cNvPr id="15" name="Rounded Rectangle 14"/>
          <p:cNvSpPr/>
          <p:nvPr/>
        </p:nvSpPr>
        <p:spPr>
          <a:xfrm>
            <a:off x="7498080" y="266242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17536" y="2584704"/>
            <a:ext cx="355701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Right: the same map restricted to the estimated lung field.</a:t>
            </a:r>
          </a:p>
        </p:txBody>
      </p:sp>
      <p:sp>
        <p:nvSpPr>
          <p:cNvPr id="17" name="Rounded Rectangle 16"/>
          <p:cNvSpPr/>
          <p:nvPr/>
        </p:nvSpPr>
        <p:spPr>
          <a:xfrm>
            <a:off x="7498080" y="316230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717536" y="3084576"/>
            <a:ext cx="355701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measurement is taken before masking, so the restriction cannot flatter the number.</a:t>
            </a:r>
          </a:p>
        </p:txBody>
      </p:sp>
      <p:sp>
        <p:nvSpPr>
          <p:cNvPr id="19" name="Rounded Rectangle 18"/>
          <p:cNvSpPr/>
          <p:nvPr/>
        </p:nvSpPr>
        <p:spPr>
          <a:xfrm>
            <a:off x="7242048" y="3968496"/>
            <a:ext cx="4288536" cy="1234440"/>
          </a:xfrm>
          <a:prstGeom prst="roundRect">
            <a:avLst>
              <a:gd name="adj" fmla="val 10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242048" y="3968496"/>
            <a:ext cx="40640" cy="12344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79792" y="4087368"/>
            <a:ext cx="3785616" cy="996696"/>
          </a:xfrm>
          <a:prstGeom prst="rect">
            <a:avLst/>
          </a:prstGeom>
          <a:noFill/>
        </p:spPr>
        <p:txBody>
          <a:bodyPr wrap="square" anchor="t" lIns="0" rIns="0" tIns="0" bIns="0">
            <a:spAutoFit/>
          </a:bodyPr>
          <a:lstStyle/>
          <a:p>
            <a:pPr algn="l">
              <a:lnSpc>
                <a:spcPct val="118000"/>
              </a:lnSpc>
              <a:spcAft>
                <a:spcPts val="300"/>
              </a:spcAft>
            </a:pPr>
            <a:r>
              <a:rPr sz="1250" b="1" i="0">
                <a:solidFill>
                  <a:srgbClr val="B45309"/>
                </a:solidFill>
                <a:latin typeface="Segoe UI"/>
              </a:rPr>
              <a:t>The reason the number is disclosed</a:t>
            </a:r>
          </a:p>
          <a:p>
            <a:pPr algn="l">
              <a:lnSpc>
                <a:spcPct val="118000"/>
              </a:lnSpc>
              <a:spcAft>
                <a:spcPts val="300"/>
              </a:spcAft>
            </a:pPr>
            <a:r>
              <a:rPr sz="1150" b="0" i="0">
                <a:solidFill>
                  <a:srgbClr val="B45309"/>
                </a:solidFill>
                <a:latin typeface="Segoe UI"/>
              </a:rPr>
              <a:t>A plausible looking heatmap is not evidence that lung tissue was used. Masking made the maps look more convincing without changing the classifier at all, which is exactly why the measurement was added alongside it.</a:t>
            </a:r>
          </a:p>
        </p:txBody>
      </p:sp>
      <p:sp>
        <p:nvSpPr>
          <p:cNvPr id="22" name="TextBox 21"/>
          <p:cNvSpPr txBox="1"/>
          <p:nvPr/>
        </p:nvSpPr>
        <p:spPr>
          <a:xfrm>
            <a:off x="1892808" y="5888736"/>
            <a:ext cx="4206240" cy="274320"/>
          </a:xfrm>
          <a:prstGeom prst="rect">
            <a:avLst/>
          </a:prstGeom>
          <a:noFill/>
        </p:spPr>
        <p:txBody>
          <a:bodyPr wrap="square" anchor="t" lIns="0" rIns="0" tIns="0" bIns="0">
            <a:spAutoFit/>
          </a:bodyPr>
          <a:lstStyle/>
          <a:p>
            <a:pPr algn="ctr">
              <a:lnSpc>
                <a:spcPct val="118000"/>
              </a:lnSpc>
              <a:spcAft>
                <a:spcPts val="600"/>
              </a:spcAft>
            </a:pPr>
            <a:r>
              <a:rPr sz="1050" b="0" i="0">
                <a:solidFill>
                  <a:srgbClr val="647C93"/>
                </a:solidFill>
                <a:latin typeface="Segoe UI"/>
              </a:rPr>
              <a:t>Verification runs retained in the inference service workspace.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1463040" cy="457200"/>
          </a:xfrm>
          <a:prstGeom prst="rect">
            <a:avLst/>
          </a:prstGeom>
          <a:noFill/>
        </p:spPr>
        <p:txBody>
          <a:bodyPr wrap="square" anchor="t" lIns="0" rIns="0" tIns="0" bIns="0">
            <a:spAutoFit/>
          </a:bodyPr>
          <a:lstStyle/>
          <a:p>
            <a:pPr algn="l">
              <a:lnSpc>
                <a:spcPct val="118000"/>
              </a:lnSpc>
              <a:spcAft>
                <a:spcPts val="600"/>
              </a:spcAft>
            </a:pPr>
            <a:r>
              <a:rPr sz="1300" b="1" i="0">
                <a:solidFill>
                  <a:srgbClr val="7FC3D8"/>
                </a:solidFill>
                <a:latin typeface="Segoe UI"/>
              </a:rPr>
              <a:t>03</a:t>
            </a:r>
          </a:p>
        </p:txBody>
      </p:sp>
      <p:sp>
        <p:nvSpPr>
          <p:cNvPr id="5" name="TextBox 4"/>
          <p:cNvSpPr txBox="1"/>
          <p:nvPr/>
        </p:nvSpPr>
        <p:spPr>
          <a:xfrm>
            <a:off x="1051560" y="2331720"/>
            <a:ext cx="8778240" cy="1005840"/>
          </a:xfrm>
          <a:prstGeom prst="rect">
            <a:avLst/>
          </a:prstGeom>
          <a:noFill/>
        </p:spPr>
        <p:txBody>
          <a:bodyPr wrap="square" anchor="t" lIns="0" rIns="0" tIns="0" bIns="0">
            <a:spAutoFit/>
          </a:bodyPr>
          <a:lstStyle/>
          <a:p>
            <a:pPr algn="l">
              <a:lnSpc>
                <a:spcPct val="102000"/>
              </a:lnSpc>
              <a:spcAft>
                <a:spcPts val="600"/>
              </a:spcAft>
            </a:pPr>
            <a:r>
              <a:rPr sz="4000" b="1" i="0">
                <a:solidFill>
                  <a:srgbClr val="FFFFFF"/>
                </a:solidFill>
                <a:latin typeface="Segoe UI"/>
              </a:rPr>
              <a:t>The delivered platform</a:t>
            </a:r>
          </a:p>
        </p:txBody>
      </p:sp>
      <p:sp>
        <p:nvSpPr>
          <p:cNvPr id="6" name="TextBox 5"/>
          <p:cNvSpPr txBox="1"/>
          <p:nvPr/>
        </p:nvSpPr>
        <p:spPr>
          <a:xfrm>
            <a:off x="1051560" y="3520440"/>
            <a:ext cx="7680960" cy="731520"/>
          </a:xfrm>
          <a:prstGeom prst="rect">
            <a:avLst/>
          </a:prstGeom>
          <a:noFill/>
        </p:spPr>
        <p:txBody>
          <a:bodyPr wrap="square" anchor="t" lIns="0" rIns="0" tIns="0" bIns="0">
            <a:spAutoFit/>
          </a:bodyPr>
          <a:lstStyle/>
          <a:p>
            <a:pPr algn="l">
              <a:lnSpc>
                <a:spcPct val="118000"/>
              </a:lnSpc>
              <a:spcAft>
                <a:spcPts val="600"/>
              </a:spcAft>
            </a:pPr>
            <a:r>
              <a:rPr sz="1500" b="0" i="0">
                <a:solidFill>
                  <a:srgbClr val="B8D2E2"/>
                </a:solidFill>
                <a:latin typeface="Segoe UI"/>
              </a:rPr>
              <a:t>Not a notebook. A three tier web application in which the safeguard reaches the end user and survives persistence, reopening and export.</a:t>
            </a:r>
          </a:p>
        </p:txBody>
      </p:sp>
      <p:sp>
        <p:nvSpPr>
          <p:cNvPr id="7" name="Rounded Rectangle 6"/>
          <p:cNvSpPr/>
          <p:nvPr/>
        </p:nvSpPr>
        <p:spPr>
          <a:xfrm>
            <a:off x="1051560" y="4306824"/>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8448" y="4224528"/>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Next.js client, PHP REST tier, FastAPI inference service</a:t>
            </a:r>
          </a:p>
        </p:txBody>
      </p:sp>
      <p:sp>
        <p:nvSpPr>
          <p:cNvPr id="9" name="Rounded Rectangle 8"/>
          <p:cNvSpPr/>
          <p:nvPr/>
        </p:nvSpPr>
        <p:spPr>
          <a:xfrm>
            <a:off x="1051560" y="4636008"/>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8448" y="4553712"/>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Four enforced roles and a trilingual PDF report</a:t>
            </a:r>
          </a:p>
        </p:txBody>
      </p:sp>
      <p:sp>
        <p:nvSpPr>
          <p:cNvPr id="11" name="Rounded Rectangle 10"/>
          <p:cNvSpPr/>
          <p:nvPr/>
        </p:nvSpPr>
        <p:spPr>
          <a:xfrm>
            <a:off x="1051560" y="4965192"/>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8448" y="4882896"/>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Every screen that follows is the running system</a:t>
            </a:r>
          </a:p>
        </p:txBody>
      </p:sp>
      <p:sp>
        <p:nvSpPr>
          <p:cNvPr id="13" name="TextBox 12"/>
          <p:cNvSpPr txBox="1"/>
          <p:nvPr/>
        </p:nvSpPr>
        <p:spPr>
          <a:xfrm>
            <a:off x="10728655" y="6144768"/>
            <a:ext cx="822960" cy="274320"/>
          </a:xfrm>
          <a:prstGeom prst="rect">
            <a:avLst/>
          </a:prstGeom>
          <a:noFill/>
        </p:spPr>
        <p:txBody>
          <a:bodyPr wrap="square" anchor="t" lIns="0" rIns="0" tIns="0" bIns="0">
            <a:spAutoFit/>
          </a:bodyPr>
          <a:lstStyle/>
          <a:p>
            <a:pPr algn="r">
              <a:lnSpc>
                <a:spcPct val="118000"/>
              </a:lnSpc>
              <a:spcAft>
                <a:spcPts val="600"/>
              </a:spcAft>
            </a:pPr>
            <a:r>
              <a:rPr sz="1100" b="0" i="0">
                <a:solidFill>
                  <a:srgbClr val="648AA6"/>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THE PLATFORM  ·  LANDING PAGE</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LungVision AI</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19</a:t>
            </a:r>
          </a:p>
        </p:txBody>
      </p:sp>
      <p:sp>
        <p:nvSpPr>
          <p:cNvPr id="8" name="Rounded Rectangle 7"/>
          <p:cNvSpPr/>
          <p:nvPr/>
        </p:nvSpPr>
        <p:spPr>
          <a:xfrm>
            <a:off x="813511" y="1467612"/>
            <a:ext cx="7279233" cy="4306824"/>
          </a:xfrm>
          <a:prstGeom prst="roundRect">
            <a:avLst>
              <a:gd name="adj" fmla="val 2000"/>
            </a:avLst>
          </a:prstGeom>
          <a:solidFill>
            <a:srgbClr val="FFFFFF"/>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ome_hero.png"/>
          <p:cNvPicPr>
            <a:picLocks noChangeAspect="1"/>
          </p:cNvPicPr>
          <p:nvPr/>
        </p:nvPicPr>
        <p:blipFill>
          <a:blip r:embed="rId2"/>
          <a:stretch>
            <a:fillRect/>
          </a:stretch>
        </p:blipFill>
        <p:spPr>
          <a:xfrm>
            <a:off x="863803" y="1517904"/>
            <a:ext cx="7178649" cy="4206240"/>
          </a:xfrm>
          <a:prstGeom prst="rect">
            <a:avLst/>
          </a:prstGeom>
          <a:effectLst/>
        </p:spPr>
      </p:pic>
      <p:sp>
        <p:nvSpPr>
          <p:cNvPr id="10" name="Rounded Rectangle 9"/>
          <p:cNvSpPr/>
          <p:nvPr/>
        </p:nvSpPr>
        <p:spPr>
          <a:xfrm>
            <a:off x="8476488" y="1517904"/>
            <a:ext cx="3054096" cy="420624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476488" y="1517904"/>
            <a:ext cx="40640" cy="420624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732520" y="1700784"/>
            <a:ext cx="254203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What the platform offers</a:t>
            </a:r>
          </a:p>
        </p:txBody>
      </p:sp>
      <p:sp>
        <p:nvSpPr>
          <p:cNvPr id="13" name="Rounded Rectangle 12"/>
          <p:cNvSpPr/>
          <p:nvPr/>
        </p:nvSpPr>
        <p:spPr>
          <a:xfrm>
            <a:off x="8732520" y="214426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51976" y="2066544"/>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Four lung conditions from one frontal radiograph.</a:t>
            </a:r>
          </a:p>
        </p:txBody>
      </p:sp>
      <p:sp>
        <p:nvSpPr>
          <p:cNvPr id="15" name="Rounded Rectangle 14"/>
          <p:cNvSpPr/>
          <p:nvPr/>
        </p:nvSpPr>
        <p:spPr>
          <a:xfrm>
            <a:off x="8732520" y="262712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951976" y="2549398"/>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Grad-CAM visual evidence behind every prediction.</a:t>
            </a:r>
          </a:p>
        </p:txBody>
      </p:sp>
      <p:sp>
        <p:nvSpPr>
          <p:cNvPr id="17" name="Rounded Rectangle 16"/>
          <p:cNvSpPr/>
          <p:nvPr/>
        </p:nvSpPr>
        <p:spPr>
          <a:xfrm>
            <a:off x="8732520" y="3109976"/>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951976" y="3032252"/>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Out of distribution checks before any result is shown.</a:t>
            </a:r>
          </a:p>
        </p:txBody>
      </p:sp>
      <p:sp>
        <p:nvSpPr>
          <p:cNvPr id="19" name="Rounded Rectangle 18"/>
          <p:cNvSpPr/>
          <p:nvPr/>
        </p:nvSpPr>
        <p:spPr>
          <a:xfrm>
            <a:off x="8732520" y="359283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951976" y="3515106"/>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Per class confidence scores, not one number.</a:t>
            </a:r>
          </a:p>
        </p:txBody>
      </p:sp>
      <p:sp>
        <p:nvSpPr>
          <p:cNvPr id="21" name="Rounded Rectangle 20"/>
          <p:cNvSpPr/>
          <p:nvPr/>
        </p:nvSpPr>
        <p:spPr>
          <a:xfrm>
            <a:off x="8732520" y="4075684"/>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951976" y="3997960"/>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Scan history, reports and role gated research provenance.</a:t>
            </a:r>
          </a:p>
        </p:txBody>
      </p:sp>
      <p:sp>
        <p:nvSpPr>
          <p:cNvPr id="23" name="TextBox 22"/>
          <p:cNvSpPr txBox="1"/>
          <p:nvPr/>
        </p:nvSpPr>
        <p:spPr>
          <a:xfrm>
            <a:off x="658368" y="5888736"/>
            <a:ext cx="7589520" cy="274320"/>
          </a:xfrm>
          <a:prstGeom prst="rect">
            <a:avLst/>
          </a:prstGeom>
          <a:noFill/>
        </p:spPr>
        <p:txBody>
          <a:bodyPr wrap="square" anchor="t" lIns="0" rIns="0" tIns="0" bIns="0">
            <a:spAutoFit/>
          </a:bodyPr>
          <a:lstStyle/>
          <a:p>
            <a:pPr algn="ctr">
              <a:lnSpc>
                <a:spcPct val="118000"/>
              </a:lnSpc>
              <a:spcAft>
                <a:spcPts val="600"/>
              </a:spcAft>
            </a:pPr>
            <a:r>
              <a:rPr sz="1050" b="0" i="0">
                <a:solidFill>
                  <a:srgbClr val="647C93"/>
                </a:solidFill>
                <a:latin typeface="Segoe UI"/>
              </a:rPr>
              <a:t>Public landing page at localhost:3000, captured from the running system.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THE PLATFORM  ·  STEP 1</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Upload and analyse</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20</a:t>
            </a:r>
          </a:p>
        </p:txBody>
      </p:sp>
      <p:sp>
        <p:nvSpPr>
          <p:cNvPr id="8" name="Rounded Rectangle 7"/>
          <p:cNvSpPr/>
          <p:nvPr/>
        </p:nvSpPr>
        <p:spPr>
          <a:xfrm>
            <a:off x="1346967" y="1467612"/>
            <a:ext cx="5206482" cy="4361688"/>
          </a:xfrm>
          <a:prstGeom prst="roundRect">
            <a:avLst>
              <a:gd name="adj" fmla="val 2000"/>
            </a:avLst>
          </a:prstGeom>
          <a:solidFill>
            <a:srgbClr val="FFFFFF"/>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upload_form.png"/>
          <p:cNvPicPr>
            <a:picLocks noChangeAspect="1"/>
          </p:cNvPicPr>
          <p:nvPr/>
        </p:nvPicPr>
        <p:blipFill>
          <a:blip r:embed="rId2"/>
          <a:stretch>
            <a:fillRect/>
          </a:stretch>
        </p:blipFill>
        <p:spPr>
          <a:xfrm>
            <a:off x="1397259" y="1517904"/>
            <a:ext cx="5105898" cy="4261104"/>
          </a:xfrm>
          <a:prstGeom prst="rect">
            <a:avLst/>
          </a:prstGeom>
          <a:effectLst/>
        </p:spPr>
      </p:pic>
      <p:sp>
        <p:nvSpPr>
          <p:cNvPr id="10" name="Rounded Rectangle 9"/>
          <p:cNvSpPr/>
          <p:nvPr/>
        </p:nvSpPr>
        <p:spPr>
          <a:xfrm>
            <a:off x="7470648" y="1517904"/>
            <a:ext cx="4059936" cy="214884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70648" y="1517904"/>
            <a:ext cx="40640" cy="214884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26680" y="1700784"/>
            <a:ext cx="354787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FR1  ·  what is accepted</a:t>
            </a:r>
          </a:p>
        </p:txBody>
      </p:sp>
      <p:sp>
        <p:nvSpPr>
          <p:cNvPr id="13" name="Rounded Rectangle 12"/>
          <p:cNvSpPr/>
          <p:nvPr/>
        </p:nvSpPr>
        <p:spPr>
          <a:xfrm>
            <a:off x="7726680" y="214426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46136" y="2066544"/>
            <a:ext cx="332841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A frontal chest radiograph in JPEG or PNG, from an authenticated user.</a:t>
            </a:r>
          </a:p>
        </p:txBody>
      </p:sp>
      <p:sp>
        <p:nvSpPr>
          <p:cNvPr id="15" name="Rounded Rectangle 14"/>
          <p:cNvSpPr/>
          <p:nvPr/>
        </p:nvSpPr>
        <p:spPr>
          <a:xfrm>
            <a:off x="7726680" y="264414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46136" y="2566416"/>
            <a:ext cx="332841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Optional patient notes, stored with the record.</a:t>
            </a:r>
          </a:p>
        </p:txBody>
      </p:sp>
      <p:sp>
        <p:nvSpPr>
          <p:cNvPr id="17" name="Rounded Rectangle 16"/>
          <p:cNvSpPr/>
          <p:nvPr/>
        </p:nvSpPr>
        <p:spPr>
          <a:xfrm>
            <a:off x="7726680" y="314401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46136" y="3066288"/>
            <a:ext cx="332841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Uploads are written outside the executable web path.</a:t>
            </a:r>
          </a:p>
        </p:txBody>
      </p:sp>
      <p:sp>
        <p:nvSpPr>
          <p:cNvPr id="19" name="Rounded Rectangle 18"/>
          <p:cNvSpPr/>
          <p:nvPr/>
        </p:nvSpPr>
        <p:spPr>
          <a:xfrm>
            <a:off x="7470648" y="3785616"/>
            <a:ext cx="4059936" cy="1005840"/>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470648" y="3785616"/>
            <a:ext cx="40640" cy="1005840"/>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08392" y="3904488"/>
            <a:ext cx="3557016" cy="768096"/>
          </a:xfrm>
          <a:prstGeom prst="rect">
            <a:avLst/>
          </a:prstGeom>
          <a:noFill/>
        </p:spPr>
        <p:txBody>
          <a:bodyPr wrap="square" anchor="t" lIns="0" rIns="0" tIns="0" bIns="0">
            <a:spAutoFit/>
          </a:bodyPr>
          <a:lstStyle/>
          <a:p>
            <a:pPr algn="l">
              <a:lnSpc>
                <a:spcPct val="118000"/>
              </a:lnSpc>
              <a:spcAft>
                <a:spcPts val="300"/>
              </a:spcAft>
            </a:pPr>
            <a:r>
              <a:rPr sz="1150" b="0" i="0">
                <a:solidFill>
                  <a:srgbClr val="0E5A72"/>
                </a:solidFill>
                <a:latin typeface="Segoe UI"/>
              </a:rPr>
              <a:t>Nothing about the upload path tells the system what kind of image it has been given. That is the whole reason the validity assessment has to run on the way out, not on the way in.</a:t>
            </a:r>
          </a:p>
        </p:txBody>
      </p:sp>
      <p:sp>
        <p:nvSpPr>
          <p:cNvPr id="22" name="Rounded Rectangle 21"/>
          <p:cNvSpPr/>
          <p:nvPr/>
        </p:nvSpPr>
        <p:spPr>
          <a:xfrm>
            <a:off x="7470648" y="4919472"/>
            <a:ext cx="4059936" cy="1097280"/>
          </a:xfrm>
          <a:prstGeom prst="roundRect">
            <a:avLst>
              <a:gd name="adj" fmla="val 10000"/>
            </a:avLst>
          </a:prstGeom>
          <a:solidFill>
            <a:srgbClr val="E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470648" y="4919472"/>
            <a:ext cx="40640" cy="1097280"/>
          </a:xfrm>
          <a:prstGeom prst="rect">
            <a:avLst/>
          </a:prstGeom>
          <a:solidFill>
            <a:srgbClr val="1B6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08392" y="5038344"/>
            <a:ext cx="3557016" cy="859536"/>
          </a:xfrm>
          <a:prstGeom prst="rect">
            <a:avLst/>
          </a:prstGeom>
          <a:noFill/>
        </p:spPr>
        <p:txBody>
          <a:bodyPr wrap="square" anchor="t" lIns="0" rIns="0" tIns="0" bIns="0">
            <a:spAutoFit/>
          </a:bodyPr>
          <a:lstStyle/>
          <a:p>
            <a:pPr algn="l">
              <a:lnSpc>
                <a:spcPct val="118000"/>
              </a:lnSpc>
              <a:spcAft>
                <a:spcPts val="300"/>
              </a:spcAft>
            </a:pPr>
            <a:r>
              <a:rPr sz="1250" b="1" i="0">
                <a:solidFill>
                  <a:srgbClr val="1B6E52"/>
                </a:solidFill>
                <a:latin typeface="Segoe UI"/>
              </a:rPr>
              <a:t>Measured latency</a:t>
            </a:r>
          </a:p>
          <a:p>
            <a:pPr algn="l">
              <a:lnSpc>
                <a:spcPct val="118000"/>
              </a:lnSpc>
              <a:spcAft>
                <a:spcPts val="300"/>
              </a:spcAft>
            </a:pPr>
            <a:r>
              <a:rPr sz="1150" b="0" i="0">
                <a:solidFill>
                  <a:srgbClr val="1B6E52"/>
                </a:solidFill>
                <a:latin typeface="Segoe UI"/>
              </a:rPr>
              <a:t>Median end to end response 3.18 s, maximum 3.33 s, on a development machine with no accelerator. NFR5 asks for under 5 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THE PLATFORM  ·  STEP 2  ·  ACCEPTED SCAN</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Detection result with Grad-CAM evidence</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21</a:t>
            </a:r>
          </a:p>
        </p:txBody>
      </p:sp>
      <p:sp>
        <p:nvSpPr>
          <p:cNvPr id="8" name="Rounded Rectangle 7"/>
          <p:cNvSpPr/>
          <p:nvPr/>
        </p:nvSpPr>
        <p:spPr>
          <a:xfrm>
            <a:off x="608076" y="1562065"/>
            <a:ext cx="7690104" cy="3843597"/>
          </a:xfrm>
          <a:prstGeom prst="roundRect">
            <a:avLst>
              <a:gd name="adj" fmla="val 2000"/>
            </a:avLst>
          </a:prstGeom>
          <a:solidFill>
            <a:srgbClr val="FFFFFF"/>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esult_gradcam.png"/>
          <p:cNvPicPr>
            <a:picLocks noChangeAspect="1"/>
          </p:cNvPicPr>
          <p:nvPr/>
        </p:nvPicPr>
        <p:blipFill>
          <a:blip r:embed="rId2"/>
          <a:stretch>
            <a:fillRect/>
          </a:stretch>
        </p:blipFill>
        <p:spPr>
          <a:xfrm>
            <a:off x="658368" y="1612357"/>
            <a:ext cx="7589520" cy="3743013"/>
          </a:xfrm>
          <a:prstGeom prst="rect">
            <a:avLst/>
          </a:prstGeom>
          <a:effectLst/>
        </p:spPr>
      </p:pic>
      <p:sp>
        <p:nvSpPr>
          <p:cNvPr id="10" name="Rounded Rectangle 9"/>
          <p:cNvSpPr/>
          <p:nvPr/>
        </p:nvSpPr>
        <p:spPr>
          <a:xfrm>
            <a:off x="8476488" y="1609344"/>
            <a:ext cx="3054096" cy="3749039"/>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476488" y="1609344"/>
            <a:ext cx="40640" cy="3749039"/>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732520" y="1792224"/>
            <a:ext cx="254203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What the user is shown</a:t>
            </a:r>
          </a:p>
        </p:txBody>
      </p:sp>
      <p:sp>
        <p:nvSpPr>
          <p:cNvPr id="13" name="Rounded Rectangle 12"/>
          <p:cNvSpPr/>
          <p:nvPr/>
        </p:nvSpPr>
        <p:spPr>
          <a:xfrm>
            <a:off x="8732520" y="223570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51976" y="2157984"/>
            <a:ext cx="2322576" cy="587121"/>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original radiograph beside the lung restricted Grad-CAM overlay.</a:t>
            </a:r>
          </a:p>
        </p:txBody>
      </p:sp>
      <p:sp>
        <p:nvSpPr>
          <p:cNvPr id="15" name="Rounded Rectangle 14"/>
          <p:cNvSpPr/>
          <p:nvPr/>
        </p:nvSpPr>
        <p:spPr>
          <a:xfrm>
            <a:off x="8732520" y="2914269"/>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951976" y="2836545"/>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predicted class with a confidence capped below certainty.</a:t>
            </a:r>
          </a:p>
        </p:txBody>
      </p:sp>
      <p:sp>
        <p:nvSpPr>
          <p:cNvPr id="17" name="Rounded Rectangle 16"/>
          <p:cNvSpPr/>
          <p:nvPr/>
        </p:nvSpPr>
        <p:spPr>
          <a:xfrm>
            <a:off x="8732520" y="3397123"/>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951976" y="3319399"/>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A decision support statement on every result.</a:t>
            </a:r>
          </a:p>
        </p:txBody>
      </p:sp>
      <p:sp>
        <p:nvSpPr>
          <p:cNvPr id="19" name="Rounded Rectangle 18"/>
          <p:cNvSpPr/>
          <p:nvPr/>
        </p:nvSpPr>
        <p:spPr>
          <a:xfrm>
            <a:off x="8732520" y="3879977"/>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951976" y="3802253"/>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All four class probabilities, retained rather than discarded.</a:t>
            </a:r>
          </a:p>
        </p:txBody>
      </p:sp>
      <p:sp>
        <p:nvSpPr>
          <p:cNvPr id="21" name="Rounded Rectangle 20"/>
          <p:cNvSpPr/>
          <p:nvPr/>
        </p:nvSpPr>
        <p:spPr>
          <a:xfrm>
            <a:off x="658368" y="5577840"/>
            <a:ext cx="10874959" cy="603504"/>
          </a:xfrm>
          <a:prstGeom prst="roundRect">
            <a:avLst>
              <a:gd name="adj" fmla="val 10000"/>
            </a:avLst>
          </a:prstGeom>
          <a:solidFill>
            <a:srgbClr val="E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58368" y="5577840"/>
            <a:ext cx="40640" cy="603504"/>
          </a:xfrm>
          <a:prstGeom prst="rect">
            <a:avLst/>
          </a:prstGeom>
          <a:solidFill>
            <a:srgbClr val="1B6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6112" y="5696712"/>
            <a:ext cx="10372039" cy="365760"/>
          </a:xfrm>
          <a:prstGeom prst="rect">
            <a:avLst/>
          </a:prstGeom>
          <a:noFill/>
        </p:spPr>
        <p:txBody>
          <a:bodyPr wrap="square" anchor="t" lIns="0" rIns="0" tIns="0" bIns="0">
            <a:spAutoFit/>
          </a:bodyPr>
          <a:lstStyle/>
          <a:p>
            <a:pPr algn="l">
              <a:lnSpc>
                <a:spcPct val="118000"/>
              </a:lnSpc>
              <a:spcAft>
                <a:spcPts val="300"/>
              </a:spcAft>
            </a:pPr>
            <a:r>
              <a:rPr sz="1150" b="0" i="0">
                <a:solidFill>
                  <a:srgbClr val="1B6E52"/>
                </a:solidFill>
                <a:latin typeface="Segoe UI"/>
              </a:rPr>
              <a:t>The validity assessment has already run at this point. A result is only ever rendered for an input the detector accepted, and the in lung share for this scan is computed and returned with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THE PLATFORM  ·  THE SAFEGUARD FIRING</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100" b="1" i="0">
                <a:solidFill>
                  <a:srgbClr val="0B2B4A"/>
                </a:solidFill>
                <a:latin typeface="Segoe UI"/>
              </a:rPr>
              <a:t>When the input is not something the model can assess, it says so</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22</a:t>
            </a:r>
          </a:p>
        </p:txBody>
      </p:sp>
      <p:sp>
        <p:nvSpPr>
          <p:cNvPr id="8" name="Rounded Rectangle 7"/>
          <p:cNvSpPr/>
          <p:nvPr/>
        </p:nvSpPr>
        <p:spPr>
          <a:xfrm>
            <a:off x="1439761" y="1467612"/>
            <a:ext cx="5340933" cy="4261104"/>
          </a:xfrm>
          <a:prstGeom prst="roundRect">
            <a:avLst>
              <a:gd name="adj" fmla="val 2000"/>
            </a:avLst>
          </a:prstGeom>
          <a:solidFill>
            <a:srgbClr val="FFFFFF"/>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ig_withheld.png"/>
          <p:cNvPicPr>
            <a:picLocks noChangeAspect="1"/>
          </p:cNvPicPr>
          <p:nvPr/>
        </p:nvPicPr>
        <p:blipFill>
          <a:blip r:embed="rId2"/>
          <a:stretch>
            <a:fillRect/>
          </a:stretch>
        </p:blipFill>
        <p:spPr>
          <a:xfrm>
            <a:off x="1490053" y="1517904"/>
            <a:ext cx="5240349" cy="4160520"/>
          </a:xfrm>
          <a:prstGeom prst="rect">
            <a:avLst/>
          </a:prstGeom>
          <a:effectLst/>
        </p:spPr>
      </p:pic>
      <p:sp>
        <p:nvSpPr>
          <p:cNvPr id="10" name="Rounded Rectangle 9"/>
          <p:cNvSpPr/>
          <p:nvPr/>
        </p:nvSpPr>
        <p:spPr>
          <a:xfrm>
            <a:off x="7790688" y="1517904"/>
            <a:ext cx="3739896" cy="233172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790688" y="1517904"/>
            <a:ext cx="40640" cy="2331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20" y="1700784"/>
            <a:ext cx="322783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FR4  ·  withholding</a:t>
            </a:r>
          </a:p>
        </p:txBody>
      </p:sp>
      <p:sp>
        <p:nvSpPr>
          <p:cNvPr id="13" name="Rounded Rectangle 12"/>
          <p:cNvSpPr/>
          <p:nvPr/>
        </p:nvSpPr>
        <p:spPr>
          <a:xfrm>
            <a:off x="8046720" y="214426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66176" y="2066544"/>
            <a:ext cx="300837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No predicted class, no confidence value, no probability bars.</a:t>
            </a:r>
          </a:p>
        </p:txBody>
      </p:sp>
      <p:sp>
        <p:nvSpPr>
          <p:cNvPr id="15" name="Rounded Rectangle 14"/>
          <p:cNvSpPr/>
          <p:nvPr/>
        </p:nvSpPr>
        <p:spPr>
          <a:xfrm>
            <a:off x="8046720" y="264414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66176" y="2566416"/>
            <a:ext cx="300837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banner names the feature space signal that fired.</a:t>
            </a:r>
          </a:p>
        </p:txBody>
      </p:sp>
      <p:sp>
        <p:nvSpPr>
          <p:cNvPr id="17" name="Rounded Rectangle 16"/>
          <p:cNvSpPr/>
          <p:nvPr/>
        </p:nvSpPr>
        <p:spPr>
          <a:xfrm>
            <a:off x="8046720" y="314401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66176" y="3066288"/>
            <a:ext cx="300837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uploaded image is retained beside the notice.</a:t>
            </a:r>
          </a:p>
        </p:txBody>
      </p:sp>
      <p:sp>
        <p:nvSpPr>
          <p:cNvPr id="19" name="Rounded Rectangle 18"/>
          <p:cNvSpPr/>
          <p:nvPr/>
        </p:nvSpPr>
        <p:spPr>
          <a:xfrm>
            <a:off x="7790688" y="4041648"/>
            <a:ext cx="3739896" cy="1143000"/>
          </a:xfrm>
          <a:prstGeom prst="roundRect">
            <a:avLst>
              <a:gd name="adj" fmla="val 10000"/>
            </a:avLst>
          </a:prstGeom>
          <a:solidFill>
            <a:srgbClr val="E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790688" y="4041648"/>
            <a:ext cx="40640" cy="1143000"/>
          </a:xfrm>
          <a:prstGeom prst="rect">
            <a:avLst/>
          </a:prstGeom>
          <a:solidFill>
            <a:srgbClr val="1B6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28432" y="4160520"/>
            <a:ext cx="3236976" cy="905256"/>
          </a:xfrm>
          <a:prstGeom prst="rect">
            <a:avLst/>
          </a:prstGeom>
          <a:noFill/>
        </p:spPr>
        <p:txBody>
          <a:bodyPr wrap="square" anchor="t" lIns="0" rIns="0" tIns="0" bIns="0">
            <a:spAutoFit/>
          </a:bodyPr>
          <a:lstStyle/>
          <a:p>
            <a:pPr algn="l">
              <a:lnSpc>
                <a:spcPct val="118000"/>
              </a:lnSpc>
              <a:spcAft>
                <a:spcPts val="300"/>
              </a:spcAft>
            </a:pPr>
            <a:r>
              <a:rPr sz="1250" b="1" i="0">
                <a:solidFill>
                  <a:srgbClr val="1B6E52"/>
                </a:solidFill>
                <a:latin typeface="Segoe UI"/>
              </a:rPr>
              <a:t>It survives the round trip</a:t>
            </a:r>
          </a:p>
          <a:p>
            <a:pPr algn="l">
              <a:lnSpc>
                <a:spcPct val="118000"/>
              </a:lnSpc>
              <a:spcAft>
                <a:spcPts val="300"/>
              </a:spcAft>
            </a:pPr>
            <a:r>
              <a:rPr sz="1150" b="0" i="0">
                <a:solidFill>
                  <a:srgbClr val="1B6E52"/>
                </a:solidFill>
                <a:latin typeface="Segoe UI"/>
              </a:rPr>
              <a:t>Reopening the case from history still shows no diagnosis, and exporting it reproduces the notice in all three languages. The verdict is a property of the record.</a:t>
            </a:r>
          </a:p>
        </p:txBody>
      </p:sp>
      <p:sp>
        <p:nvSpPr>
          <p:cNvPr id="22" name="Rounded Rectangle 21"/>
          <p:cNvSpPr/>
          <p:nvPr/>
        </p:nvSpPr>
        <p:spPr>
          <a:xfrm>
            <a:off x="7790688" y="5340096"/>
            <a:ext cx="3739896" cy="566928"/>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90688" y="5340096"/>
            <a:ext cx="40640" cy="566928"/>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28432" y="5458968"/>
            <a:ext cx="3236976" cy="329184"/>
          </a:xfrm>
          <a:prstGeom prst="rect">
            <a:avLst/>
          </a:prstGeom>
          <a:noFill/>
        </p:spPr>
        <p:txBody>
          <a:bodyPr wrap="square" anchor="t" lIns="0" rIns="0" tIns="0" bIns="0">
            <a:spAutoFit/>
          </a:bodyPr>
          <a:lstStyle/>
          <a:p>
            <a:pPr algn="l">
              <a:lnSpc>
                <a:spcPct val="118000"/>
              </a:lnSpc>
              <a:spcAft>
                <a:spcPts val="300"/>
              </a:spcAft>
            </a:pPr>
            <a:r>
              <a:rPr sz="1150" b="0" i="0">
                <a:solidFill>
                  <a:srgbClr val="0E5A72"/>
                </a:solidFill>
                <a:latin typeface="Segoe UI"/>
              </a:rPr>
              <a:t>Submitted through the ordinary upload path as any user would.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THE PLATFORM  ·  HISTORY</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400" b="1" i="0">
                <a:solidFill>
                  <a:srgbClr val="0B2B4A"/>
                </a:solidFill>
                <a:latin typeface="Segoe UI"/>
              </a:rPr>
              <a:t>The scan record: what is persisted, and what can be reopened</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23</a:t>
            </a:r>
          </a:p>
        </p:txBody>
      </p:sp>
      <p:sp>
        <p:nvSpPr>
          <p:cNvPr id="8" name="Rounded Rectangle 7"/>
          <p:cNvSpPr/>
          <p:nvPr/>
        </p:nvSpPr>
        <p:spPr>
          <a:xfrm>
            <a:off x="608076" y="1596735"/>
            <a:ext cx="7690104" cy="3865697"/>
          </a:xfrm>
          <a:prstGeom prst="roundRect">
            <a:avLst>
              <a:gd name="adj" fmla="val 2000"/>
            </a:avLst>
          </a:prstGeom>
          <a:solidFill>
            <a:srgbClr val="FFFFFF"/>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istory_detail.png"/>
          <p:cNvPicPr>
            <a:picLocks noChangeAspect="1"/>
          </p:cNvPicPr>
          <p:nvPr/>
        </p:nvPicPr>
        <p:blipFill>
          <a:blip r:embed="rId2"/>
          <a:stretch>
            <a:fillRect/>
          </a:stretch>
        </p:blipFill>
        <p:spPr>
          <a:xfrm>
            <a:off x="658368" y="1647027"/>
            <a:ext cx="7589520" cy="3765113"/>
          </a:xfrm>
          <a:prstGeom prst="rect">
            <a:avLst/>
          </a:prstGeom>
          <a:effectLst/>
        </p:spPr>
      </p:pic>
      <p:sp>
        <p:nvSpPr>
          <p:cNvPr id="10" name="Rounded Rectangle 9"/>
          <p:cNvSpPr/>
          <p:nvPr/>
        </p:nvSpPr>
        <p:spPr>
          <a:xfrm>
            <a:off x="8476488" y="1517904"/>
            <a:ext cx="3054096" cy="402336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476488" y="1517904"/>
            <a:ext cx="40640" cy="402336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732520" y="1700784"/>
            <a:ext cx="254203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Persisted per analysis</a:t>
            </a:r>
          </a:p>
        </p:txBody>
      </p:sp>
      <p:sp>
        <p:nvSpPr>
          <p:cNvPr id="13" name="Rounded Rectangle 12"/>
          <p:cNvSpPr/>
          <p:nvPr/>
        </p:nvSpPr>
        <p:spPr>
          <a:xfrm>
            <a:off x="8732520" y="214426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51976" y="2066544"/>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Original image and Grad-CAM overlay paths.</a:t>
            </a:r>
          </a:p>
        </p:txBody>
      </p:sp>
      <p:sp>
        <p:nvSpPr>
          <p:cNvPr id="15" name="Rounded Rectangle 14"/>
          <p:cNvSpPr/>
          <p:nvPr/>
        </p:nvSpPr>
        <p:spPr>
          <a:xfrm>
            <a:off x="8732520" y="262712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951976" y="2549398"/>
            <a:ext cx="2322576" cy="195707"/>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Predicted class and confidence.</a:t>
            </a:r>
          </a:p>
        </p:txBody>
      </p:sp>
      <p:sp>
        <p:nvSpPr>
          <p:cNvPr id="17" name="Rounded Rectangle 16"/>
          <p:cNvSpPr/>
          <p:nvPr/>
        </p:nvSpPr>
        <p:spPr>
          <a:xfrm>
            <a:off x="8732520" y="2914269"/>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951976" y="2836545"/>
            <a:ext cx="2322576" cy="195707"/>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All four class probabilities.</a:t>
            </a:r>
          </a:p>
        </p:txBody>
      </p:sp>
      <p:sp>
        <p:nvSpPr>
          <p:cNvPr id="19" name="Rounded Rectangle 18"/>
          <p:cNvSpPr/>
          <p:nvPr/>
        </p:nvSpPr>
        <p:spPr>
          <a:xfrm>
            <a:off x="8732520" y="3201416"/>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951976" y="3123692"/>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Model identifier, so a result is attributable.</a:t>
            </a:r>
          </a:p>
        </p:txBody>
      </p:sp>
      <p:sp>
        <p:nvSpPr>
          <p:cNvPr id="21" name="Rounded Rectangle 20"/>
          <p:cNvSpPr/>
          <p:nvPr/>
        </p:nvSpPr>
        <p:spPr>
          <a:xfrm>
            <a:off x="8732520" y="368427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951976" y="3606546"/>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Validity verdict, score and reason.</a:t>
            </a:r>
          </a:p>
        </p:txBody>
      </p:sp>
      <p:sp>
        <p:nvSpPr>
          <p:cNvPr id="23" name="Rounded Rectangle 22"/>
          <p:cNvSpPr/>
          <p:nvPr/>
        </p:nvSpPr>
        <p:spPr>
          <a:xfrm>
            <a:off x="8732520" y="4167124"/>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51976" y="4089400"/>
            <a:ext cx="2322576" cy="195707"/>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Report export in three languages.</a:t>
            </a:r>
          </a:p>
        </p:txBody>
      </p:sp>
      <p:sp>
        <p:nvSpPr>
          <p:cNvPr id="25" name="Rounded Rectangle 24"/>
          <p:cNvSpPr/>
          <p:nvPr/>
        </p:nvSpPr>
        <p:spPr>
          <a:xfrm>
            <a:off x="658368" y="5705856"/>
            <a:ext cx="10874959" cy="548640"/>
          </a:xfrm>
          <a:prstGeom prst="roundRect">
            <a:avLst>
              <a:gd name="adj" fmla="val 10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58368" y="5705856"/>
            <a:ext cx="40640" cy="5486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6112" y="5824728"/>
            <a:ext cx="10372039" cy="310896"/>
          </a:xfrm>
          <a:prstGeom prst="rect">
            <a:avLst/>
          </a:prstGeom>
          <a:noFill/>
        </p:spPr>
        <p:txBody>
          <a:bodyPr wrap="square" anchor="t" lIns="0" rIns="0" tIns="0" bIns="0">
            <a:spAutoFit/>
          </a:bodyPr>
          <a:lstStyle/>
          <a:p>
            <a:pPr algn="l">
              <a:lnSpc>
                <a:spcPct val="118000"/>
              </a:lnSpc>
              <a:spcAft>
                <a:spcPts val="300"/>
              </a:spcAft>
            </a:pPr>
            <a:r>
              <a:rPr sz="1150" b="0" i="0">
                <a:solidFill>
                  <a:srgbClr val="B45309"/>
                </a:solidFill>
                <a:latin typeface="Segoe UI"/>
              </a:rPr>
              <a:t>A verdict living only in the response would be lost on reload, and the record would revert to showing a diagnosis the system had declined to make.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THE PLATFORM  ·  RESEARCH ROLE</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Provenance that cannot drift from the deployed model</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24</a:t>
            </a:r>
          </a:p>
        </p:txBody>
      </p:sp>
      <p:sp>
        <p:nvSpPr>
          <p:cNvPr id="8" name="Rounded Rectangle 7"/>
          <p:cNvSpPr/>
          <p:nvPr/>
        </p:nvSpPr>
        <p:spPr>
          <a:xfrm>
            <a:off x="608076" y="1480158"/>
            <a:ext cx="7461504" cy="2041451"/>
          </a:xfrm>
          <a:prstGeom prst="roundRect">
            <a:avLst>
              <a:gd name="adj" fmla="val 2000"/>
            </a:avLst>
          </a:prstGeom>
          <a:solidFill>
            <a:srgbClr val="FFFFFF"/>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esearch_models.png"/>
          <p:cNvPicPr>
            <a:picLocks noChangeAspect="1"/>
          </p:cNvPicPr>
          <p:nvPr/>
        </p:nvPicPr>
        <p:blipFill>
          <a:blip r:embed="rId2"/>
          <a:stretch>
            <a:fillRect/>
          </a:stretch>
        </p:blipFill>
        <p:spPr>
          <a:xfrm>
            <a:off x="658368" y="1530450"/>
            <a:ext cx="7360920" cy="1940867"/>
          </a:xfrm>
          <a:prstGeom prst="rect">
            <a:avLst/>
          </a:prstGeom>
          <a:effectLst/>
        </p:spPr>
      </p:pic>
      <p:sp>
        <p:nvSpPr>
          <p:cNvPr id="10" name="Rounded Rectangle 9"/>
          <p:cNvSpPr/>
          <p:nvPr/>
        </p:nvSpPr>
        <p:spPr>
          <a:xfrm>
            <a:off x="608076" y="3659841"/>
            <a:ext cx="7461504" cy="1495133"/>
          </a:xfrm>
          <a:prstGeom prst="roundRect">
            <a:avLst>
              <a:gd name="adj" fmla="val 2000"/>
            </a:avLst>
          </a:prstGeom>
          <a:solidFill>
            <a:srgbClr val="FFFFFF"/>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research_ood.png"/>
          <p:cNvPicPr>
            <a:picLocks noChangeAspect="1"/>
          </p:cNvPicPr>
          <p:nvPr/>
        </p:nvPicPr>
        <p:blipFill>
          <a:blip r:embed="rId3"/>
          <a:stretch>
            <a:fillRect/>
          </a:stretch>
        </p:blipFill>
        <p:spPr>
          <a:xfrm>
            <a:off x="658368" y="3710133"/>
            <a:ext cx="7360920" cy="1394549"/>
          </a:xfrm>
          <a:prstGeom prst="rect">
            <a:avLst/>
          </a:prstGeom>
          <a:effectLst/>
        </p:spPr>
      </p:pic>
      <p:sp>
        <p:nvSpPr>
          <p:cNvPr id="12" name="Rounded Rectangle 11"/>
          <p:cNvSpPr/>
          <p:nvPr/>
        </p:nvSpPr>
        <p:spPr>
          <a:xfrm>
            <a:off x="8247888" y="1517904"/>
            <a:ext cx="3282696" cy="361188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8247888" y="1517904"/>
            <a:ext cx="40640" cy="361188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503920" y="1700784"/>
            <a:ext cx="277063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Read live, not written by hand</a:t>
            </a:r>
          </a:p>
        </p:txBody>
      </p:sp>
      <p:sp>
        <p:nvSpPr>
          <p:cNvPr id="15" name="Rounded Rectangle 14"/>
          <p:cNvSpPr/>
          <p:nvPr/>
        </p:nvSpPr>
        <p:spPr>
          <a:xfrm>
            <a:off x="8503920" y="214426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23376" y="2066544"/>
            <a:ext cx="25511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Dataset composition comes from the realised split file.</a:t>
            </a:r>
          </a:p>
        </p:txBody>
      </p:sp>
      <p:sp>
        <p:nvSpPr>
          <p:cNvPr id="17" name="Rounded Rectangle 16"/>
          <p:cNvSpPr/>
          <p:nvPr/>
        </p:nvSpPr>
        <p:spPr>
          <a:xfrm>
            <a:off x="8503920" y="262712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723376" y="2549398"/>
            <a:ext cx="25511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Model configuration comes from the running inference service.</a:t>
            </a:r>
          </a:p>
        </p:txBody>
      </p:sp>
      <p:sp>
        <p:nvSpPr>
          <p:cNvPr id="19" name="Rounded Rectangle 18"/>
          <p:cNvSpPr/>
          <p:nvPr/>
        </p:nvSpPr>
        <p:spPr>
          <a:xfrm>
            <a:off x="8503920" y="3109976"/>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723376" y="3032252"/>
            <a:ext cx="25511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Training curves and confusion matrices come from the retained artefacts.</a:t>
            </a:r>
          </a:p>
        </p:txBody>
      </p:sp>
      <p:sp>
        <p:nvSpPr>
          <p:cNvPr id="21" name="Rounded Rectangle 20"/>
          <p:cNvSpPr/>
          <p:nvPr/>
        </p:nvSpPr>
        <p:spPr>
          <a:xfrm>
            <a:off x="8503920" y="359283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723376" y="3515106"/>
            <a:ext cx="25511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calibration card shows the live thresholds and policy.</a:t>
            </a:r>
          </a:p>
        </p:txBody>
      </p:sp>
      <p:sp>
        <p:nvSpPr>
          <p:cNvPr id="23" name="Rounded Rectangle 22"/>
          <p:cNvSpPr/>
          <p:nvPr/>
        </p:nvSpPr>
        <p:spPr>
          <a:xfrm>
            <a:off x="8247888" y="5276088"/>
            <a:ext cx="3611880" cy="822960"/>
          </a:xfrm>
          <a:prstGeom prst="roundRect">
            <a:avLst>
              <a:gd name="adj" fmla="val 10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247888" y="5276088"/>
            <a:ext cx="40640" cy="8229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85632" y="5394960"/>
            <a:ext cx="3108960" cy="585216"/>
          </a:xfrm>
          <a:prstGeom prst="rect">
            <a:avLst/>
          </a:prstGeom>
          <a:noFill/>
        </p:spPr>
        <p:txBody>
          <a:bodyPr wrap="square" anchor="t" lIns="0" rIns="0" tIns="0" bIns="0">
            <a:spAutoFit/>
          </a:bodyPr>
          <a:lstStyle/>
          <a:p>
            <a:pPr algn="l">
              <a:lnSpc>
                <a:spcPct val="118000"/>
              </a:lnSpc>
              <a:spcAft>
                <a:spcPts val="300"/>
              </a:spcAft>
            </a:pPr>
            <a:r>
              <a:rPr sz="1150" b="0" i="0">
                <a:solidFill>
                  <a:srgbClr val="B45309"/>
                </a:solidFill>
                <a:latin typeface="Segoe UI"/>
              </a:rPr>
              <a:t>The page carries its own caveat about the synthetic probe, in the product, not only in the thesis.</a:t>
            </a:r>
          </a:p>
        </p:txBody>
      </p:sp>
      <p:sp>
        <p:nvSpPr>
          <p:cNvPr id="26" name="TextBox 25"/>
          <p:cNvSpPr txBox="1"/>
          <p:nvPr/>
        </p:nvSpPr>
        <p:spPr>
          <a:xfrm>
            <a:off x="658368" y="5276088"/>
            <a:ext cx="7360920" cy="274320"/>
          </a:xfrm>
          <a:prstGeom prst="rect">
            <a:avLst/>
          </a:prstGeom>
          <a:noFill/>
        </p:spPr>
        <p:txBody>
          <a:bodyPr wrap="square" anchor="t" lIns="0" rIns="0" tIns="0" bIns="0">
            <a:spAutoFit/>
          </a:bodyPr>
          <a:lstStyle/>
          <a:p>
            <a:pPr algn="ctr">
              <a:lnSpc>
                <a:spcPct val="118000"/>
              </a:lnSpc>
              <a:spcAft>
                <a:spcPts val="600"/>
              </a:spcAft>
            </a:pPr>
            <a:r>
              <a:rPr sz="1050" b="0" i="0">
                <a:solidFill>
                  <a:srgbClr val="647C93"/>
                </a:solidFill>
                <a:latin typeface="Segoe UI"/>
              </a:rPr>
              <a:t>Model comparison and out of distribution calibration, as the research role sees them.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THE PLATFORM  ·  ADMINISTRATOR ROLE</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Oversight without clinical interpretation</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25</a:t>
            </a:r>
          </a:p>
        </p:txBody>
      </p:sp>
      <p:sp>
        <p:nvSpPr>
          <p:cNvPr id="8" name="Rounded Rectangle 7"/>
          <p:cNvSpPr/>
          <p:nvPr/>
        </p:nvSpPr>
        <p:spPr>
          <a:xfrm>
            <a:off x="608076" y="1665226"/>
            <a:ext cx="7690104" cy="3317236"/>
          </a:xfrm>
          <a:prstGeom prst="roundRect">
            <a:avLst>
              <a:gd name="adj" fmla="val 2000"/>
            </a:avLst>
          </a:prstGeom>
          <a:solidFill>
            <a:srgbClr val="FFFFFF"/>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admin_console.png"/>
          <p:cNvPicPr>
            <a:picLocks noChangeAspect="1"/>
          </p:cNvPicPr>
          <p:nvPr/>
        </p:nvPicPr>
        <p:blipFill>
          <a:blip r:embed="rId2"/>
          <a:stretch>
            <a:fillRect/>
          </a:stretch>
        </p:blipFill>
        <p:spPr>
          <a:xfrm>
            <a:off x="658368" y="1715518"/>
            <a:ext cx="7589520" cy="3216652"/>
          </a:xfrm>
          <a:prstGeom prst="rect">
            <a:avLst/>
          </a:prstGeom>
          <a:effectLst/>
        </p:spPr>
      </p:pic>
      <p:sp>
        <p:nvSpPr>
          <p:cNvPr id="10" name="Rounded Rectangle 9"/>
          <p:cNvSpPr/>
          <p:nvPr/>
        </p:nvSpPr>
        <p:spPr>
          <a:xfrm>
            <a:off x="8476488" y="1517904"/>
            <a:ext cx="3054096" cy="361188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476488" y="1517904"/>
            <a:ext cx="40640" cy="361188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732520" y="1700784"/>
            <a:ext cx="254203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Four roles, enforced server side</a:t>
            </a:r>
          </a:p>
        </p:txBody>
      </p:sp>
      <p:sp>
        <p:nvSpPr>
          <p:cNvPr id="13" name="Rounded Rectangle 12"/>
          <p:cNvSpPr/>
          <p:nvPr/>
        </p:nvSpPr>
        <p:spPr>
          <a:xfrm>
            <a:off x="8732520" y="214426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51976" y="2066544"/>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Patient uploads and views only their own results.</a:t>
            </a:r>
          </a:p>
        </p:txBody>
      </p:sp>
      <p:sp>
        <p:nvSpPr>
          <p:cNvPr id="15" name="Rounded Rectangle 14"/>
          <p:cNvSpPr/>
          <p:nvPr/>
        </p:nvSpPr>
        <p:spPr>
          <a:xfrm>
            <a:off x="8732520" y="262712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951976" y="2549398"/>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Clinician uses the output for preliminary triage.</a:t>
            </a:r>
          </a:p>
        </p:txBody>
      </p:sp>
      <p:sp>
        <p:nvSpPr>
          <p:cNvPr id="17" name="Rounded Rectangle 16"/>
          <p:cNvSpPr/>
          <p:nvPr/>
        </p:nvSpPr>
        <p:spPr>
          <a:xfrm>
            <a:off x="8732520" y="3109976"/>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951976" y="3032252"/>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Researcher inspects model and evaluation evidence.</a:t>
            </a:r>
          </a:p>
        </p:txBody>
      </p:sp>
      <p:sp>
        <p:nvSpPr>
          <p:cNvPr id="19" name="Rounded Rectangle 18"/>
          <p:cNvSpPr/>
          <p:nvPr/>
        </p:nvSpPr>
        <p:spPr>
          <a:xfrm>
            <a:off x="8732520" y="359283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951976" y="3515106"/>
            <a:ext cx="232257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Administrator oversees users, scans and service health.</a:t>
            </a:r>
          </a:p>
        </p:txBody>
      </p:sp>
      <p:sp>
        <p:nvSpPr>
          <p:cNvPr id="21" name="Rounded Rectangle 20"/>
          <p:cNvSpPr/>
          <p:nvPr/>
        </p:nvSpPr>
        <p:spPr>
          <a:xfrm>
            <a:off x="658368" y="5394960"/>
            <a:ext cx="10874959" cy="548640"/>
          </a:xfrm>
          <a:prstGeom prst="roundRect">
            <a:avLst>
              <a:gd name="adj" fmla="val 10000"/>
            </a:avLst>
          </a:prstGeom>
          <a:solidFill>
            <a:srgbClr val="E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58368" y="5394960"/>
            <a:ext cx="40640" cy="548640"/>
          </a:xfrm>
          <a:prstGeom prst="rect">
            <a:avLst/>
          </a:prstGeom>
          <a:solidFill>
            <a:srgbClr val="1B6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6112" y="5513832"/>
            <a:ext cx="10372039" cy="310896"/>
          </a:xfrm>
          <a:prstGeom prst="rect">
            <a:avLst/>
          </a:prstGeom>
          <a:noFill/>
        </p:spPr>
        <p:txBody>
          <a:bodyPr wrap="square" anchor="t" lIns="0" rIns="0" tIns="0" bIns="0">
            <a:spAutoFit/>
          </a:bodyPr>
          <a:lstStyle/>
          <a:p>
            <a:pPr algn="l">
              <a:lnSpc>
                <a:spcPct val="118000"/>
              </a:lnSpc>
              <a:spcAft>
                <a:spcPts val="300"/>
              </a:spcAft>
            </a:pPr>
            <a:r>
              <a:rPr sz="1150" b="0" i="0">
                <a:solidFill>
                  <a:srgbClr val="1B6E52"/>
                </a:solidFill>
                <a:latin typeface="Segoe UI"/>
              </a:rPr>
              <a:t>Role checks live in middleware on the server. T9 and T10 verify that a cross user scan request and a provenance request from a patient are both refused.</a:t>
            </a:r>
          </a:p>
        </p:txBody>
      </p:sp>
      <p:sp>
        <p:nvSpPr>
          <p:cNvPr id="24" name="TextBox 23"/>
          <p:cNvSpPr txBox="1"/>
          <p:nvPr/>
        </p:nvSpPr>
        <p:spPr>
          <a:xfrm>
            <a:off x="658368" y="6053328"/>
            <a:ext cx="7589520" cy="274320"/>
          </a:xfrm>
          <a:prstGeom prst="rect">
            <a:avLst/>
          </a:prstGeom>
          <a:noFill/>
        </p:spPr>
        <p:txBody>
          <a:bodyPr wrap="square" anchor="t" lIns="0" rIns="0" tIns="0" bIns="0">
            <a:spAutoFit/>
          </a:bodyPr>
          <a:lstStyle/>
          <a:p>
            <a:pPr algn="ctr">
              <a:lnSpc>
                <a:spcPct val="118000"/>
              </a:lnSpc>
              <a:spcAft>
                <a:spcPts val="600"/>
              </a:spcAft>
            </a:pPr>
            <a:r>
              <a:rPr sz="1050" b="0" i="0">
                <a:solidFill>
                  <a:srgbClr val="647C93"/>
                </a:solidFill>
                <a:latin typeface="Segoe UI"/>
              </a:rPr>
              <a:t>Administrator console showing service health and the distribution of predictions made by the deployed system.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1463040" cy="457200"/>
          </a:xfrm>
          <a:prstGeom prst="rect">
            <a:avLst/>
          </a:prstGeom>
          <a:noFill/>
        </p:spPr>
        <p:txBody>
          <a:bodyPr wrap="square" anchor="t" lIns="0" rIns="0" tIns="0" bIns="0">
            <a:spAutoFit/>
          </a:bodyPr>
          <a:lstStyle/>
          <a:p>
            <a:pPr algn="l">
              <a:lnSpc>
                <a:spcPct val="118000"/>
              </a:lnSpc>
              <a:spcAft>
                <a:spcPts val="600"/>
              </a:spcAft>
            </a:pPr>
            <a:r>
              <a:rPr sz="1300" b="1" i="0">
                <a:solidFill>
                  <a:srgbClr val="7FC3D8"/>
                </a:solidFill>
                <a:latin typeface="Segoe UI"/>
              </a:rPr>
              <a:t>04</a:t>
            </a:r>
          </a:p>
        </p:txBody>
      </p:sp>
      <p:sp>
        <p:nvSpPr>
          <p:cNvPr id="5" name="TextBox 4"/>
          <p:cNvSpPr txBox="1"/>
          <p:nvPr/>
        </p:nvSpPr>
        <p:spPr>
          <a:xfrm>
            <a:off x="1051560" y="2331720"/>
            <a:ext cx="8778240" cy="1005840"/>
          </a:xfrm>
          <a:prstGeom prst="rect">
            <a:avLst/>
          </a:prstGeom>
          <a:noFill/>
        </p:spPr>
        <p:txBody>
          <a:bodyPr wrap="square" anchor="t" lIns="0" rIns="0" tIns="0" bIns="0">
            <a:spAutoFit/>
          </a:bodyPr>
          <a:lstStyle/>
          <a:p>
            <a:pPr algn="l">
              <a:lnSpc>
                <a:spcPct val="102000"/>
              </a:lnSpc>
              <a:spcAft>
                <a:spcPts val="600"/>
              </a:spcAft>
            </a:pPr>
            <a:r>
              <a:rPr sz="4000" b="1" i="0">
                <a:solidFill>
                  <a:srgbClr val="FFFFFF"/>
                </a:solidFill>
                <a:latin typeface="Segoe UI"/>
              </a:rPr>
              <a:t>Evidence</a:t>
            </a:r>
          </a:p>
        </p:txBody>
      </p:sp>
      <p:sp>
        <p:nvSpPr>
          <p:cNvPr id="6" name="TextBox 5"/>
          <p:cNvSpPr txBox="1"/>
          <p:nvPr/>
        </p:nvSpPr>
        <p:spPr>
          <a:xfrm>
            <a:off x="1051560" y="3520440"/>
            <a:ext cx="7680960" cy="731520"/>
          </a:xfrm>
          <a:prstGeom prst="rect">
            <a:avLst/>
          </a:prstGeom>
          <a:noFill/>
        </p:spPr>
        <p:txBody>
          <a:bodyPr wrap="square" anchor="t" lIns="0" rIns="0" tIns="0" bIns="0">
            <a:spAutoFit/>
          </a:bodyPr>
          <a:lstStyle/>
          <a:p>
            <a:pPr algn="l">
              <a:lnSpc>
                <a:spcPct val="118000"/>
              </a:lnSpc>
              <a:spcAft>
                <a:spcPts val="600"/>
              </a:spcAft>
            </a:pPr>
            <a:r>
              <a:rPr sz="1500" b="0" i="0">
                <a:solidFill>
                  <a:srgbClr val="B8D2E2"/>
                </a:solidFill>
                <a:latin typeface="Segoe UI"/>
              </a:rPr>
              <a:t>Success criteria were the acceptance criteria written in Chapter 4, and were not revised once measurements were available.</a:t>
            </a:r>
          </a:p>
        </p:txBody>
      </p:sp>
      <p:sp>
        <p:nvSpPr>
          <p:cNvPr id="7" name="Rounded Rectangle 6"/>
          <p:cNvSpPr/>
          <p:nvPr/>
        </p:nvSpPr>
        <p:spPr>
          <a:xfrm>
            <a:off x="1051560" y="4306824"/>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8448" y="4224528"/>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Held out test set of 1,382 images, seen by no model in training</a:t>
            </a:r>
          </a:p>
        </p:txBody>
      </p:sp>
      <p:sp>
        <p:nvSpPr>
          <p:cNvPr id="9" name="Rounded Rectangle 8"/>
          <p:cNvSpPr/>
          <p:nvPr/>
        </p:nvSpPr>
        <p:spPr>
          <a:xfrm>
            <a:off x="1051560" y="4636008"/>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8448" y="4553712"/>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Calibration on genuine data, then a held out partition and a probe</a:t>
            </a:r>
          </a:p>
        </p:txBody>
      </p:sp>
      <p:sp>
        <p:nvSpPr>
          <p:cNvPr id="11" name="Rounded Rectangle 10"/>
          <p:cNvSpPr/>
          <p:nvPr/>
        </p:nvSpPr>
        <p:spPr>
          <a:xfrm>
            <a:off x="1051560" y="4965192"/>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8448" y="4882896"/>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Negative results reported alongside positive ones</a:t>
            </a:r>
          </a:p>
        </p:txBody>
      </p:sp>
      <p:sp>
        <p:nvSpPr>
          <p:cNvPr id="13" name="TextBox 12"/>
          <p:cNvSpPr txBox="1"/>
          <p:nvPr/>
        </p:nvSpPr>
        <p:spPr>
          <a:xfrm>
            <a:off x="10728655" y="6144768"/>
            <a:ext cx="822960" cy="274320"/>
          </a:xfrm>
          <a:prstGeom prst="rect">
            <a:avLst/>
          </a:prstGeom>
          <a:noFill/>
        </p:spPr>
        <p:txBody>
          <a:bodyPr wrap="square" anchor="t" lIns="0" rIns="0" tIns="0" bIns="0">
            <a:spAutoFit/>
          </a:bodyPr>
          <a:lstStyle/>
          <a:p>
            <a:pPr algn="r">
              <a:lnSpc>
                <a:spcPct val="118000"/>
              </a:lnSpc>
              <a:spcAft>
                <a:spcPts val="600"/>
              </a:spcAft>
            </a:pPr>
            <a:r>
              <a:rPr sz="1100" b="0" i="0">
                <a:solidFill>
                  <a:srgbClr val="648AA6"/>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RQ1  ·  CLASSIFICATION PERFORMANCE</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Three architectures, one split, one protocol</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27</a:t>
            </a:r>
          </a:p>
        </p:txBody>
      </p:sp>
      <p:graphicFrame>
        <p:nvGraphicFramePr>
          <p:cNvPr id="8" name="Table 7"/>
          <p:cNvGraphicFramePr>
            <a:graphicFrameLocks noGrp="1"/>
          </p:cNvGraphicFramePr>
          <p:nvPr/>
        </p:nvGraphicFramePr>
        <p:xfrm>
          <a:off x="658368" y="1572768"/>
          <a:ext cx="10874956" cy="1554480"/>
        </p:xfrm>
        <a:graphic>
          <a:graphicData uri="http://schemas.openxmlformats.org/drawingml/2006/table">
            <a:tbl>
              <a:tblPr>
                <a:tableStyleId>{5C22544A-7EE6-4342-B048-85BDC9FD1C3A}</a:tableStyleId>
              </a:tblPr>
              <a:tblGrid>
                <a:gridCol w="2827489"/>
                <a:gridCol w="1413744"/>
                <a:gridCol w="1631243"/>
                <a:gridCol w="1522494"/>
                <a:gridCol w="1196245"/>
                <a:gridCol w="1304995"/>
                <a:gridCol w="978746"/>
              </a:tblGrid>
              <a:tr h="347472">
                <a:tc>
                  <a:txBody>
                    <a:bodyPr wrap="square"/>
                    <a:lstStyle/>
                    <a:p>
                      <a:pPr algn="l"/>
                      <a:r>
                        <a:rPr sz="1100" b="1">
                          <a:solidFill>
                            <a:srgbClr val="FFFFFF"/>
                          </a:solidFill>
                          <a:latin typeface="Segoe UI"/>
                        </a:rPr>
                        <a:t>Model</a:t>
                      </a:r>
                    </a:p>
                  </a:txBody>
                  <a:tcPr marL="91440" marR="91440" marT="27432" marB="27432" anchor="ctr">
                    <a:solidFill>
                      <a:srgbClr val="0E5A72"/>
                    </a:solidFill>
                  </a:tcPr>
                </a:tc>
                <a:tc>
                  <a:txBody>
                    <a:bodyPr wrap="square"/>
                    <a:lstStyle/>
                    <a:p>
                      <a:pPr algn="r"/>
                      <a:r>
                        <a:rPr sz="1100" b="1">
                          <a:solidFill>
                            <a:srgbClr val="FFFFFF"/>
                          </a:solidFill>
                          <a:latin typeface="Segoe UI"/>
                        </a:rPr>
                        <a:t>Accuracy</a:t>
                      </a:r>
                    </a:p>
                  </a:txBody>
                  <a:tcPr marL="91440" marR="91440" marT="27432" marB="27432" anchor="ctr">
                    <a:solidFill>
                      <a:srgbClr val="0E5A72"/>
                    </a:solidFill>
                  </a:tcPr>
                </a:tc>
                <a:tc>
                  <a:txBody>
                    <a:bodyPr wrap="square"/>
                    <a:lstStyle/>
                    <a:p>
                      <a:pPr algn="r"/>
                      <a:r>
                        <a:rPr sz="1100" b="1">
                          <a:solidFill>
                            <a:srgbClr val="FFFFFF"/>
                          </a:solidFill>
                          <a:latin typeface="Segoe UI"/>
                        </a:rPr>
                        <a:t>Macro precision</a:t>
                      </a:r>
                    </a:p>
                  </a:txBody>
                  <a:tcPr marL="91440" marR="91440" marT="27432" marB="27432" anchor="ctr">
                    <a:solidFill>
                      <a:srgbClr val="0E5A72"/>
                    </a:solidFill>
                  </a:tcPr>
                </a:tc>
                <a:tc>
                  <a:txBody>
                    <a:bodyPr wrap="square"/>
                    <a:lstStyle/>
                    <a:p>
                      <a:pPr algn="r"/>
                      <a:r>
                        <a:rPr sz="1100" b="1">
                          <a:solidFill>
                            <a:srgbClr val="FFFFFF"/>
                          </a:solidFill>
                          <a:latin typeface="Segoe UI"/>
                        </a:rPr>
                        <a:t>Macro recall</a:t>
                      </a:r>
                    </a:p>
                  </a:txBody>
                  <a:tcPr marL="91440" marR="91440" marT="27432" marB="27432" anchor="ctr">
                    <a:solidFill>
                      <a:srgbClr val="0E5A72"/>
                    </a:solidFill>
                  </a:tcPr>
                </a:tc>
                <a:tc>
                  <a:txBody>
                    <a:bodyPr wrap="square"/>
                    <a:lstStyle/>
                    <a:p>
                      <a:pPr algn="r"/>
                      <a:r>
                        <a:rPr sz="1100" b="1">
                          <a:solidFill>
                            <a:srgbClr val="FFFFFF"/>
                          </a:solidFill>
                          <a:latin typeface="Segoe UI"/>
                        </a:rPr>
                        <a:t>Macro F1</a:t>
                      </a:r>
                    </a:p>
                  </a:txBody>
                  <a:tcPr marL="91440" marR="91440" marT="27432" marB="27432" anchor="ctr">
                    <a:solidFill>
                      <a:srgbClr val="0E5A72"/>
                    </a:solidFill>
                  </a:tcPr>
                </a:tc>
                <a:tc>
                  <a:txBody>
                    <a:bodyPr wrap="square"/>
                    <a:lstStyle/>
                    <a:p>
                      <a:pPr algn="r"/>
                      <a:r>
                        <a:rPr sz="1100" b="1">
                          <a:solidFill>
                            <a:srgbClr val="FFFFFF"/>
                          </a:solidFill>
                          <a:latin typeface="Segoe UI"/>
                        </a:rPr>
                        <a:t>Weighted F1</a:t>
                      </a:r>
                    </a:p>
                  </a:txBody>
                  <a:tcPr marL="91440" marR="91440" marT="27432" marB="27432" anchor="ctr">
                    <a:solidFill>
                      <a:srgbClr val="0E5A72"/>
                    </a:solidFill>
                  </a:tcPr>
                </a:tc>
                <a:tc>
                  <a:txBody>
                    <a:bodyPr wrap="square"/>
                    <a:lstStyle/>
                    <a:p>
                      <a:pPr algn="r"/>
                      <a:r>
                        <a:rPr sz="1100" b="1">
                          <a:solidFill>
                            <a:srgbClr val="FFFFFF"/>
                          </a:solidFill>
                          <a:latin typeface="Segoe UI"/>
                        </a:rPr>
                        <a:t>Errors</a:t>
                      </a:r>
                    </a:p>
                  </a:txBody>
                  <a:tcPr marL="91440" marR="91440" marT="27432" marB="27432" anchor="ctr">
                    <a:solidFill>
                      <a:srgbClr val="0E5A72"/>
                    </a:solidFill>
                  </a:tcPr>
                </a:tc>
              </a:tr>
              <a:tr h="402336">
                <a:tc>
                  <a:txBody>
                    <a:bodyPr wrap="square"/>
                    <a:lstStyle/>
                    <a:p>
                      <a:pPr algn="l"/>
                      <a:r>
                        <a:rPr sz="1250" b="1">
                          <a:solidFill>
                            <a:srgbClr val="0B2B4A"/>
                          </a:solidFill>
                          <a:latin typeface="Segoe UI"/>
                        </a:rPr>
                        <a:t>DenseNet121  ·  deployed</a:t>
                      </a:r>
                    </a:p>
                  </a:txBody>
                  <a:tcPr marL="91440" marR="91440" marT="27432" marB="27432" anchor="ctr">
                    <a:solidFill>
                      <a:srgbClr val="E6F2F7"/>
                    </a:solidFill>
                  </a:tcPr>
                </a:tc>
                <a:tc>
                  <a:txBody>
                    <a:bodyPr wrap="square"/>
                    <a:lstStyle/>
                    <a:p>
                      <a:pPr algn="r"/>
                      <a:r>
                        <a:rPr sz="1250" b="1">
                          <a:solidFill>
                            <a:srgbClr val="0B2B4A"/>
                          </a:solidFill>
                          <a:latin typeface="Segoe UI"/>
                        </a:rPr>
                        <a:t>85.31 %</a:t>
                      </a:r>
                    </a:p>
                  </a:txBody>
                  <a:tcPr marL="91440" marR="91440" marT="27432" marB="27432" anchor="ctr">
                    <a:solidFill>
                      <a:srgbClr val="E6F2F7"/>
                    </a:solidFill>
                  </a:tcPr>
                </a:tc>
                <a:tc>
                  <a:txBody>
                    <a:bodyPr wrap="square"/>
                    <a:lstStyle/>
                    <a:p>
                      <a:pPr algn="r"/>
                      <a:r>
                        <a:rPr sz="1250" b="1">
                          <a:solidFill>
                            <a:srgbClr val="0B2B4A"/>
                          </a:solidFill>
                          <a:latin typeface="Segoe UI"/>
                        </a:rPr>
                        <a:t>0.843</a:t>
                      </a:r>
                    </a:p>
                  </a:txBody>
                  <a:tcPr marL="91440" marR="91440" marT="27432" marB="27432" anchor="ctr">
                    <a:solidFill>
                      <a:srgbClr val="E6F2F7"/>
                    </a:solidFill>
                  </a:tcPr>
                </a:tc>
                <a:tc>
                  <a:txBody>
                    <a:bodyPr wrap="square"/>
                    <a:lstStyle/>
                    <a:p>
                      <a:pPr algn="r"/>
                      <a:r>
                        <a:rPr sz="1250" b="1">
                          <a:solidFill>
                            <a:srgbClr val="0B2B4A"/>
                          </a:solidFill>
                          <a:latin typeface="Segoe UI"/>
                        </a:rPr>
                        <a:t>0.845</a:t>
                      </a:r>
                    </a:p>
                  </a:txBody>
                  <a:tcPr marL="91440" marR="91440" marT="27432" marB="27432" anchor="ctr">
                    <a:solidFill>
                      <a:srgbClr val="E6F2F7"/>
                    </a:solidFill>
                  </a:tcPr>
                </a:tc>
                <a:tc>
                  <a:txBody>
                    <a:bodyPr wrap="square"/>
                    <a:lstStyle/>
                    <a:p>
                      <a:pPr algn="r"/>
                      <a:r>
                        <a:rPr sz="1250" b="1">
                          <a:solidFill>
                            <a:srgbClr val="0B2B4A"/>
                          </a:solidFill>
                          <a:latin typeface="Segoe UI"/>
                        </a:rPr>
                        <a:t>0.844</a:t>
                      </a:r>
                    </a:p>
                  </a:txBody>
                  <a:tcPr marL="91440" marR="91440" marT="27432" marB="27432" anchor="ctr">
                    <a:solidFill>
                      <a:srgbClr val="E6F2F7"/>
                    </a:solidFill>
                  </a:tcPr>
                </a:tc>
                <a:tc>
                  <a:txBody>
                    <a:bodyPr wrap="square"/>
                    <a:lstStyle/>
                    <a:p>
                      <a:pPr algn="r"/>
                      <a:r>
                        <a:rPr sz="1250" b="1">
                          <a:solidFill>
                            <a:srgbClr val="0B2B4A"/>
                          </a:solidFill>
                          <a:latin typeface="Segoe UI"/>
                        </a:rPr>
                        <a:t>0.851</a:t>
                      </a:r>
                    </a:p>
                  </a:txBody>
                  <a:tcPr marL="91440" marR="91440" marT="27432" marB="27432" anchor="ctr">
                    <a:solidFill>
                      <a:srgbClr val="E6F2F7"/>
                    </a:solidFill>
                  </a:tcPr>
                </a:tc>
                <a:tc>
                  <a:txBody>
                    <a:bodyPr wrap="square"/>
                    <a:lstStyle/>
                    <a:p>
                      <a:pPr algn="r"/>
                      <a:r>
                        <a:rPr sz="1250" b="1">
                          <a:solidFill>
                            <a:srgbClr val="0B2B4A"/>
                          </a:solidFill>
                          <a:latin typeface="Segoe UI"/>
                        </a:rPr>
                        <a:t>203</a:t>
                      </a:r>
                    </a:p>
                  </a:txBody>
                  <a:tcPr marL="91440" marR="91440" marT="27432" marB="27432" anchor="ctr">
                    <a:solidFill>
                      <a:srgbClr val="E6F2F7"/>
                    </a:solidFill>
                  </a:tcPr>
                </a:tc>
              </a:tr>
              <a:tr h="402336">
                <a:tc>
                  <a:txBody>
                    <a:bodyPr wrap="square"/>
                    <a:lstStyle/>
                    <a:p>
                      <a:pPr algn="l"/>
                      <a:r>
                        <a:rPr sz="1250" b="1">
                          <a:solidFill>
                            <a:srgbClr val="0B2B4A"/>
                          </a:solidFill>
                          <a:latin typeface="Segoe UI"/>
                        </a:rPr>
                        <a:t>EfficientNetV2B3</a:t>
                      </a:r>
                    </a:p>
                  </a:txBody>
                  <a:tcPr marL="91440" marR="91440" marT="27432" marB="27432" anchor="ctr">
                    <a:solidFill>
                      <a:srgbClr val="F3F8FB"/>
                    </a:solidFill>
                  </a:tcPr>
                </a:tc>
                <a:tc>
                  <a:txBody>
                    <a:bodyPr wrap="square"/>
                    <a:lstStyle/>
                    <a:p>
                      <a:pPr algn="r"/>
                      <a:r>
                        <a:rPr sz="1250" b="0">
                          <a:solidFill>
                            <a:srgbClr val="243B53"/>
                          </a:solidFill>
                          <a:latin typeface="Segoe UI"/>
                        </a:rPr>
                        <a:t>84.30 %</a:t>
                      </a:r>
                    </a:p>
                  </a:txBody>
                  <a:tcPr marL="91440" marR="91440" marT="27432" marB="27432" anchor="ctr">
                    <a:solidFill>
                      <a:srgbClr val="F3F8FB"/>
                    </a:solidFill>
                  </a:tcPr>
                </a:tc>
                <a:tc>
                  <a:txBody>
                    <a:bodyPr wrap="square"/>
                    <a:lstStyle/>
                    <a:p>
                      <a:pPr algn="r"/>
                      <a:r>
                        <a:rPr sz="1250" b="0">
                          <a:solidFill>
                            <a:srgbClr val="243B53"/>
                          </a:solidFill>
                          <a:latin typeface="Segoe UI"/>
                        </a:rPr>
                        <a:t>0.834</a:t>
                      </a:r>
                    </a:p>
                  </a:txBody>
                  <a:tcPr marL="91440" marR="91440" marT="27432" marB="27432" anchor="ctr">
                    <a:solidFill>
                      <a:srgbClr val="F3F8FB"/>
                    </a:solidFill>
                  </a:tcPr>
                </a:tc>
                <a:tc>
                  <a:txBody>
                    <a:bodyPr wrap="square"/>
                    <a:lstStyle/>
                    <a:p>
                      <a:pPr algn="r"/>
                      <a:r>
                        <a:rPr sz="1250" b="0">
                          <a:solidFill>
                            <a:srgbClr val="243B53"/>
                          </a:solidFill>
                          <a:latin typeface="Segoe UI"/>
                        </a:rPr>
                        <a:t>0.825</a:t>
                      </a:r>
                    </a:p>
                  </a:txBody>
                  <a:tcPr marL="91440" marR="91440" marT="27432" marB="27432" anchor="ctr">
                    <a:solidFill>
                      <a:srgbClr val="F3F8FB"/>
                    </a:solidFill>
                  </a:tcPr>
                </a:tc>
                <a:tc>
                  <a:txBody>
                    <a:bodyPr wrap="square"/>
                    <a:lstStyle/>
                    <a:p>
                      <a:pPr algn="r"/>
                      <a:r>
                        <a:rPr sz="1250" b="0">
                          <a:solidFill>
                            <a:srgbClr val="243B53"/>
                          </a:solidFill>
                          <a:latin typeface="Segoe UI"/>
                        </a:rPr>
                        <a:t>0.828</a:t>
                      </a:r>
                    </a:p>
                  </a:txBody>
                  <a:tcPr marL="91440" marR="91440" marT="27432" marB="27432" anchor="ctr">
                    <a:solidFill>
                      <a:srgbClr val="F3F8FB"/>
                    </a:solidFill>
                  </a:tcPr>
                </a:tc>
                <a:tc>
                  <a:txBody>
                    <a:bodyPr wrap="square"/>
                    <a:lstStyle/>
                    <a:p>
                      <a:pPr algn="r"/>
                      <a:r>
                        <a:rPr sz="1250" b="0">
                          <a:solidFill>
                            <a:srgbClr val="243B53"/>
                          </a:solidFill>
                          <a:latin typeface="Segoe UI"/>
                        </a:rPr>
                        <a:t>0.838</a:t>
                      </a:r>
                    </a:p>
                  </a:txBody>
                  <a:tcPr marL="91440" marR="91440" marT="27432" marB="27432" anchor="ctr">
                    <a:solidFill>
                      <a:srgbClr val="F3F8FB"/>
                    </a:solidFill>
                  </a:tcPr>
                </a:tc>
                <a:tc>
                  <a:txBody>
                    <a:bodyPr wrap="square"/>
                    <a:lstStyle/>
                    <a:p>
                      <a:pPr algn="r"/>
                      <a:r>
                        <a:rPr sz="1250" b="0">
                          <a:solidFill>
                            <a:srgbClr val="243B53"/>
                          </a:solidFill>
                          <a:latin typeface="Segoe UI"/>
                        </a:rPr>
                        <a:t>217</a:t>
                      </a:r>
                    </a:p>
                  </a:txBody>
                  <a:tcPr marL="91440" marR="91440" marT="27432" marB="27432" anchor="ctr">
                    <a:solidFill>
                      <a:srgbClr val="F3F8FB"/>
                    </a:solidFill>
                  </a:tcPr>
                </a:tc>
              </a:tr>
              <a:tr h="402336">
                <a:tc>
                  <a:txBody>
                    <a:bodyPr wrap="square"/>
                    <a:lstStyle/>
                    <a:p>
                      <a:pPr algn="l"/>
                      <a:r>
                        <a:rPr sz="1250" b="1">
                          <a:solidFill>
                            <a:srgbClr val="0B2B4A"/>
                          </a:solidFill>
                          <a:latin typeface="Segoe UI"/>
                        </a:rPr>
                        <a:t>EfficientNetV2S</a:t>
                      </a:r>
                    </a:p>
                  </a:txBody>
                  <a:tcPr marL="91440" marR="91440" marT="27432" marB="27432" anchor="ctr">
                    <a:solidFill>
                      <a:srgbClr val="FFFFFF"/>
                    </a:solidFill>
                  </a:tcPr>
                </a:tc>
                <a:tc>
                  <a:txBody>
                    <a:bodyPr wrap="square"/>
                    <a:lstStyle/>
                    <a:p>
                      <a:pPr algn="r"/>
                      <a:r>
                        <a:rPr sz="1250" b="0">
                          <a:solidFill>
                            <a:srgbClr val="243B53"/>
                          </a:solidFill>
                          <a:latin typeface="Segoe UI"/>
                        </a:rPr>
                        <a:t>80.54 %</a:t>
                      </a:r>
                    </a:p>
                  </a:txBody>
                  <a:tcPr marL="91440" marR="91440" marT="27432" marB="27432" anchor="ctr">
                    <a:solidFill>
                      <a:srgbClr val="FFFFFF"/>
                    </a:solidFill>
                  </a:tcPr>
                </a:tc>
                <a:tc>
                  <a:txBody>
                    <a:bodyPr wrap="square"/>
                    <a:lstStyle/>
                    <a:p>
                      <a:pPr algn="r"/>
                      <a:r>
                        <a:rPr sz="1250" b="0">
                          <a:solidFill>
                            <a:srgbClr val="243B53"/>
                          </a:solidFill>
                          <a:latin typeface="Segoe UI"/>
                        </a:rPr>
                        <a:t>0.798</a:t>
                      </a:r>
                    </a:p>
                  </a:txBody>
                  <a:tcPr marL="91440" marR="91440" marT="27432" marB="27432" anchor="ctr">
                    <a:solidFill>
                      <a:srgbClr val="FFFFFF"/>
                    </a:solidFill>
                  </a:tcPr>
                </a:tc>
                <a:tc>
                  <a:txBody>
                    <a:bodyPr wrap="square"/>
                    <a:lstStyle/>
                    <a:p>
                      <a:pPr algn="r"/>
                      <a:r>
                        <a:rPr sz="1250" b="0">
                          <a:solidFill>
                            <a:srgbClr val="243B53"/>
                          </a:solidFill>
                          <a:latin typeface="Segoe UI"/>
                        </a:rPr>
                        <a:t>0.812</a:t>
                      </a:r>
                    </a:p>
                  </a:txBody>
                  <a:tcPr marL="91440" marR="91440" marT="27432" marB="27432" anchor="ctr">
                    <a:solidFill>
                      <a:srgbClr val="FFFFFF"/>
                    </a:solidFill>
                  </a:tcPr>
                </a:tc>
                <a:tc>
                  <a:txBody>
                    <a:bodyPr wrap="square"/>
                    <a:lstStyle/>
                    <a:p>
                      <a:pPr algn="r"/>
                      <a:r>
                        <a:rPr sz="1250" b="0">
                          <a:solidFill>
                            <a:srgbClr val="243B53"/>
                          </a:solidFill>
                          <a:latin typeface="Segoe UI"/>
                        </a:rPr>
                        <a:t>0.798</a:t>
                      </a:r>
                    </a:p>
                  </a:txBody>
                  <a:tcPr marL="91440" marR="91440" marT="27432" marB="27432" anchor="ctr">
                    <a:solidFill>
                      <a:srgbClr val="FFFFFF"/>
                    </a:solidFill>
                  </a:tcPr>
                </a:tc>
                <a:tc>
                  <a:txBody>
                    <a:bodyPr wrap="square"/>
                    <a:lstStyle/>
                    <a:p>
                      <a:pPr algn="r"/>
                      <a:r>
                        <a:rPr sz="1250" b="0">
                          <a:solidFill>
                            <a:srgbClr val="243B53"/>
                          </a:solidFill>
                          <a:latin typeface="Segoe UI"/>
                        </a:rPr>
                        <a:t>0.803</a:t>
                      </a:r>
                    </a:p>
                  </a:txBody>
                  <a:tcPr marL="91440" marR="91440" marT="27432" marB="27432" anchor="ctr">
                    <a:solidFill>
                      <a:srgbClr val="FFFFFF"/>
                    </a:solidFill>
                  </a:tcPr>
                </a:tc>
                <a:tc>
                  <a:txBody>
                    <a:bodyPr wrap="square"/>
                    <a:lstStyle/>
                    <a:p>
                      <a:pPr algn="r"/>
                      <a:r>
                        <a:rPr sz="1250" b="0">
                          <a:solidFill>
                            <a:srgbClr val="243B53"/>
                          </a:solidFill>
                          <a:latin typeface="Segoe UI"/>
                        </a:rPr>
                        <a:t>269</a:t>
                      </a:r>
                    </a:p>
                  </a:txBody>
                  <a:tcPr marL="91440" marR="91440" marT="27432" marB="27432" anchor="ctr">
                    <a:solidFill>
                      <a:srgbClr val="FFFFFF"/>
                    </a:solidFill>
                  </a:tcPr>
                </a:tc>
              </a:tr>
            </a:tbl>
          </a:graphicData>
        </a:graphic>
      </p:graphicFrame>
      <p:sp>
        <p:nvSpPr>
          <p:cNvPr id="9" name="Rounded Rectangle 8"/>
          <p:cNvSpPr/>
          <p:nvPr/>
        </p:nvSpPr>
        <p:spPr>
          <a:xfrm>
            <a:off x="658368" y="3218688"/>
            <a:ext cx="5309463" cy="210312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58368" y="3218688"/>
            <a:ext cx="40640" cy="21031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3401568"/>
            <a:ext cx="4797399"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The margin is not a finding</a:t>
            </a:r>
          </a:p>
        </p:txBody>
      </p:sp>
      <p:sp>
        <p:nvSpPr>
          <p:cNvPr id="12" name="Rounded Rectangle 11"/>
          <p:cNvSpPr/>
          <p:nvPr/>
        </p:nvSpPr>
        <p:spPr>
          <a:xfrm>
            <a:off x="914400" y="384505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33856" y="3767328"/>
            <a:ext cx="4577943"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1.01 point lead over EfficientNetV2B3 is fourteen images out of 1,382, from a single run.</a:t>
            </a:r>
          </a:p>
        </p:txBody>
      </p:sp>
      <p:sp>
        <p:nvSpPr>
          <p:cNvPr id="14" name="Rounded Rectangle 13"/>
          <p:cNvSpPr/>
          <p:nvPr/>
        </p:nvSpPr>
        <p:spPr>
          <a:xfrm>
            <a:off x="914400" y="4344924"/>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33856" y="4267200"/>
            <a:ext cx="4577943"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methodology committed in advance to treating a difference at that resolution as inconclusive.</a:t>
            </a:r>
          </a:p>
        </p:txBody>
      </p:sp>
      <p:sp>
        <p:nvSpPr>
          <p:cNvPr id="16" name="Rounded Rectangle 15"/>
          <p:cNvSpPr/>
          <p:nvPr/>
        </p:nvSpPr>
        <p:spPr>
          <a:xfrm>
            <a:off x="6223863" y="3218688"/>
            <a:ext cx="5309463" cy="210312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23863" y="3218688"/>
            <a:ext cx="40640" cy="21031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79895" y="3401568"/>
            <a:ext cx="4797399"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And one row is not an architectural result</a:t>
            </a:r>
          </a:p>
        </p:txBody>
      </p:sp>
      <p:sp>
        <p:nvSpPr>
          <p:cNvPr id="19" name="Rounded Rectangle 18"/>
          <p:cNvSpPr/>
          <p:nvPr/>
        </p:nvSpPr>
        <p:spPr>
          <a:xfrm>
            <a:off x="6479895" y="384505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99351" y="3767328"/>
            <a:ext cx="4577943" cy="612648"/>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EfficientNetV2S was trained with rescaling to the unit interval, while its ImageNet weights expect the interval from minus one to one.</a:t>
            </a:r>
          </a:p>
        </p:txBody>
      </p:sp>
      <p:sp>
        <p:nvSpPr>
          <p:cNvPr id="21" name="Rounded Rectangle 20"/>
          <p:cNvSpPr/>
          <p:nvPr/>
        </p:nvSpPr>
        <p:spPr>
          <a:xfrm>
            <a:off x="6479895" y="454914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699351" y="4471416"/>
            <a:ext cx="4577943"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Its frozen phase reached 68.07 per cent against 83.20, a gap capacity does not explain. This is disclosed, not buried.</a:t>
            </a:r>
          </a:p>
        </p:txBody>
      </p:sp>
      <p:sp>
        <p:nvSpPr>
          <p:cNvPr id="23" name="Rounded Rectangle 22"/>
          <p:cNvSpPr/>
          <p:nvPr/>
        </p:nvSpPr>
        <p:spPr>
          <a:xfrm>
            <a:off x="658368" y="5742432"/>
            <a:ext cx="10874959" cy="548640"/>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5742432"/>
            <a:ext cx="40640" cy="548640"/>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6112" y="5861304"/>
            <a:ext cx="10372039" cy="310896"/>
          </a:xfrm>
          <a:prstGeom prst="rect">
            <a:avLst/>
          </a:prstGeom>
          <a:noFill/>
        </p:spPr>
        <p:txBody>
          <a:bodyPr wrap="square" anchor="t" lIns="0" rIns="0" tIns="0" bIns="0">
            <a:spAutoFit/>
          </a:bodyPr>
          <a:lstStyle/>
          <a:p>
            <a:pPr algn="l">
              <a:lnSpc>
                <a:spcPct val="118000"/>
              </a:lnSpc>
              <a:spcAft>
                <a:spcPts val="300"/>
              </a:spcAft>
            </a:pPr>
            <a:r>
              <a:rPr sz="1150" b="0" i="0">
                <a:solidFill>
                  <a:srgbClr val="0E5A72"/>
                </a:solidFill>
                <a:latin typeface="Segoe UI"/>
              </a:rPr>
              <a:t>NFR1 asked for at least 85 per cent and is met by 0.31 of a percentage point, a margin narrow enough that a different seed could plausibly have failed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RQ1  ·  PER CLASS, DENSENET121</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Class spread is far larger than architecture spread</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28</a:t>
            </a:r>
          </a:p>
        </p:txBody>
      </p:sp>
      <p:graphicFrame>
        <p:nvGraphicFramePr>
          <p:cNvPr id="8" name="Table 7"/>
          <p:cNvGraphicFramePr>
            <a:graphicFrameLocks noGrp="1"/>
          </p:cNvGraphicFramePr>
          <p:nvPr/>
        </p:nvGraphicFramePr>
        <p:xfrm>
          <a:off x="658368" y="1572768"/>
          <a:ext cx="6720838" cy="2029968"/>
        </p:xfrm>
        <a:graphic>
          <a:graphicData uri="http://schemas.openxmlformats.org/drawingml/2006/table">
            <a:tbl>
              <a:tblPr>
                <a:tableStyleId>{5C22544A-7EE6-4342-B048-85BDC9FD1C3A}</a:tableStyleId>
              </a:tblPr>
              <a:tblGrid>
                <a:gridCol w="2285085"/>
                <a:gridCol w="1142542"/>
                <a:gridCol w="1075334"/>
                <a:gridCol w="1008126"/>
                <a:gridCol w="1209751"/>
              </a:tblGrid>
              <a:tr h="347472">
                <a:tc>
                  <a:txBody>
                    <a:bodyPr wrap="square"/>
                    <a:lstStyle/>
                    <a:p>
                      <a:pPr algn="l"/>
                      <a:r>
                        <a:rPr sz="1100" b="1">
                          <a:solidFill>
                            <a:srgbClr val="FFFFFF"/>
                          </a:solidFill>
                          <a:latin typeface="Segoe UI"/>
                        </a:rPr>
                        <a:t>Class</a:t>
                      </a:r>
                    </a:p>
                  </a:txBody>
                  <a:tcPr marL="91440" marR="91440" marT="27432" marB="27432" anchor="ctr">
                    <a:solidFill>
                      <a:srgbClr val="0E5A72"/>
                    </a:solidFill>
                  </a:tcPr>
                </a:tc>
                <a:tc>
                  <a:txBody>
                    <a:bodyPr wrap="square"/>
                    <a:lstStyle/>
                    <a:p>
                      <a:pPr algn="r"/>
                      <a:r>
                        <a:rPr sz="1100" b="1">
                          <a:solidFill>
                            <a:srgbClr val="FFFFFF"/>
                          </a:solidFill>
                          <a:latin typeface="Segoe UI"/>
                        </a:rPr>
                        <a:t>Precision</a:t>
                      </a:r>
                    </a:p>
                  </a:txBody>
                  <a:tcPr marL="91440" marR="91440" marT="27432" marB="27432" anchor="ctr">
                    <a:solidFill>
                      <a:srgbClr val="0E5A72"/>
                    </a:solidFill>
                  </a:tcPr>
                </a:tc>
                <a:tc>
                  <a:txBody>
                    <a:bodyPr wrap="square"/>
                    <a:lstStyle/>
                    <a:p>
                      <a:pPr algn="r"/>
                      <a:r>
                        <a:rPr sz="1100" b="1">
                          <a:solidFill>
                            <a:srgbClr val="FFFFFF"/>
                          </a:solidFill>
                          <a:latin typeface="Segoe UI"/>
                        </a:rPr>
                        <a:t>Recall</a:t>
                      </a:r>
                    </a:p>
                  </a:txBody>
                  <a:tcPr marL="91440" marR="91440" marT="27432" marB="27432" anchor="ctr">
                    <a:solidFill>
                      <a:srgbClr val="0E5A72"/>
                    </a:solidFill>
                  </a:tcPr>
                </a:tc>
                <a:tc>
                  <a:txBody>
                    <a:bodyPr wrap="square"/>
                    <a:lstStyle/>
                    <a:p>
                      <a:pPr algn="r"/>
                      <a:r>
                        <a:rPr sz="1100" b="1">
                          <a:solidFill>
                            <a:srgbClr val="FFFFFF"/>
                          </a:solidFill>
                          <a:latin typeface="Segoe UI"/>
                        </a:rPr>
                        <a:t>F1</a:t>
                      </a:r>
                    </a:p>
                  </a:txBody>
                  <a:tcPr marL="91440" marR="91440" marT="27432" marB="27432" anchor="ctr">
                    <a:solidFill>
                      <a:srgbClr val="0E5A72"/>
                    </a:solidFill>
                  </a:tcPr>
                </a:tc>
                <a:tc>
                  <a:txBody>
                    <a:bodyPr wrap="square"/>
                    <a:lstStyle/>
                    <a:p>
                      <a:pPr algn="r"/>
                      <a:r>
                        <a:rPr sz="1100" b="1">
                          <a:solidFill>
                            <a:srgbClr val="FFFFFF"/>
                          </a:solidFill>
                          <a:latin typeface="Segoe UI"/>
                        </a:rPr>
                        <a:t>Support</a:t>
                      </a:r>
                    </a:p>
                  </a:txBody>
                  <a:tcPr marL="91440" marR="91440" marT="27432" marB="27432" anchor="ctr">
                    <a:solidFill>
                      <a:srgbClr val="0E5A72"/>
                    </a:solidFill>
                  </a:tcPr>
                </a:tc>
              </a:tr>
              <a:tr h="420624">
                <a:tc>
                  <a:txBody>
                    <a:bodyPr wrap="square"/>
                    <a:lstStyle/>
                    <a:p>
                      <a:pPr algn="l"/>
                      <a:r>
                        <a:rPr sz="1250" b="1">
                          <a:solidFill>
                            <a:srgbClr val="0B2B4A"/>
                          </a:solidFill>
                          <a:latin typeface="Segoe UI"/>
                        </a:rPr>
                        <a:t>COVID-19</a:t>
                      </a:r>
                    </a:p>
                  </a:txBody>
                  <a:tcPr marL="91440" marR="91440" marT="27432" marB="27432" anchor="ctr">
                    <a:solidFill>
                      <a:srgbClr val="FFFFFF"/>
                    </a:solidFill>
                  </a:tcPr>
                </a:tc>
                <a:tc>
                  <a:txBody>
                    <a:bodyPr wrap="square"/>
                    <a:lstStyle/>
                    <a:p>
                      <a:pPr algn="r"/>
                      <a:r>
                        <a:rPr sz="1250" b="0">
                          <a:solidFill>
                            <a:srgbClr val="243B53"/>
                          </a:solidFill>
                          <a:latin typeface="Segoe UI"/>
                        </a:rPr>
                        <a:t>0.974</a:t>
                      </a:r>
                    </a:p>
                  </a:txBody>
                  <a:tcPr marL="91440" marR="91440" marT="27432" marB="27432" anchor="ctr">
                    <a:solidFill>
                      <a:srgbClr val="FFFFFF"/>
                    </a:solidFill>
                  </a:tcPr>
                </a:tc>
                <a:tc>
                  <a:txBody>
                    <a:bodyPr wrap="square"/>
                    <a:lstStyle/>
                    <a:p>
                      <a:pPr algn="r"/>
                      <a:r>
                        <a:rPr sz="1250" b="0">
                          <a:solidFill>
                            <a:srgbClr val="243B53"/>
                          </a:solidFill>
                          <a:latin typeface="Segoe UI"/>
                        </a:rPr>
                        <a:t>0.984</a:t>
                      </a:r>
                    </a:p>
                  </a:txBody>
                  <a:tcPr marL="91440" marR="91440" marT="27432" marB="27432" anchor="ctr">
                    <a:solidFill>
                      <a:srgbClr val="FFFFFF"/>
                    </a:solidFill>
                  </a:tcPr>
                </a:tc>
                <a:tc>
                  <a:txBody>
                    <a:bodyPr wrap="square"/>
                    <a:lstStyle/>
                    <a:p>
                      <a:pPr algn="r"/>
                      <a:r>
                        <a:rPr sz="1250" b="0">
                          <a:solidFill>
                            <a:srgbClr val="243B53"/>
                          </a:solidFill>
                          <a:latin typeface="Segoe UI"/>
                        </a:rPr>
                        <a:t>0.979</a:t>
                      </a:r>
                    </a:p>
                  </a:txBody>
                  <a:tcPr marL="91440" marR="91440" marT="27432" marB="27432" anchor="ctr">
                    <a:solidFill>
                      <a:srgbClr val="FFFFFF"/>
                    </a:solidFill>
                  </a:tcPr>
                </a:tc>
                <a:tc>
                  <a:txBody>
                    <a:bodyPr wrap="square"/>
                    <a:lstStyle/>
                    <a:p>
                      <a:pPr algn="r"/>
                      <a:r>
                        <a:rPr sz="1250" b="0">
                          <a:solidFill>
                            <a:srgbClr val="243B53"/>
                          </a:solidFill>
                          <a:latin typeface="Segoe UI"/>
                        </a:rPr>
                        <a:t>192</a:t>
                      </a:r>
                    </a:p>
                  </a:txBody>
                  <a:tcPr marL="91440" marR="91440" marT="27432" marB="27432" anchor="ctr">
                    <a:solidFill>
                      <a:srgbClr val="FFFFFF"/>
                    </a:solidFill>
                  </a:tcPr>
                </a:tc>
              </a:tr>
              <a:tr h="420624">
                <a:tc>
                  <a:txBody>
                    <a:bodyPr wrap="square"/>
                    <a:lstStyle/>
                    <a:p>
                      <a:pPr algn="l"/>
                      <a:r>
                        <a:rPr sz="1250" b="1">
                          <a:solidFill>
                            <a:srgbClr val="0B2B4A"/>
                          </a:solidFill>
                          <a:latin typeface="Segoe UI"/>
                        </a:rPr>
                        <a:t>Normal</a:t>
                      </a:r>
                    </a:p>
                  </a:txBody>
                  <a:tcPr marL="91440" marR="91440" marT="27432" marB="27432" anchor="ctr">
                    <a:solidFill>
                      <a:srgbClr val="F3F8FB"/>
                    </a:solidFill>
                  </a:tcPr>
                </a:tc>
                <a:tc>
                  <a:txBody>
                    <a:bodyPr wrap="square"/>
                    <a:lstStyle/>
                    <a:p>
                      <a:pPr algn="r"/>
                      <a:r>
                        <a:rPr sz="1250" b="0">
                          <a:solidFill>
                            <a:srgbClr val="243B53"/>
                          </a:solidFill>
                          <a:latin typeface="Segoe UI"/>
                        </a:rPr>
                        <a:t>0.929</a:t>
                      </a:r>
                    </a:p>
                  </a:txBody>
                  <a:tcPr marL="91440" marR="91440" marT="27432" marB="27432" anchor="ctr">
                    <a:solidFill>
                      <a:srgbClr val="F3F8FB"/>
                    </a:solidFill>
                  </a:tcPr>
                </a:tc>
                <a:tc>
                  <a:txBody>
                    <a:bodyPr wrap="square"/>
                    <a:lstStyle/>
                    <a:p>
                      <a:pPr algn="r"/>
                      <a:r>
                        <a:rPr sz="1250" b="0">
                          <a:solidFill>
                            <a:srgbClr val="243B53"/>
                          </a:solidFill>
                          <a:latin typeface="Segoe UI"/>
                        </a:rPr>
                        <a:t>0.990</a:t>
                      </a:r>
                    </a:p>
                  </a:txBody>
                  <a:tcPr marL="91440" marR="91440" marT="27432" marB="27432" anchor="ctr">
                    <a:solidFill>
                      <a:srgbClr val="F3F8FB"/>
                    </a:solidFill>
                  </a:tcPr>
                </a:tc>
                <a:tc>
                  <a:txBody>
                    <a:bodyPr wrap="square"/>
                    <a:lstStyle/>
                    <a:p>
                      <a:pPr algn="r"/>
                      <a:r>
                        <a:rPr sz="1250" b="0">
                          <a:solidFill>
                            <a:srgbClr val="243B53"/>
                          </a:solidFill>
                          <a:latin typeface="Segoe UI"/>
                        </a:rPr>
                        <a:t>0.959</a:t>
                      </a:r>
                    </a:p>
                  </a:txBody>
                  <a:tcPr marL="91440" marR="91440" marT="27432" marB="27432" anchor="ctr">
                    <a:solidFill>
                      <a:srgbClr val="F3F8FB"/>
                    </a:solidFill>
                  </a:tcPr>
                </a:tc>
                <a:tc>
                  <a:txBody>
                    <a:bodyPr wrap="square"/>
                    <a:lstStyle/>
                    <a:p>
                      <a:pPr algn="r"/>
                      <a:r>
                        <a:rPr sz="1250" b="0">
                          <a:solidFill>
                            <a:srgbClr val="243B53"/>
                          </a:solidFill>
                          <a:latin typeface="Segoe UI"/>
                        </a:rPr>
                        <a:t>491</a:t>
                      </a:r>
                    </a:p>
                  </a:txBody>
                  <a:tcPr marL="91440" marR="91440" marT="27432" marB="27432" anchor="ctr">
                    <a:solidFill>
                      <a:srgbClr val="F3F8FB"/>
                    </a:solidFill>
                  </a:tcPr>
                </a:tc>
              </a:tr>
              <a:tr h="420624">
                <a:tc>
                  <a:txBody>
                    <a:bodyPr wrap="square"/>
                    <a:lstStyle/>
                    <a:p>
                      <a:pPr algn="l"/>
                      <a:r>
                        <a:rPr sz="1250" b="1">
                          <a:solidFill>
                            <a:srgbClr val="0B2B4A"/>
                          </a:solidFill>
                          <a:latin typeface="Segoe UI"/>
                        </a:rPr>
                        <a:t>Bacterial pneumonia</a:t>
                      </a:r>
                    </a:p>
                  </a:txBody>
                  <a:tcPr marL="91440" marR="91440" marT="27432" marB="27432" anchor="ctr">
                    <a:solidFill>
                      <a:srgbClr val="FFFFFF"/>
                    </a:solidFill>
                  </a:tcPr>
                </a:tc>
                <a:tc>
                  <a:txBody>
                    <a:bodyPr wrap="square"/>
                    <a:lstStyle/>
                    <a:p>
                      <a:pPr algn="r"/>
                      <a:r>
                        <a:rPr sz="1250" b="0">
                          <a:solidFill>
                            <a:srgbClr val="243B53"/>
                          </a:solidFill>
                          <a:latin typeface="Segoe UI"/>
                        </a:rPr>
                        <a:t>0.829</a:t>
                      </a:r>
                    </a:p>
                  </a:txBody>
                  <a:tcPr marL="91440" marR="91440" marT="27432" marB="27432" anchor="ctr">
                    <a:solidFill>
                      <a:srgbClr val="FFFFFF"/>
                    </a:solidFill>
                  </a:tcPr>
                </a:tc>
                <a:tc>
                  <a:txBody>
                    <a:bodyPr wrap="square"/>
                    <a:lstStyle/>
                    <a:p>
                      <a:pPr algn="r"/>
                      <a:r>
                        <a:rPr sz="1250" b="0">
                          <a:solidFill>
                            <a:srgbClr val="243B53"/>
                          </a:solidFill>
                          <a:latin typeface="Segoe UI"/>
                        </a:rPr>
                        <a:t>0.764</a:t>
                      </a:r>
                    </a:p>
                  </a:txBody>
                  <a:tcPr marL="91440" marR="91440" marT="27432" marB="27432" anchor="ctr">
                    <a:solidFill>
                      <a:srgbClr val="FFFFFF"/>
                    </a:solidFill>
                  </a:tcPr>
                </a:tc>
                <a:tc>
                  <a:txBody>
                    <a:bodyPr wrap="square"/>
                    <a:lstStyle/>
                    <a:p>
                      <a:pPr algn="r"/>
                      <a:r>
                        <a:rPr sz="1250" b="0">
                          <a:solidFill>
                            <a:srgbClr val="243B53"/>
                          </a:solidFill>
                          <a:latin typeface="Segoe UI"/>
                        </a:rPr>
                        <a:t>0.795</a:t>
                      </a:r>
                    </a:p>
                  </a:txBody>
                  <a:tcPr marL="91440" marR="91440" marT="27432" marB="27432" anchor="ctr">
                    <a:solidFill>
                      <a:srgbClr val="FFFFFF"/>
                    </a:solidFill>
                  </a:tcPr>
                </a:tc>
                <a:tc>
                  <a:txBody>
                    <a:bodyPr wrap="square"/>
                    <a:lstStyle/>
                    <a:p>
                      <a:pPr algn="r"/>
                      <a:r>
                        <a:rPr sz="1250" b="0">
                          <a:solidFill>
                            <a:srgbClr val="243B53"/>
                          </a:solidFill>
                          <a:latin typeface="Segoe UI"/>
                        </a:rPr>
                        <a:t>450</a:t>
                      </a:r>
                    </a:p>
                  </a:txBody>
                  <a:tcPr marL="91440" marR="91440" marT="27432" marB="27432" anchor="ctr">
                    <a:solidFill>
                      <a:srgbClr val="FFFFFF"/>
                    </a:solidFill>
                  </a:tcPr>
                </a:tc>
              </a:tr>
              <a:tr h="420624">
                <a:tc>
                  <a:txBody>
                    <a:bodyPr wrap="square"/>
                    <a:lstStyle/>
                    <a:p>
                      <a:pPr algn="l"/>
                      <a:r>
                        <a:rPr sz="1250" b="1">
                          <a:solidFill>
                            <a:srgbClr val="0B2B4A"/>
                          </a:solidFill>
                          <a:latin typeface="Segoe UI"/>
                        </a:rPr>
                        <a:t>Viral pneumonia</a:t>
                      </a:r>
                    </a:p>
                  </a:txBody>
                  <a:tcPr marL="91440" marR="91440" marT="27432" marB="27432" anchor="ctr">
                    <a:solidFill>
                      <a:srgbClr val="E6F2F7"/>
                    </a:solidFill>
                  </a:tcPr>
                </a:tc>
                <a:tc>
                  <a:txBody>
                    <a:bodyPr wrap="square"/>
                    <a:lstStyle/>
                    <a:p>
                      <a:pPr algn="r"/>
                      <a:r>
                        <a:rPr sz="1250" b="1">
                          <a:solidFill>
                            <a:srgbClr val="0B2B4A"/>
                          </a:solidFill>
                          <a:latin typeface="Segoe UI"/>
                        </a:rPr>
                        <a:t>0.640</a:t>
                      </a:r>
                    </a:p>
                  </a:txBody>
                  <a:tcPr marL="91440" marR="91440" marT="27432" marB="27432" anchor="ctr">
                    <a:solidFill>
                      <a:srgbClr val="E6F2F7"/>
                    </a:solidFill>
                  </a:tcPr>
                </a:tc>
                <a:tc>
                  <a:txBody>
                    <a:bodyPr wrap="square"/>
                    <a:lstStyle/>
                    <a:p>
                      <a:pPr algn="r"/>
                      <a:r>
                        <a:rPr sz="1250" b="1">
                          <a:solidFill>
                            <a:srgbClr val="0B2B4A"/>
                          </a:solidFill>
                          <a:latin typeface="Segoe UI"/>
                        </a:rPr>
                        <a:t>0.643</a:t>
                      </a:r>
                    </a:p>
                  </a:txBody>
                  <a:tcPr marL="91440" marR="91440" marT="27432" marB="27432" anchor="ctr">
                    <a:solidFill>
                      <a:srgbClr val="E6F2F7"/>
                    </a:solidFill>
                  </a:tcPr>
                </a:tc>
                <a:tc>
                  <a:txBody>
                    <a:bodyPr wrap="square"/>
                    <a:lstStyle/>
                    <a:p>
                      <a:pPr algn="r"/>
                      <a:r>
                        <a:rPr sz="1250" b="1">
                          <a:solidFill>
                            <a:srgbClr val="0B2B4A"/>
                          </a:solidFill>
                          <a:latin typeface="Segoe UI"/>
                        </a:rPr>
                        <a:t>0.641</a:t>
                      </a:r>
                    </a:p>
                  </a:txBody>
                  <a:tcPr marL="91440" marR="91440" marT="27432" marB="27432" anchor="ctr">
                    <a:solidFill>
                      <a:srgbClr val="E6F2F7"/>
                    </a:solidFill>
                  </a:tcPr>
                </a:tc>
                <a:tc>
                  <a:txBody>
                    <a:bodyPr wrap="square"/>
                    <a:lstStyle/>
                    <a:p>
                      <a:pPr algn="r"/>
                      <a:r>
                        <a:rPr sz="1250" b="1">
                          <a:solidFill>
                            <a:srgbClr val="0B2B4A"/>
                          </a:solidFill>
                          <a:latin typeface="Segoe UI"/>
                        </a:rPr>
                        <a:t>249</a:t>
                      </a:r>
                    </a:p>
                  </a:txBody>
                  <a:tcPr marL="91440" marR="91440" marT="27432" marB="27432" anchor="ctr">
                    <a:solidFill>
                      <a:srgbClr val="E6F2F7"/>
                    </a:solidFill>
                  </a:tcPr>
                </a:tc>
              </a:tr>
            </a:tbl>
          </a:graphicData>
        </a:graphic>
      </p:graphicFrame>
      <p:sp>
        <p:nvSpPr>
          <p:cNvPr id="9" name="Rounded Rectangle 8"/>
          <p:cNvSpPr/>
          <p:nvPr/>
        </p:nvSpPr>
        <p:spPr>
          <a:xfrm>
            <a:off x="7557516" y="1612241"/>
            <a:ext cx="4160520" cy="2207053"/>
          </a:xfrm>
          <a:prstGeom prst="roundRect">
            <a:avLst>
              <a:gd name="adj" fmla="val 2000"/>
            </a:avLst>
          </a:prstGeom>
          <a:solidFill>
            <a:srgbClr val="FFFFFF"/>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g_perclass_f1.png"/>
          <p:cNvPicPr>
            <a:picLocks noChangeAspect="1"/>
          </p:cNvPicPr>
          <p:nvPr/>
        </p:nvPicPr>
        <p:blipFill>
          <a:blip r:embed="rId2"/>
          <a:stretch>
            <a:fillRect/>
          </a:stretch>
        </p:blipFill>
        <p:spPr>
          <a:xfrm>
            <a:off x="7607808" y="1662533"/>
            <a:ext cx="4059936" cy="2106469"/>
          </a:xfrm>
          <a:prstGeom prst="rect">
            <a:avLst/>
          </a:prstGeom>
          <a:effectLst/>
        </p:spPr>
      </p:pic>
      <p:sp>
        <p:nvSpPr>
          <p:cNvPr id="11" name="Rounded Rectangle 10"/>
          <p:cNvSpPr/>
          <p:nvPr/>
        </p:nvSpPr>
        <p:spPr>
          <a:xfrm>
            <a:off x="658368" y="3803904"/>
            <a:ext cx="3490874" cy="1133856"/>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58368" y="3803904"/>
            <a:ext cx="40640" cy="1133856"/>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 y="3950208"/>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0.979</a:t>
            </a:r>
          </a:p>
        </p:txBody>
      </p:sp>
      <p:sp>
        <p:nvSpPr>
          <p:cNvPr id="14" name="TextBox 13"/>
          <p:cNvSpPr txBox="1"/>
          <p:nvPr/>
        </p:nvSpPr>
        <p:spPr>
          <a:xfrm>
            <a:off x="877824" y="4389120"/>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BEST CLASS  ·  COVID-19 F1</a:t>
            </a:r>
          </a:p>
        </p:txBody>
      </p:sp>
      <p:sp>
        <p:nvSpPr>
          <p:cNvPr id="15" name="TextBox 14"/>
          <p:cNvSpPr txBox="1"/>
          <p:nvPr/>
        </p:nvSpPr>
        <p:spPr>
          <a:xfrm>
            <a:off x="877824" y="4681728"/>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three errors in 192 cases</a:t>
            </a:r>
          </a:p>
        </p:txBody>
      </p:sp>
      <p:sp>
        <p:nvSpPr>
          <p:cNvPr id="16" name="Rounded Rectangle 15"/>
          <p:cNvSpPr/>
          <p:nvPr/>
        </p:nvSpPr>
        <p:spPr>
          <a:xfrm>
            <a:off x="4350410" y="3803904"/>
            <a:ext cx="3490874" cy="1133856"/>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50410" y="3803904"/>
            <a:ext cx="40640" cy="1133856"/>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69866" y="3950208"/>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0.641</a:t>
            </a:r>
          </a:p>
        </p:txBody>
      </p:sp>
      <p:sp>
        <p:nvSpPr>
          <p:cNvPr id="19" name="TextBox 18"/>
          <p:cNvSpPr txBox="1"/>
          <p:nvPr/>
        </p:nvSpPr>
        <p:spPr>
          <a:xfrm>
            <a:off x="4569866" y="4389120"/>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WORST CLASS  ·  VIRAL F1</a:t>
            </a:r>
          </a:p>
        </p:txBody>
      </p:sp>
      <p:sp>
        <p:nvSpPr>
          <p:cNvPr id="20" name="TextBox 19"/>
          <p:cNvSpPr txBox="1"/>
          <p:nvPr/>
        </p:nvSpPr>
        <p:spPr>
          <a:xfrm>
            <a:off x="4569866" y="4681728"/>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recall 0.643</a:t>
            </a:r>
          </a:p>
        </p:txBody>
      </p:sp>
      <p:sp>
        <p:nvSpPr>
          <p:cNvPr id="21" name="Rounded Rectangle 20"/>
          <p:cNvSpPr/>
          <p:nvPr/>
        </p:nvSpPr>
        <p:spPr>
          <a:xfrm>
            <a:off x="8042452" y="3803904"/>
            <a:ext cx="3490874" cy="1133856"/>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042452" y="3803904"/>
            <a:ext cx="40640" cy="1133856"/>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61908" y="3950208"/>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0.34</a:t>
            </a:r>
          </a:p>
        </p:txBody>
      </p:sp>
      <p:sp>
        <p:nvSpPr>
          <p:cNvPr id="24" name="TextBox 23"/>
          <p:cNvSpPr txBox="1"/>
          <p:nvPr/>
        </p:nvSpPr>
        <p:spPr>
          <a:xfrm>
            <a:off x="8261908" y="4389120"/>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F1 SPREAD BEST TO WORST</a:t>
            </a:r>
          </a:p>
        </p:txBody>
      </p:sp>
      <p:sp>
        <p:nvSpPr>
          <p:cNvPr id="25" name="TextBox 24"/>
          <p:cNvSpPr txBox="1"/>
          <p:nvPr/>
        </p:nvSpPr>
        <p:spPr>
          <a:xfrm>
            <a:off x="8261908" y="4681728"/>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concealed by the headline accuracy</a:t>
            </a:r>
          </a:p>
        </p:txBody>
      </p:sp>
      <p:sp>
        <p:nvSpPr>
          <p:cNvPr id="26" name="Rounded Rectangle 25"/>
          <p:cNvSpPr/>
          <p:nvPr/>
        </p:nvSpPr>
        <p:spPr>
          <a:xfrm>
            <a:off x="658368" y="5157216"/>
            <a:ext cx="10874959" cy="548640"/>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58368" y="5157216"/>
            <a:ext cx="40640" cy="548640"/>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96112" y="5276088"/>
            <a:ext cx="10372039" cy="310896"/>
          </a:xfrm>
          <a:prstGeom prst="rect">
            <a:avLst/>
          </a:prstGeom>
          <a:noFill/>
        </p:spPr>
        <p:txBody>
          <a:bodyPr wrap="square" anchor="t" lIns="0" rIns="0" tIns="0" bIns="0">
            <a:spAutoFit/>
          </a:bodyPr>
          <a:lstStyle/>
          <a:p>
            <a:pPr algn="l">
              <a:lnSpc>
                <a:spcPct val="118000"/>
              </a:lnSpc>
              <a:spcAft>
                <a:spcPts val="300"/>
              </a:spcAft>
            </a:pPr>
            <a:r>
              <a:rPr sz="1150" b="0" i="0">
                <a:solidFill>
                  <a:srgbClr val="0E5A72"/>
                </a:solidFill>
                <a:latin typeface="Segoe UI"/>
              </a:rPr>
              <a:t>The ordering of class difficulty is stable across all three architectures, so this is a property of the task rather than of one model.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RQ1  ·  ERROR STRUCTURE</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Where the errors actually are</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29</a:t>
            </a:r>
          </a:p>
        </p:txBody>
      </p:sp>
      <p:sp>
        <p:nvSpPr>
          <p:cNvPr id="8" name="Rounded Rectangle 7"/>
          <p:cNvSpPr/>
          <p:nvPr/>
        </p:nvSpPr>
        <p:spPr>
          <a:xfrm>
            <a:off x="935736" y="1540764"/>
            <a:ext cx="5708904" cy="4306824"/>
          </a:xfrm>
          <a:prstGeom prst="roundRect">
            <a:avLst>
              <a:gd name="adj" fmla="val 2000"/>
            </a:avLst>
          </a:prstGeom>
          <a:solidFill>
            <a:srgbClr val="FFFFFF"/>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ig_cm_densenet.png"/>
          <p:cNvPicPr>
            <a:picLocks noChangeAspect="1"/>
          </p:cNvPicPr>
          <p:nvPr/>
        </p:nvPicPr>
        <p:blipFill>
          <a:blip r:embed="rId2"/>
          <a:stretch>
            <a:fillRect/>
          </a:stretch>
        </p:blipFill>
        <p:spPr>
          <a:xfrm>
            <a:off x="986028" y="1591056"/>
            <a:ext cx="5608320" cy="4206240"/>
          </a:xfrm>
          <a:prstGeom prst="rect">
            <a:avLst/>
          </a:prstGeom>
          <a:effectLst/>
        </p:spPr>
      </p:pic>
      <p:sp>
        <p:nvSpPr>
          <p:cNvPr id="10" name="Rounded Rectangle 9"/>
          <p:cNvSpPr/>
          <p:nvPr/>
        </p:nvSpPr>
        <p:spPr>
          <a:xfrm>
            <a:off x="7150608" y="1591056"/>
            <a:ext cx="4379976" cy="237744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150608" y="1591056"/>
            <a:ext cx="40640" cy="237744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06640" y="1773936"/>
            <a:ext cx="386791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Read the off diagonal</a:t>
            </a:r>
          </a:p>
        </p:txBody>
      </p:sp>
      <p:sp>
        <p:nvSpPr>
          <p:cNvPr id="13" name="Rounded Rectangle 12"/>
          <p:cNvSpPr/>
          <p:nvPr/>
        </p:nvSpPr>
        <p:spPr>
          <a:xfrm>
            <a:off x="7406640" y="2217420"/>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626096" y="2139696"/>
            <a:ext cx="364845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Bacterial mistaken for viral: 87 cases. Viral mistaken for bacterial: 68 cases.</a:t>
            </a:r>
          </a:p>
        </p:txBody>
      </p:sp>
      <p:sp>
        <p:nvSpPr>
          <p:cNvPr id="15" name="Rounded Rectangle 14"/>
          <p:cNvSpPr/>
          <p:nvPr/>
        </p:nvSpPr>
        <p:spPr>
          <a:xfrm>
            <a:off x="7406640" y="271729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626096" y="2639568"/>
            <a:ext cx="364845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Against those 155, only three of 192 COVID-19 cases and five of 491 Normal cases are missed.</a:t>
            </a:r>
          </a:p>
        </p:txBody>
      </p:sp>
      <p:sp>
        <p:nvSpPr>
          <p:cNvPr id="17" name="Rounded Rectangle 16"/>
          <p:cNvSpPr/>
          <p:nvPr/>
        </p:nvSpPr>
        <p:spPr>
          <a:xfrm>
            <a:off x="7406640" y="3217164"/>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26096" y="3139440"/>
            <a:ext cx="3648456" cy="408432"/>
          </a:xfrm>
          <a:prstGeom prst="rect">
            <a:avLst/>
          </a:prstGeom>
          <a:noFill/>
        </p:spPr>
        <p:txBody>
          <a:bodyPr wrap="square" anchor="t" lIns="0" rIns="0" tIns="0" bIns="0">
            <a:spAutoFit/>
          </a:bodyPr>
          <a:lstStyle/>
          <a:p>
            <a:pPr algn="l">
              <a:lnSpc>
                <a:spcPct val="118000"/>
              </a:lnSpc>
              <a:spcAft>
                <a:spcPts val="600"/>
              </a:spcAft>
            </a:pPr>
            <a:r>
              <a:rPr sz="1200" b="0" i="0">
                <a:solidFill>
                  <a:srgbClr val="243B53"/>
                </a:solidFill>
                <a:latin typeface="Segoe UI"/>
              </a:rPr>
              <a:t>The remaining classes are, for practical purposes, solved.</a:t>
            </a:r>
          </a:p>
        </p:txBody>
      </p:sp>
      <p:sp>
        <p:nvSpPr>
          <p:cNvPr id="19" name="Rounded Rectangle 18"/>
          <p:cNvSpPr/>
          <p:nvPr/>
        </p:nvSpPr>
        <p:spPr>
          <a:xfrm>
            <a:off x="7150608" y="4005072"/>
            <a:ext cx="4379976" cy="1170432"/>
          </a:xfrm>
          <a:prstGeom prst="roundRect">
            <a:avLst>
              <a:gd name="adj" fmla="val 10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150608" y="4005072"/>
            <a:ext cx="40640" cy="117043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388352" y="4123944"/>
            <a:ext cx="3877056" cy="932688"/>
          </a:xfrm>
          <a:prstGeom prst="rect">
            <a:avLst/>
          </a:prstGeom>
          <a:noFill/>
        </p:spPr>
        <p:txBody>
          <a:bodyPr wrap="square" anchor="t" lIns="0" rIns="0" tIns="0" bIns="0">
            <a:spAutoFit/>
          </a:bodyPr>
          <a:lstStyle/>
          <a:p>
            <a:pPr algn="l">
              <a:lnSpc>
                <a:spcPct val="118000"/>
              </a:lnSpc>
              <a:spcAft>
                <a:spcPts val="300"/>
              </a:spcAft>
            </a:pPr>
            <a:r>
              <a:rPr sz="1250" b="1" i="0">
                <a:solidFill>
                  <a:srgbClr val="B45309"/>
                </a:solidFill>
                <a:latin typeface="Segoe UI"/>
              </a:rPr>
              <a:t>What the matrix says</a:t>
            </a:r>
          </a:p>
          <a:p>
            <a:pPr algn="l">
              <a:lnSpc>
                <a:spcPct val="118000"/>
              </a:lnSpc>
              <a:spcAft>
                <a:spcPts val="300"/>
              </a:spcAft>
            </a:pPr>
            <a:r>
              <a:rPr sz="1150" b="0" i="0">
                <a:solidFill>
                  <a:srgbClr val="B45309"/>
                </a:solidFill>
                <a:latin typeface="Segoe UI"/>
              </a:rPr>
              <a:t>An easy screening problem with one hard discrimination embedded inside it, and the hard one is the discrimination that drives the antibiotic decision.</a:t>
            </a:r>
          </a:p>
        </p:txBody>
      </p:sp>
      <p:sp>
        <p:nvSpPr>
          <p:cNvPr id="22" name="Rounded Rectangle 21"/>
          <p:cNvSpPr/>
          <p:nvPr/>
        </p:nvSpPr>
        <p:spPr>
          <a:xfrm>
            <a:off x="7150608" y="5321807"/>
            <a:ext cx="4379976" cy="640080"/>
          </a:xfrm>
          <a:prstGeom prst="roundRect">
            <a:avLst>
              <a:gd name="adj" fmla="val 10000"/>
            </a:avLst>
          </a:prstGeom>
          <a:solidFill>
            <a:srgbClr val="E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150608" y="5321807"/>
            <a:ext cx="40640" cy="640080"/>
          </a:xfrm>
          <a:prstGeom prst="rect">
            <a:avLst/>
          </a:prstGeom>
          <a:solidFill>
            <a:srgbClr val="1B6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88352" y="5440679"/>
            <a:ext cx="3877056" cy="402336"/>
          </a:xfrm>
          <a:prstGeom prst="rect">
            <a:avLst/>
          </a:prstGeom>
          <a:noFill/>
        </p:spPr>
        <p:txBody>
          <a:bodyPr wrap="square" anchor="t" lIns="0" rIns="0" tIns="0" bIns="0">
            <a:spAutoFit/>
          </a:bodyPr>
          <a:lstStyle/>
          <a:p>
            <a:pPr algn="l">
              <a:lnSpc>
                <a:spcPct val="118000"/>
              </a:lnSpc>
              <a:spcAft>
                <a:spcPts val="300"/>
              </a:spcAft>
            </a:pPr>
            <a:r>
              <a:rPr sz="1150" b="0" i="0">
                <a:solidFill>
                  <a:srgbClr val="1B6E52"/>
                </a:solidFill>
                <a:latin typeface="Segoe UI"/>
              </a:rPr>
              <a:t>Recast as abnormality screening: sensitivity 95.85 per cent, specificity 98.98 per cent.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RQ1  ·  CONCENTRATION OF ERRORS</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400" b="1" i="0">
                <a:solidFill>
                  <a:srgbClr val="0B2B4A"/>
                </a:solidFill>
                <a:latin typeface="Segoe UI"/>
              </a:rPr>
              <a:t>The dominant error mode is the same in every architecture</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30</a:t>
            </a:r>
          </a:p>
        </p:txBody>
      </p:sp>
      <p:graphicFrame>
        <p:nvGraphicFramePr>
          <p:cNvPr id="8" name="Table 7"/>
          <p:cNvGraphicFramePr>
            <a:graphicFrameLocks noGrp="1"/>
          </p:cNvGraphicFramePr>
          <p:nvPr/>
        </p:nvGraphicFramePr>
        <p:xfrm>
          <a:off x="658368" y="1572768"/>
          <a:ext cx="7406640" cy="1609344"/>
        </p:xfrm>
        <a:graphic>
          <a:graphicData uri="http://schemas.openxmlformats.org/drawingml/2006/table">
            <a:tbl>
              <a:tblPr>
                <a:tableStyleId>{5C22544A-7EE6-4342-B048-85BDC9FD1C3A}</a:tableStyleId>
              </a:tblPr>
              <a:tblGrid>
                <a:gridCol w="2221992"/>
                <a:gridCol w="1481328"/>
                <a:gridCol w="2221992"/>
                <a:gridCol w="1481328"/>
              </a:tblGrid>
              <a:tr h="347472">
                <a:tc>
                  <a:txBody>
                    <a:bodyPr wrap="square"/>
                    <a:lstStyle/>
                    <a:p>
                      <a:pPr algn="l"/>
                      <a:r>
                        <a:rPr sz="1100" b="1">
                          <a:solidFill>
                            <a:srgbClr val="FFFFFF"/>
                          </a:solidFill>
                          <a:latin typeface="Segoe UI"/>
                        </a:rPr>
                        <a:t>Model</a:t>
                      </a:r>
                    </a:p>
                  </a:txBody>
                  <a:tcPr marL="91440" marR="91440" marT="27432" marB="27432" anchor="ctr">
                    <a:solidFill>
                      <a:srgbClr val="0E5A72"/>
                    </a:solidFill>
                  </a:tcPr>
                </a:tc>
                <a:tc>
                  <a:txBody>
                    <a:bodyPr wrap="square"/>
                    <a:lstStyle/>
                    <a:p>
                      <a:pPr algn="r"/>
                      <a:r>
                        <a:rPr sz="1100" b="1">
                          <a:solidFill>
                            <a:srgbClr val="FFFFFF"/>
                          </a:solidFill>
                          <a:latin typeface="Segoe UI"/>
                        </a:rPr>
                        <a:t>Total errors</a:t>
                      </a:r>
                    </a:p>
                  </a:txBody>
                  <a:tcPr marL="91440" marR="91440" marT="27432" marB="27432" anchor="ctr">
                    <a:solidFill>
                      <a:srgbClr val="0E5A72"/>
                    </a:solidFill>
                  </a:tcPr>
                </a:tc>
                <a:tc>
                  <a:txBody>
                    <a:bodyPr wrap="square"/>
                    <a:lstStyle/>
                    <a:p>
                      <a:pPr algn="r"/>
                      <a:r>
                        <a:rPr sz="1100" b="1">
                          <a:solidFill>
                            <a:srgbClr val="FFFFFF"/>
                          </a:solidFill>
                          <a:latin typeface="Segoe UI"/>
                        </a:rPr>
                        <a:t>Bacterial and viral confusions</a:t>
                      </a:r>
                    </a:p>
                  </a:txBody>
                  <a:tcPr marL="91440" marR="91440" marT="27432" marB="27432" anchor="ctr">
                    <a:solidFill>
                      <a:srgbClr val="0E5A72"/>
                    </a:solidFill>
                  </a:tcPr>
                </a:tc>
                <a:tc>
                  <a:txBody>
                    <a:bodyPr wrap="square"/>
                    <a:lstStyle/>
                    <a:p>
                      <a:pPr algn="r"/>
                      <a:r>
                        <a:rPr sz="1100" b="1">
                          <a:solidFill>
                            <a:srgbClr val="FFFFFF"/>
                          </a:solidFill>
                          <a:latin typeface="Segoe UI"/>
                        </a:rPr>
                        <a:t>Share of all errors</a:t>
                      </a:r>
                    </a:p>
                  </a:txBody>
                  <a:tcPr marL="91440" marR="91440" marT="27432" marB="27432" anchor="ctr">
                    <a:solidFill>
                      <a:srgbClr val="0E5A72"/>
                    </a:solidFill>
                  </a:tcPr>
                </a:tc>
              </a:tr>
              <a:tr h="420624">
                <a:tc>
                  <a:txBody>
                    <a:bodyPr wrap="square"/>
                    <a:lstStyle/>
                    <a:p>
                      <a:pPr algn="l"/>
                      <a:r>
                        <a:rPr sz="1250" b="1">
                          <a:solidFill>
                            <a:srgbClr val="0B2B4A"/>
                          </a:solidFill>
                          <a:latin typeface="Segoe UI"/>
                        </a:rPr>
                        <a:t>DenseNet121</a:t>
                      </a:r>
                    </a:p>
                  </a:txBody>
                  <a:tcPr marL="91440" marR="91440" marT="27432" marB="27432" anchor="ctr">
                    <a:solidFill>
                      <a:srgbClr val="E6F2F7"/>
                    </a:solidFill>
                  </a:tcPr>
                </a:tc>
                <a:tc>
                  <a:txBody>
                    <a:bodyPr wrap="square"/>
                    <a:lstStyle/>
                    <a:p>
                      <a:pPr algn="r"/>
                      <a:r>
                        <a:rPr sz="1250" b="1">
                          <a:solidFill>
                            <a:srgbClr val="0B2B4A"/>
                          </a:solidFill>
                          <a:latin typeface="Segoe UI"/>
                        </a:rPr>
                        <a:t>203</a:t>
                      </a:r>
                    </a:p>
                  </a:txBody>
                  <a:tcPr marL="91440" marR="91440" marT="27432" marB="27432" anchor="ctr">
                    <a:solidFill>
                      <a:srgbClr val="E6F2F7"/>
                    </a:solidFill>
                  </a:tcPr>
                </a:tc>
                <a:tc>
                  <a:txBody>
                    <a:bodyPr wrap="square"/>
                    <a:lstStyle/>
                    <a:p>
                      <a:pPr algn="r"/>
                      <a:r>
                        <a:rPr sz="1250" b="1">
                          <a:solidFill>
                            <a:srgbClr val="0B2B4A"/>
                          </a:solidFill>
                          <a:latin typeface="Segoe UI"/>
                        </a:rPr>
                        <a:t>155</a:t>
                      </a:r>
                    </a:p>
                  </a:txBody>
                  <a:tcPr marL="91440" marR="91440" marT="27432" marB="27432" anchor="ctr">
                    <a:solidFill>
                      <a:srgbClr val="E6F2F7"/>
                    </a:solidFill>
                  </a:tcPr>
                </a:tc>
                <a:tc>
                  <a:txBody>
                    <a:bodyPr wrap="square"/>
                    <a:lstStyle/>
                    <a:p>
                      <a:pPr algn="r"/>
                      <a:r>
                        <a:rPr sz="1250" b="1">
                          <a:solidFill>
                            <a:srgbClr val="0B2B4A"/>
                          </a:solidFill>
                          <a:latin typeface="Segoe UI"/>
                        </a:rPr>
                        <a:t>76.4 %</a:t>
                      </a:r>
                    </a:p>
                  </a:txBody>
                  <a:tcPr marL="91440" marR="91440" marT="27432" marB="27432" anchor="ctr">
                    <a:solidFill>
                      <a:srgbClr val="E6F2F7"/>
                    </a:solidFill>
                  </a:tcPr>
                </a:tc>
              </a:tr>
              <a:tr h="420624">
                <a:tc>
                  <a:txBody>
                    <a:bodyPr wrap="square"/>
                    <a:lstStyle/>
                    <a:p>
                      <a:pPr algn="l"/>
                      <a:r>
                        <a:rPr sz="1250" b="1">
                          <a:solidFill>
                            <a:srgbClr val="0B2B4A"/>
                          </a:solidFill>
                          <a:latin typeface="Segoe UI"/>
                        </a:rPr>
                        <a:t>EfficientNetV2B3</a:t>
                      </a:r>
                    </a:p>
                  </a:txBody>
                  <a:tcPr marL="91440" marR="91440" marT="27432" marB="27432" anchor="ctr">
                    <a:solidFill>
                      <a:srgbClr val="F3F8FB"/>
                    </a:solidFill>
                  </a:tcPr>
                </a:tc>
                <a:tc>
                  <a:txBody>
                    <a:bodyPr wrap="square"/>
                    <a:lstStyle/>
                    <a:p>
                      <a:pPr algn="r"/>
                      <a:r>
                        <a:rPr sz="1250" b="0">
                          <a:solidFill>
                            <a:srgbClr val="243B53"/>
                          </a:solidFill>
                          <a:latin typeface="Segoe UI"/>
                        </a:rPr>
                        <a:t>217</a:t>
                      </a:r>
                    </a:p>
                  </a:txBody>
                  <a:tcPr marL="91440" marR="91440" marT="27432" marB="27432" anchor="ctr">
                    <a:solidFill>
                      <a:srgbClr val="F3F8FB"/>
                    </a:solidFill>
                  </a:tcPr>
                </a:tc>
                <a:tc>
                  <a:txBody>
                    <a:bodyPr wrap="square"/>
                    <a:lstStyle/>
                    <a:p>
                      <a:pPr algn="r"/>
                      <a:r>
                        <a:rPr sz="1250" b="0">
                          <a:solidFill>
                            <a:srgbClr val="243B53"/>
                          </a:solidFill>
                          <a:latin typeface="Segoe UI"/>
                        </a:rPr>
                        <a:t>150</a:t>
                      </a:r>
                    </a:p>
                  </a:txBody>
                  <a:tcPr marL="91440" marR="91440" marT="27432" marB="27432" anchor="ctr">
                    <a:solidFill>
                      <a:srgbClr val="F3F8FB"/>
                    </a:solidFill>
                  </a:tcPr>
                </a:tc>
                <a:tc>
                  <a:txBody>
                    <a:bodyPr wrap="square"/>
                    <a:lstStyle/>
                    <a:p>
                      <a:pPr algn="r"/>
                      <a:r>
                        <a:rPr sz="1250" b="0">
                          <a:solidFill>
                            <a:srgbClr val="243B53"/>
                          </a:solidFill>
                          <a:latin typeface="Segoe UI"/>
                        </a:rPr>
                        <a:t>69.1 %</a:t>
                      </a:r>
                    </a:p>
                  </a:txBody>
                  <a:tcPr marL="91440" marR="91440" marT="27432" marB="27432" anchor="ctr">
                    <a:solidFill>
                      <a:srgbClr val="F3F8FB"/>
                    </a:solidFill>
                  </a:tcPr>
                </a:tc>
              </a:tr>
              <a:tr h="420624">
                <a:tc>
                  <a:txBody>
                    <a:bodyPr wrap="square"/>
                    <a:lstStyle/>
                    <a:p>
                      <a:pPr algn="l"/>
                      <a:r>
                        <a:rPr sz="1250" b="1">
                          <a:solidFill>
                            <a:srgbClr val="0B2B4A"/>
                          </a:solidFill>
                          <a:latin typeface="Segoe UI"/>
                        </a:rPr>
                        <a:t>EfficientNetV2S</a:t>
                      </a:r>
                    </a:p>
                  </a:txBody>
                  <a:tcPr marL="91440" marR="91440" marT="27432" marB="27432" anchor="ctr">
                    <a:solidFill>
                      <a:srgbClr val="FFFFFF"/>
                    </a:solidFill>
                  </a:tcPr>
                </a:tc>
                <a:tc>
                  <a:txBody>
                    <a:bodyPr wrap="square"/>
                    <a:lstStyle/>
                    <a:p>
                      <a:pPr algn="r"/>
                      <a:r>
                        <a:rPr sz="1250" b="0">
                          <a:solidFill>
                            <a:srgbClr val="243B53"/>
                          </a:solidFill>
                          <a:latin typeface="Segoe UI"/>
                        </a:rPr>
                        <a:t>269</a:t>
                      </a:r>
                    </a:p>
                  </a:txBody>
                  <a:tcPr marL="91440" marR="91440" marT="27432" marB="27432" anchor="ctr">
                    <a:solidFill>
                      <a:srgbClr val="FFFFFF"/>
                    </a:solidFill>
                  </a:tcPr>
                </a:tc>
                <a:tc>
                  <a:txBody>
                    <a:bodyPr wrap="square"/>
                    <a:lstStyle/>
                    <a:p>
                      <a:pPr algn="r"/>
                      <a:r>
                        <a:rPr sz="1250" b="0">
                          <a:solidFill>
                            <a:srgbClr val="243B53"/>
                          </a:solidFill>
                          <a:latin typeface="Segoe UI"/>
                        </a:rPr>
                        <a:t>187</a:t>
                      </a:r>
                    </a:p>
                  </a:txBody>
                  <a:tcPr marL="91440" marR="91440" marT="27432" marB="27432" anchor="ctr">
                    <a:solidFill>
                      <a:srgbClr val="FFFFFF"/>
                    </a:solidFill>
                  </a:tcPr>
                </a:tc>
                <a:tc>
                  <a:txBody>
                    <a:bodyPr wrap="square"/>
                    <a:lstStyle/>
                    <a:p>
                      <a:pPr algn="r"/>
                      <a:r>
                        <a:rPr sz="1250" b="0">
                          <a:solidFill>
                            <a:srgbClr val="243B53"/>
                          </a:solidFill>
                          <a:latin typeface="Segoe UI"/>
                        </a:rPr>
                        <a:t>69.5 %</a:t>
                      </a:r>
                    </a:p>
                  </a:txBody>
                  <a:tcPr marL="91440" marR="91440" marT="27432" marB="27432" anchor="ctr">
                    <a:solidFill>
                      <a:srgbClr val="FFFFFF"/>
                    </a:solidFill>
                  </a:tcPr>
                </a:tc>
              </a:tr>
            </a:tbl>
          </a:graphicData>
        </a:graphic>
      </p:graphicFrame>
      <p:sp>
        <p:nvSpPr>
          <p:cNvPr id="9" name="Rounded Rectangle 8"/>
          <p:cNvSpPr/>
          <p:nvPr/>
        </p:nvSpPr>
        <p:spPr>
          <a:xfrm>
            <a:off x="8293608" y="1572768"/>
            <a:ext cx="3236976" cy="201168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293608" y="1572768"/>
            <a:ext cx="40640" cy="201168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49640" y="1755648"/>
            <a:ext cx="272491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Reference points</a:t>
            </a:r>
          </a:p>
        </p:txBody>
      </p:sp>
      <p:sp>
        <p:nvSpPr>
          <p:cNvPr id="12" name="Rounded Rectangle 11"/>
          <p:cNvSpPr/>
          <p:nvPr/>
        </p:nvSpPr>
        <p:spPr>
          <a:xfrm>
            <a:off x="8549640" y="219913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69096" y="2121408"/>
            <a:ext cx="250545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Always predicting Normal: 35.53 per cent accuracy, macro F1 0.131.</a:t>
            </a:r>
          </a:p>
        </p:txBody>
      </p:sp>
      <p:sp>
        <p:nvSpPr>
          <p:cNvPr id="14" name="Rounded Rectangle 13"/>
          <p:cNvSpPr/>
          <p:nvPr/>
        </p:nvSpPr>
        <p:spPr>
          <a:xfrm>
            <a:off x="8549640" y="2681986"/>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769096" y="2604262"/>
            <a:ext cx="2505456" cy="195707"/>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A random ranking: AUROC 0.500.</a:t>
            </a:r>
          </a:p>
        </p:txBody>
      </p:sp>
      <p:sp>
        <p:nvSpPr>
          <p:cNvPr id="16" name="Rounded Rectangle 15"/>
          <p:cNvSpPr/>
          <p:nvPr/>
        </p:nvSpPr>
        <p:spPr>
          <a:xfrm>
            <a:off x="658368" y="3675888"/>
            <a:ext cx="10874959" cy="1810512"/>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58368" y="3675888"/>
            <a:ext cx="40640" cy="1810512"/>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858768"/>
            <a:ext cx="10362895"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What follows for deployment</a:t>
            </a:r>
          </a:p>
        </p:txBody>
      </p:sp>
      <p:sp>
        <p:nvSpPr>
          <p:cNvPr id="19" name="Rounded Rectangle 18"/>
          <p:cNvSpPr/>
          <p:nvPr/>
        </p:nvSpPr>
        <p:spPr>
          <a:xfrm>
            <a:off x="914400" y="430225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33856" y="4224528"/>
            <a:ext cx="10143439" cy="425450"/>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Between 69 and 76 per cent of every model’s errors are a single confusion between two classes, which matches radiological expectation: the two present with overlapping appearances.</a:t>
            </a:r>
          </a:p>
        </p:txBody>
      </p:sp>
      <p:sp>
        <p:nvSpPr>
          <p:cNvPr id="21" name="Rounded Rectangle 20"/>
          <p:cNvSpPr/>
          <p:nvPr/>
        </p:nvSpPr>
        <p:spPr>
          <a:xfrm>
            <a:off x="914400" y="481914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133856" y="4741418"/>
            <a:ext cx="10143439" cy="425450"/>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The implication is specific rather than general. The system is defensible as a screening aid that flags radiographs warranting expert review.</a:t>
            </a:r>
          </a:p>
        </p:txBody>
      </p:sp>
      <p:sp>
        <p:nvSpPr>
          <p:cNvPr id="23" name="Rounded Rectangle 22"/>
          <p:cNvSpPr/>
          <p:nvPr/>
        </p:nvSpPr>
        <p:spPr>
          <a:xfrm>
            <a:off x="914400" y="533603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33856" y="5258308"/>
            <a:ext cx="10143439" cy="212725"/>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It is not defensible as a classifier of aetiology, because a viral recall of 0.643 cannot guide an antibiotic decision.</a:t>
            </a:r>
          </a:p>
        </p:txBody>
      </p:sp>
      <p:sp>
        <p:nvSpPr>
          <p:cNvPr id="25" name="Rounded Rectangle 24"/>
          <p:cNvSpPr/>
          <p:nvPr/>
        </p:nvSpPr>
        <p:spPr>
          <a:xfrm>
            <a:off x="658368" y="5614416"/>
            <a:ext cx="10874959" cy="621792"/>
          </a:xfrm>
          <a:prstGeom prst="roundRect">
            <a:avLst>
              <a:gd name="adj" fmla="val 10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58368" y="5614416"/>
            <a:ext cx="40640" cy="6217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6112" y="5733288"/>
            <a:ext cx="10372039" cy="384048"/>
          </a:xfrm>
          <a:prstGeom prst="rect">
            <a:avLst/>
          </a:prstGeom>
          <a:noFill/>
        </p:spPr>
        <p:txBody>
          <a:bodyPr wrap="square" anchor="t" lIns="0" rIns="0" tIns="0" bIns="0">
            <a:spAutoFit/>
          </a:bodyPr>
          <a:lstStyle/>
          <a:p>
            <a:pPr algn="l">
              <a:lnSpc>
                <a:spcPct val="118000"/>
              </a:lnSpc>
              <a:spcAft>
                <a:spcPts val="300"/>
              </a:spcAft>
            </a:pPr>
            <a:r>
              <a:rPr sz="1150" b="0" i="0">
                <a:solidFill>
                  <a:srgbClr val="B45309"/>
                </a:solidFill>
                <a:latin typeface="Segoe UI"/>
              </a:rPr>
              <a:t>This inverts the usual framing, The system is close to solved on the distinctions the headline accuracy is composed of, and concentrated in difficulty on the one that carries the consequence.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RQ2  ·  INPUT VALIDITY DETECTION</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Both operating criteria met, and one signal fails</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31</a:t>
            </a:r>
          </a:p>
        </p:txBody>
      </p:sp>
      <p:sp>
        <p:nvSpPr>
          <p:cNvPr id="8" name="Rounded Rectangle 7"/>
          <p:cNvSpPr/>
          <p:nvPr/>
        </p:nvSpPr>
        <p:spPr>
          <a:xfrm>
            <a:off x="658368" y="1572768"/>
            <a:ext cx="3490874" cy="1298448"/>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40640" cy="129844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 y="1719072"/>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92.5 %</a:t>
            </a:r>
          </a:p>
        </p:txBody>
      </p:sp>
      <p:sp>
        <p:nvSpPr>
          <p:cNvPr id="11" name="TextBox 10"/>
          <p:cNvSpPr txBox="1"/>
          <p:nvPr/>
        </p:nvSpPr>
        <p:spPr>
          <a:xfrm>
            <a:off x="877824" y="2157984"/>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GENUINE SCANS RETAINED</a:t>
            </a:r>
          </a:p>
        </p:txBody>
      </p:sp>
      <p:sp>
        <p:nvSpPr>
          <p:cNvPr id="12" name="TextBox 11"/>
          <p:cNvSpPr txBox="1"/>
          <p:nvPr/>
        </p:nvSpPr>
        <p:spPr>
          <a:xfrm>
            <a:off x="877824" y="2450592"/>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test partition. NFR2 floor is 90 %</a:t>
            </a:r>
          </a:p>
        </p:txBody>
      </p:sp>
      <p:sp>
        <p:nvSpPr>
          <p:cNvPr id="13" name="Rounded Rectangle 12"/>
          <p:cNvSpPr/>
          <p:nvPr/>
        </p:nvSpPr>
        <p:spPr>
          <a:xfrm>
            <a:off x="4350410" y="1572768"/>
            <a:ext cx="3490874" cy="1298448"/>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50410" y="1572768"/>
            <a:ext cx="40640" cy="129844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69866" y="1719072"/>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100 %</a:t>
            </a:r>
          </a:p>
        </p:txBody>
      </p:sp>
      <p:sp>
        <p:nvSpPr>
          <p:cNvPr id="16" name="TextBox 15"/>
          <p:cNvSpPr txBox="1"/>
          <p:nvPr/>
        </p:nvSpPr>
        <p:spPr>
          <a:xfrm>
            <a:off x="4569866" y="2157984"/>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FAR PROBE FLAGGED</a:t>
            </a:r>
          </a:p>
        </p:txBody>
      </p:sp>
      <p:sp>
        <p:nvSpPr>
          <p:cNvPr id="17" name="TextBox 16"/>
          <p:cNvSpPr txBox="1"/>
          <p:nvPr/>
        </p:nvSpPr>
        <p:spPr>
          <a:xfrm>
            <a:off x="4569866" y="2450592"/>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all 60 generated images. NFR3 floor is 95 %</a:t>
            </a:r>
          </a:p>
        </p:txBody>
      </p:sp>
      <p:sp>
        <p:nvSpPr>
          <p:cNvPr id="18" name="Rounded Rectangle 17"/>
          <p:cNvSpPr/>
          <p:nvPr/>
        </p:nvSpPr>
        <p:spPr>
          <a:xfrm>
            <a:off x="8042452" y="1572768"/>
            <a:ext cx="3490874" cy="1298448"/>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42452" y="1572768"/>
            <a:ext cx="40640" cy="1298448"/>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61908" y="1719072"/>
            <a:ext cx="3125114"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1.000</a:t>
            </a:r>
          </a:p>
        </p:txBody>
      </p:sp>
      <p:sp>
        <p:nvSpPr>
          <p:cNvPr id="21" name="TextBox 20"/>
          <p:cNvSpPr txBox="1"/>
          <p:nvPr/>
        </p:nvSpPr>
        <p:spPr>
          <a:xfrm>
            <a:off x="8261908" y="2157984"/>
            <a:ext cx="3125114"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MAHALANOBIS AUROC</a:t>
            </a:r>
          </a:p>
        </p:txBody>
      </p:sp>
      <p:sp>
        <p:nvSpPr>
          <p:cNvPr id="22" name="TextBox 21"/>
          <p:cNvSpPr txBox="1"/>
          <p:nvPr/>
        </p:nvSpPr>
        <p:spPr>
          <a:xfrm>
            <a:off x="8261908" y="2450592"/>
            <a:ext cx="3125114"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against energy at 0.539</a:t>
            </a:r>
          </a:p>
        </p:txBody>
      </p:sp>
      <p:graphicFrame>
        <p:nvGraphicFramePr>
          <p:cNvPr id="23" name="Table 22"/>
          <p:cNvGraphicFramePr>
            <a:graphicFrameLocks noGrp="1"/>
          </p:cNvGraphicFramePr>
          <p:nvPr/>
        </p:nvGraphicFramePr>
        <p:xfrm>
          <a:off x="658368" y="3127248"/>
          <a:ext cx="6720839" cy="2688336"/>
        </p:xfrm>
        <a:graphic>
          <a:graphicData uri="http://schemas.openxmlformats.org/drawingml/2006/table">
            <a:tbl>
              <a:tblPr>
                <a:tableStyleId>{5C22544A-7EE6-4342-B048-85BDC9FD1C3A}</a:tableStyleId>
              </a:tblPr>
              <a:tblGrid>
                <a:gridCol w="4166920"/>
                <a:gridCol w="2553919"/>
              </a:tblGrid>
              <a:tr h="347472">
                <a:tc>
                  <a:txBody>
                    <a:bodyPr wrap="square"/>
                    <a:lstStyle/>
                    <a:p>
                      <a:pPr algn="l"/>
                      <a:r>
                        <a:rPr sz="1100" b="1">
                          <a:solidFill>
                            <a:srgbClr val="FFFFFF"/>
                          </a:solidFill>
                          <a:latin typeface="Segoe UI"/>
                        </a:rPr>
                        <a:t>Quantity</a:t>
                      </a:r>
                    </a:p>
                  </a:txBody>
                  <a:tcPr marL="91440" marR="91440" marT="27432" marB="27432" anchor="ctr">
                    <a:solidFill>
                      <a:srgbClr val="0E5A72"/>
                    </a:solidFill>
                  </a:tcPr>
                </a:tc>
                <a:tc>
                  <a:txBody>
                    <a:bodyPr wrap="square"/>
                    <a:lstStyle/>
                    <a:p>
                      <a:pPr algn="r"/>
                      <a:r>
                        <a:rPr sz="1100" b="1">
                          <a:solidFill>
                            <a:srgbClr val="FFFFFF"/>
                          </a:solidFill>
                          <a:latin typeface="Segoe UI"/>
                        </a:rPr>
                        <a:t>Value</a:t>
                      </a:r>
                    </a:p>
                  </a:txBody>
                  <a:tcPr marL="91440" marR="91440" marT="27432" marB="27432" anchor="ctr">
                    <a:solidFill>
                      <a:srgbClr val="0E5A72"/>
                    </a:solidFill>
                  </a:tcPr>
                </a:tc>
              </a:tr>
              <a:tr h="292608">
                <a:tc>
                  <a:txBody>
                    <a:bodyPr wrap="square"/>
                    <a:lstStyle/>
                    <a:p>
                      <a:pPr algn="l"/>
                      <a:r>
                        <a:rPr sz="1150" b="1">
                          <a:solidFill>
                            <a:srgbClr val="0B2B4A"/>
                          </a:solidFill>
                          <a:latin typeface="Segoe UI"/>
                        </a:rPr>
                        <a:t>Feature dimensionality</a:t>
                      </a:r>
                    </a:p>
                  </a:txBody>
                  <a:tcPr marL="91440" marR="91440" marT="27432" marB="27432" anchor="ctr">
                    <a:solidFill>
                      <a:srgbClr val="FFFFFF"/>
                    </a:solidFill>
                  </a:tcPr>
                </a:tc>
                <a:tc>
                  <a:txBody>
                    <a:bodyPr wrap="square"/>
                    <a:lstStyle/>
                    <a:p>
                      <a:pPr algn="r"/>
                      <a:r>
                        <a:rPr sz="1150" b="0">
                          <a:solidFill>
                            <a:srgbClr val="243B53"/>
                          </a:solidFill>
                          <a:latin typeface="Segoe UI"/>
                        </a:rPr>
                        <a:t>256</a:t>
                      </a:r>
                    </a:p>
                  </a:txBody>
                  <a:tcPr marL="91440" marR="91440" marT="27432" marB="27432" anchor="ctr">
                    <a:solidFill>
                      <a:srgbClr val="FFFFFF"/>
                    </a:solidFill>
                  </a:tcPr>
                </a:tc>
              </a:tr>
              <a:tr h="292608">
                <a:tc>
                  <a:txBody>
                    <a:bodyPr wrap="square"/>
                    <a:lstStyle/>
                    <a:p>
                      <a:pPr algn="l"/>
                      <a:r>
                        <a:rPr sz="1150" b="1">
                          <a:solidFill>
                            <a:srgbClr val="0B2B4A"/>
                          </a:solidFill>
                          <a:latin typeface="Segoe UI"/>
                        </a:rPr>
                        <a:t>Calibration sample</a:t>
                      </a:r>
                    </a:p>
                  </a:txBody>
                  <a:tcPr marL="91440" marR="91440" marT="27432" marB="27432" anchor="ctr">
                    <a:solidFill>
                      <a:srgbClr val="F3F8FB"/>
                    </a:solidFill>
                  </a:tcPr>
                </a:tc>
                <a:tc>
                  <a:txBody>
                    <a:bodyPr wrap="square"/>
                    <a:lstStyle/>
                    <a:p>
                      <a:pPr algn="r"/>
                      <a:r>
                        <a:rPr sz="1150" b="0">
                          <a:solidFill>
                            <a:srgbClr val="243B53"/>
                          </a:solidFill>
                          <a:latin typeface="Segoe UI"/>
                        </a:rPr>
                        <a:t>1,200 training and 600 validation</a:t>
                      </a:r>
                    </a:p>
                  </a:txBody>
                  <a:tcPr marL="91440" marR="91440" marT="27432" marB="27432" anchor="ctr">
                    <a:solidFill>
                      <a:srgbClr val="F3F8FB"/>
                    </a:solidFill>
                  </a:tcPr>
                </a:tc>
              </a:tr>
              <a:tr h="292608">
                <a:tc>
                  <a:txBody>
                    <a:bodyPr wrap="square"/>
                    <a:lstStyle/>
                    <a:p>
                      <a:pPr algn="l"/>
                      <a:r>
                        <a:rPr sz="1150" b="1">
                          <a:solidFill>
                            <a:srgbClr val="0B2B4A"/>
                          </a:solidFill>
                          <a:latin typeface="Segoe UI"/>
                        </a:rPr>
                        <a:t>Retention on validation, where thresholds were set</a:t>
                      </a:r>
                    </a:p>
                  </a:txBody>
                  <a:tcPr marL="91440" marR="91440" marT="27432" marB="27432" anchor="ctr">
                    <a:solidFill>
                      <a:srgbClr val="FFFFFF"/>
                    </a:solidFill>
                  </a:tcPr>
                </a:tc>
                <a:tc>
                  <a:txBody>
                    <a:bodyPr wrap="square"/>
                    <a:lstStyle/>
                    <a:p>
                      <a:pPr algn="r"/>
                      <a:r>
                        <a:rPr sz="1150" b="0">
                          <a:solidFill>
                            <a:srgbClr val="243B53"/>
                          </a:solidFill>
                          <a:latin typeface="Segoe UI"/>
                        </a:rPr>
                        <a:t>95.0 %</a:t>
                      </a:r>
                    </a:p>
                  </a:txBody>
                  <a:tcPr marL="91440" marR="91440" marT="27432" marB="27432" anchor="ctr">
                    <a:solidFill>
                      <a:srgbClr val="FFFFFF"/>
                    </a:solidFill>
                  </a:tcPr>
                </a:tc>
              </a:tr>
              <a:tr h="292608">
                <a:tc>
                  <a:txBody>
                    <a:bodyPr wrap="square"/>
                    <a:lstStyle/>
                    <a:p>
                      <a:pPr algn="l"/>
                      <a:r>
                        <a:rPr sz="1150" b="1">
                          <a:solidFill>
                            <a:srgbClr val="0B2B4A"/>
                          </a:solidFill>
                          <a:latin typeface="Segoe UI"/>
                        </a:rPr>
                        <a:t>Retention on the test partition</a:t>
                      </a:r>
                    </a:p>
                  </a:txBody>
                  <a:tcPr marL="91440" marR="91440" marT="27432" marB="27432" anchor="ctr">
                    <a:solidFill>
                      <a:srgbClr val="F3F8FB"/>
                    </a:solidFill>
                  </a:tcPr>
                </a:tc>
                <a:tc>
                  <a:txBody>
                    <a:bodyPr wrap="square"/>
                    <a:lstStyle/>
                    <a:p>
                      <a:pPr algn="r"/>
                      <a:r>
                        <a:rPr sz="1150" b="0">
                          <a:solidFill>
                            <a:srgbClr val="243B53"/>
                          </a:solidFill>
                          <a:latin typeface="Segoe UI"/>
                        </a:rPr>
                        <a:t>92.5 %</a:t>
                      </a:r>
                    </a:p>
                  </a:txBody>
                  <a:tcPr marL="91440" marR="91440" marT="27432" marB="27432" anchor="ctr">
                    <a:solidFill>
                      <a:srgbClr val="F3F8FB"/>
                    </a:solidFill>
                  </a:tcPr>
                </a:tc>
              </a:tr>
              <a:tr h="292608">
                <a:tc>
                  <a:txBody>
                    <a:bodyPr wrap="square"/>
                    <a:lstStyle/>
                    <a:p>
                      <a:pPr algn="l"/>
                      <a:r>
                        <a:rPr sz="1150" b="1">
                          <a:solidFill>
                            <a:srgbClr val="0B2B4A"/>
                          </a:solidFill>
                          <a:latin typeface="Segoe UI"/>
                        </a:rPr>
                        <a:t>Far probe flagged</a:t>
                      </a:r>
                    </a:p>
                  </a:txBody>
                  <a:tcPr marL="91440" marR="91440" marT="27432" marB="27432" anchor="ctr">
                    <a:solidFill>
                      <a:srgbClr val="FFFFFF"/>
                    </a:solidFill>
                  </a:tcPr>
                </a:tc>
                <a:tc>
                  <a:txBody>
                    <a:bodyPr wrap="square"/>
                    <a:lstStyle/>
                    <a:p>
                      <a:pPr algn="r"/>
                      <a:r>
                        <a:rPr sz="1150" b="0">
                          <a:solidFill>
                            <a:srgbClr val="243B53"/>
                          </a:solidFill>
                          <a:latin typeface="Segoe UI"/>
                        </a:rPr>
                        <a:t>100 % of 60 images</a:t>
                      </a:r>
                    </a:p>
                  </a:txBody>
                  <a:tcPr marL="91440" marR="91440" marT="27432" marB="27432" anchor="ctr">
                    <a:solidFill>
                      <a:srgbClr val="FFFFFF"/>
                    </a:solidFill>
                  </a:tcPr>
                </a:tc>
              </a:tr>
              <a:tr h="292608">
                <a:tc>
                  <a:txBody>
                    <a:bodyPr wrap="square"/>
                    <a:lstStyle/>
                    <a:p>
                      <a:pPr algn="l"/>
                      <a:r>
                        <a:rPr sz="1150" b="1">
                          <a:solidFill>
                            <a:srgbClr val="0B2B4A"/>
                          </a:solidFill>
                          <a:latin typeface="Segoe UI"/>
                        </a:rPr>
                        <a:t>AUROC, Mahalanobis, far probe</a:t>
                      </a:r>
                    </a:p>
                  </a:txBody>
                  <a:tcPr marL="91440" marR="91440" marT="27432" marB="27432" anchor="ctr">
                    <a:solidFill>
                      <a:srgbClr val="F3F8FB"/>
                    </a:solidFill>
                  </a:tcPr>
                </a:tc>
                <a:tc>
                  <a:txBody>
                    <a:bodyPr wrap="square"/>
                    <a:lstStyle/>
                    <a:p>
                      <a:pPr algn="r"/>
                      <a:r>
                        <a:rPr sz="1150" b="0">
                          <a:solidFill>
                            <a:srgbClr val="243B53"/>
                          </a:solidFill>
                          <a:latin typeface="Segoe UI"/>
                        </a:rPr>
                        <a:t>1.000</a:t>
                      </a:r>
                    </a:p>
                  </a:txBody>
                  <a:tcPr marL="91440" marR="91440" marT="27432" marB="27432" anchor="ctr">
                    <a:solidFill>
                      <a:srgbClr val="F3F8FB"/>
                    </a:solidFill>
                  </a:tcPr>
                </a:tc>
              </a:tr>
              <a:tr h="292608">
                <a:tc>
                  <a:txBody>
                    <a:bodyPr wrap="square"/>
                    <a:lstStyle/>
                    <a:p>
                      <a:pPr algn="l"/>
                      <a:r>
                        <a:rPr sz="1150" b="1">
                          <a:solidFill>
                            <a:srgbClr val="0B2B4A"/>
                          </a:solidFill>
                          <a:latin typeface="Segoe UI"/>
                        </a:rPr>
                        <a:t>AUROC, energy, far probe</a:t>
                      </a:r>
                    </a:p>
                  </a:txBody>
                  <a:tcPr marL="91440" marR="91440" marT="27432" marB="27432" anchor="ctr">
                    <a:solidFill>
                      <a:srgbClr val="E6F2F7"/>
                    </a:solidFill>
                  </a:tcPr>
                </a:tc>
                <a:tc>
                  <a:txBody>
                    <a:bodyPr wrap="square"/>
                    <a:lstStyle/>
                    <a:p>
                      <a:pPr algn="r"/>
                      <a:r>
                        <a:rPr sz="1150" b="1">
                          <a:solidFill>
                            <a:srgbClr val="0B2B4A"/>
                          </a:solidFill>
                          <a:latin typeface="Segoe UI"/>
                        </a:rPr>
                        <a:t>0.539</a:t>
                      </a:r>
                    </a:p>
                  </a:txBody>
                  <a:tcPr marL="91440" marR="91440" marT="27432" marB="27432" anchor="ctr">
                    <a:solidFill>
                      <a:srgbClr val="E6F2F7"/>
                    </a:solidFill>
                  </a:tcPr>
                </a:tc>
              </a:tr>
              <a:tr h="292608">
                <a:tc>
                  <a:txBody>
                    <a:bodyPr wrap="square"/>
                    <a:lstStyle/>
                    <a:p>
                      <a:pPr algn="l"/>
                      <a:r>
                        <a:rPr sz="1150" b="1">
                          <a:solidFill>
                            <a:srgbClr val="0B2B4A"/>
                          </a:solidFill>
                          <a:latin typeface="Segoe UI"/>
                        </a:rPr>
                        <a:t>Deployed decision policy</a:t>
                      </a:r>
                    </a:p>
                  </a:txBody>
                  <a:tcPr marL="91440" marR="91440" marT="27432" marB="27432" anchor="ctr">
                    <a:solidFill>
                      <a:srgbClr val="F3F8FB"/>
                    </a:solidFill>
                  </a:tcPr>
                </a:tc>
                <a:tc>
                  <a:txBody>
                    <a:bodyPr wrap="square"/>
                    <a:lstStyle/>
                    <a:p>
                      <a:pPr algn="r"/>
                      <a:r>
                        <a:rPr sz="1150" b="0">
                          <a:solidFill>
                            <a:srgbClr val="243B53"/>
                          </a:solidFill>
                          <a:latin typeface="Segoe UI"/>
                        </a:rPr>
                        <a:t>Mahalanobis</a:t>
                      </a:r>
                    </a:p>
                  </a:txBody>
                  <a:tcPr marL="91440" marR="91440" marT="27432" marB="27432" anchor="ctr">
                    <a:solidFill>
                      <a:srgbClr val="F3F8FB"/>
                    </a:solidFill>
                  </a:tcPr>
                </a:tc>
              </a:tr>
            </a:tbl>
          </a:graphicData>
        </a:graphic>
      </p:graphicFrame>
      <p:sp>
        <p:nvSpPr>
          <p:cNvPr id="24" name="Rounded Rectangle 23"/>
          <p:cNvSpPr/>
          <p:nvPr/>
        </p:nvSpPr>
        <p:spPr>
          <a:xfrm>
            <a:off x="7607808" y="3127248"/>
            <a:ext cx="3922776" cy="1874519"/>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607808" y="3127248"/>
            <a:ext cx="40640" cy="1874519"/>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863840" y="3310128"/>
            <a:ext cx="341071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The negative result is the informative one</a:t>
            </a:r>
          </a:p>
        </p:txBody>
      </p:sp>
      <p:sp>
        <p:nvSpPr>
          <p:cNvPr id="27" name="Rounded Rectangle 26"/>
          <p:cNvSpPr/>
          <p:nvPr/>
        </p:nvSpPr>
        <p:spPr>
          <a:xfrm>
            <a:off x="7863840" y="375361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083296" y="3675888"/>
            <a:ext cx="3191256" cy="587121"/>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Energy is a function of the logits. If a model produces large logits for inputs it has never seen, energy cannot separate them.</a:t>
            </a:r>
          </a:p>
        </p:txBody>
      </p:sp>
      <p:sp>
        <p:nvSpPr>
          <p:cNvPr id="29" name="Rounded Rectangle 28"/>
          <p:cNvSpPr/>
          <p:nvPr/>
        </p:nvSpPr>
        <p:spPr>
          <a:xfrm>
            <a:off x="7863840" y="4432173"/>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083296" y="4354449"/>
            <a:ext cx="3191256" cy="587121"/>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That is exactly the documented overconfidence. Mahalanobis operates before that collapse, in feature space.</a:t>
            </a:r>
          </a:p>
        </p:txBody>
      </p:sp>
      <p:sp>
        <p:nvSpPr>
          <p:cNvPr id="31" name="Rounded Rectangle 30"/>
          <p:cNvSpPr/>
          <p:nvPr/>
        </p:nvSpPr>
        <p:spPr>
          <a:xfrm>
            <a:off x="7863840" y="5110734"/>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83296" y="5033010"/>
            <a:ext cx="319125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Which signal works has to be measured, not adopted on authority.</a:t>
            </a:r>
          </a:p>
        </p:txBody>
      </p:sp>
      <p:sp>
        <p:nvSpPr>
          <p:cNvPr id="33" name="Rounded Rectangle 32"/>
          <p:cNvSpPr/>
          <p:nvPr/>
        </p:nvSpPr>
        <p:spPr>
          <a:xfrm>
            <a:off x="7607808" y="5157216"/>
            <a:ext cx="3922776" cy="914400"/>
          </a:xfrm>
          <a:prstGeom prst="roundRect">
            <a:avLst>
              <a:gd name="adj" fmla="val 10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7607808" y="5157216"/>
            <a:ext cx="40640" cy="9144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845552" y="5276088"/>
            <a:ext cx="3419856" cy="676656"/>
          </a:xfrm>
          <a:prstGeom prst="rect">
            <a:avLst/>
          </a:prstGeom>
          <a:noFill/>
        </p:spPr>
        <p:txBody>
          <a:bodyPr wrap="square" anchor="t" lIns="0" rIns="0" tIns="0" bIns="0">
            <a:spAutoFit/>
          </a:bodyPr>
          <a:lstStyle/>
          <a:p>
            <a:pPr algn="l">
              <a:lnSpc>
                <a:spcPct val="118000"/>
              </a:lnSpc>
              <a:spcAft>
                <a:spcPts val="300"/>
              </a:spcAft>
            </a:pPr>
            <a:r>
              <a:rPr sz="1250" b="1" i="0">
                <a:solidFill>
                  <a:srgbClr val="B45309"/>
                </a:solidFill>
                <a:latin typeface="Segoe UI"/>
              </a:rPr>
              <a:t>Stated limitation</a:t>
            </a:r>
          </a:p>
          <a:p>
            <a:pPr algn="l">
              <a:lnSpc>
                <a:spcPct val="118000"/>
              </a:lnSpc>
              <a:spcAft>
                <a:spcPts val="300"/>
              </a:spcAft>
            </a:pPr>
            <a:r>
              <a:rPr sz="1150" b="0" i="0">
                <a:solidFill>
                  <a:srgbClr val="B45309"/>
                </a:solidFill>
                <a:latin typeface="Segoe UI"/>
              </a:rPr>
              <a:t>Sixty generated images of noise, gradients and solid colour from a fixed seed. A far regime sanity check, not validation against real photographs.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SYSTEM TESTING</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Ten test cases against the running stack, all passed</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32</a:t>
            </a:r>
          </a:p>
        </p:txBody>
      </p:sp>
      <p:graphicFrame>
        <p:nvGraphicFramePr>
          <p:cNvPr id="8" name="Table 7"/>
          <p:cNvGraphicFramePr>
            <a:graphicFrameLocks noGrp="1"/>
          </p:cNvGraphicFramePr>
          <p:nvPr/>
        </p:nvGraphicFramePr>
        <p:xfrm>
          <a:off x="658368" y="1572768"/>
          <a:ext cx="7452358" cy="3639312"/>
        </p:xfrm>
        <a:graphic>
          <a:graphicData uri="http://schemas.openxmlformats.org/drawingml/2006/table">
            <a:tbl>
              <a:tblPr>
                <a:tableStyleId>{5C22544A-7EE6-4342-B048-85BDC9FD1C3A}</a:tableStyleId>
              </a:tblPr>
              <a:tblGrid>
                <a:gridCol w="447141"/>
                <a:gridCol w="2533802"/>
                <a:gridCol w="3577132"/>
                <a:gridCol w="894283"/>
              </a:tblGrid>
              <a:tr h="347472">
                <a:tc>
                  <a:txBody>
                    <a:bodyPr wrap="square"/>
                    <a:lstStyle/>
                    <a:p>
                      <a:pPr algn="ctr"/>
                      <a:r>
                        <a:rPr sz="1050" b="1">
                          <a:solidFill>
                            <a:srgbClr val="FFFFFF"/>
                          </a:solidFill>
                          <a:latin typeface="Segoe UI"/>
                        </a:rPr>
                        <a:t>ID</a:t>
                      </a:r>
                    </a:p>
                  </a:txBody>
                  <a:tcPr marL="91440" marR="91440" marT="27432" marB="27432" anchor="ctr">
                    <a:solidFill>
                      <a:srgbClr val="0E5A72"/>
                    </a:solidFill>
                  </a:tcPr>
                </a:tc>
                <a:tc>
                  <a:txBody>
                    <a:bodyPr wrap="square"/>
                    <a:lstStyle/>
                    <a:p>
                      <a:pPr algn="l"/>
                      <a:r>
                        <a:rPr sz="1050" b="1">
                          <a:solidFill>
                            <a:srgbClr val="FFFFFF"/>
                          </a:solidFill>
                          <a:latin typeface="Segoe UI"/>
                        </a:rPr>
                        <a:t>Test</a:t>
                      </a:r>
                    </a:p>
                  </a:txBody>
                  <a:tcPr marL="91440" marR="91440" marT="27432" marB="27432" anchor="ctr">
                    <a:solidFill>
                      <a:srgbClr val="0E5A72"/>
                    </a:solidFill>
                  </a:tcPr>
                </a:tc>
                <a:tc>
                  <a:txBody>
                    <a:bodyPr wrap="square"/>
                    <a:lstStyle/>
                    <a:p>
                      <a:pPr algn="l"/>
                      <a:r>
                        <a:rPr sz="1050" b="1">
                          <a:solidFill>
                            <a:srgbClr val="FFFFFF"/>
                          </a:solidFill>
                          <a:latin typeface="Segoe UI"/>
                        </a:rPr>
                        <a:t>Expected</a:t>
                      </a:r>
                    </a:p>
                  </a:txBody>
                  <a:tcPr marL="91440" marR="91440" marT="27432" marB="27432" anchor="ctr">
                    <a:solidFill>
                      <a:srgbClr val="0E5A72"/>
                    </a:solidFill>
                  </a:tcPr>
                </a:tc>
                <a:tc>
                  <a:txBody>
                    <a:bodyPr wrap="square"/>
                    <a:lstStyle/>
                    <a:p>
                      <a:pPr algn="ctr"/>
                      <a:r>
                        <a:rPr sz="1050" b="1">
                          <a:solidFill>
                            <a:srgbClr val="FFFFFF"/>
                          </a:solidFill>
                          <a:latin typeface="Segoe UI"/>
                        </a:rPr>
                        <a:t>Result</a:t>
                      </a:r>
                    </a:p>
                  </a:txBody>
                  <a:tcPr marL="91440" marR="91440" marT="27432" marB="27432" anchor="ctr">
                    <a:solidFill>
                      <a:srgbClr val="0E5A72"/>
                    </a:solidFill>
                  </a:tcPr>
                </a:tc>
              </a:tr>
              <a:tr h="329184">
                <a:tc>
                  <a:txBody>
                    <a:bodyPr wrap="square"/>
                    <a:lstStyle/>
                    <a:p>
                      <a:pPr algn="ctr"/>
                      <a:r>
                        <a:rPr sz="1050" b="1">
                          <a:solidFill>
                            <a:srgbClr val="0B2B4A"/>
                          </a:solidFill>
                          <a:latin typeface="Segoe UI"/>
                        </a:rPr>
                        <a:t>T1</a:t>
                      </a:r>
                    </a:p>
                  </a:txBody>
                  <a:tcPr marL="91440" marR="91440" marT="27432" marB="27432" anchor="ctr">
                    <a:solidFill>
                      <a:srgbClr val="FFFFFF"/>
                    </a:solidFill>
                  </a:tcPr>
                </a:tc>
                <a:tc>
                  <a:txBody>
                    <a:bodyPr wrap="square"/>
                    <a:lstStyle/>
                    <a:p>
                      <a:pPr algn="l"/>
                      <a:r>
                        <a:rPr sz="1050" b="0">
                          <a:solidFill>
                            <a:srgbClr val="243B53"/>
                          </a:solidFill>
                          <a:latin typeface="Segoe UI"/>
                        </a:rPr>
                        <a:t>Upload a genuine test radiograph</a:t>
                      </a:r>
                    </a:p>
                  </a:txBody>
                  <a:tcPr marL="91440" marR="91440" marT="27432" marB="27432" anchor="ctr">
                    <a:solidFill>
                      <a:srgbClr val="FFFFFF"/>
                    </a:solidFill>
                  </a:tcPr>
                </a:tc>
                <a:tc>
                  <a:txBody>
                    <a:bodyPr wrap="square"/>
                    <a:lstStyle/>
                    <a:p>
                      <a:pPr algn="l"/>
                      <a:r>
                        <a:rPr sz="1050" b="0">
                          <a:solidFill>
                            <a:srgbClr val="243B53"/>
                          </a:solidFill>
                          <a:latin typeface="Segoe UI"/>
                        </a:rPr>
                        <a:t>One class with four probabilities summing to 100 %</a:t>
                      </a:r>
                    </a:p>
                  </a:txBody>
                  <a:tcPr marL="91440" marR="91440" marT="27432" marB="27432" anchor="ctr">
                    <a:solidFill>
                      <a:srgbClr val="FFFFFF"/>
                    </a:solidFill>
                  </a:tcPr>
                </a:tc>
                <a:tc>
                  <a:txBody>
                    <a:bodyPr wrap="square"/>
                    <a:lstStyle/>
                    <a:p>
                      <a:pPr algn="ctr"/>
                      <a:r>
                        <a:rPr sz="1050" b="0">
                          <a:solidFill>
                            <a:srgbClr val="243B53"/>
                          </a:solidFill>
                          <a:latin typeface="Segoe UI"/>
                        </a:rPr>
                        <a:t>Pass</a:t>
                      </a:r>
                    </a:p>
                  </a:txBody>
                  <a:tcPr marL="91440" marR="91440" marT="27432" marB="27432" anchor="ctr">
                    <a:solidFill>
                      <a:srgbClr val="FFFFFF"/>
                    </a:solidFill>
                  </a:tcPr>
                </a:tc>
              </a:tr>
              <a:tr h="329184">
                <a:tc>
                  <a:txBody>
                    <a:bodyPr wrap="square"/>
                    <a:lstStyle/>
                    <a:p>
                      <a:pPr algn="ctr"/>
                      <a:r>
                        <a:rPr sz="1050" b="1">
                          <a:solidFill>
                            <a:srgbClr val="0B2B4A"/>
                          </a:solidFill>
                          <a:latin typeface="Segoe UI"/>
                        </a:rPr>
                        <a:t>T2</a:t>
                      </a:r>
                    </a:p>
                  </a:txBody>
                  <a:tcPr marL="91440" marR="91440" marT="27432" marB="27432" anchor="ctr">
                    <a:solidFill>
                      <a:srgbClr val="F3F8FB"/>
                    </a:solidFill>
                  </a:tcPr>
                </a:tc>
                <a:tc>
                  <a:txBody>
                    <a:bodyPr wrap="square"/>
                    <a:lstStyle/>
                    <a:p>
                      <a:pPr algn="l"/>
                      <a:r>
                        <a:rPr sz="1050" b="0">
                          <a:solidFill>
                            <a:srgbClr val="243B53"/>
                          </a:solidFill>
                          <a:latin typeface="Segoe UI"/>
                        </a:rPr>
                        <a:t>Upload a synthetic noise image</a:t>
                      </a:r>
                    </a:p>
                  </a:txBody>
                  <a:tcPr marL="91440" marR="91440" marT="27432" marB="27432" anchor="ctr">
                    <a:solidFill>
                      <a:srgbClr val="F3F8FB"/>
                    </a:solidFill>
                  </a:tcPr>
                </a:tc>
                <a:tc>
                  <a:txBody>
                    <a:bodyPr wrap="square"/>
                    <a:lstStyle/>
                    <a:p>
                      <a:pPr algn="l"/>
                      <a:r>
                        <a:rPr sz="1050" b="0">
                          <a:solidFill>
                            <a:srgbClr val="243B53"/>
                          </a:solidFill>
                          <a:latin typeface="Segoe UI"/>
                        </a:rPr>
                        <a:t>Diagnosis withheld, feature space signal named</a:t>
                      </a:r>
                    </a:p>
                  </a:txBody>
                  <a:tcPr marL="91440" marR="91440" marT="27432" marB="27432" anchor="ctr">
                    <a:solidFill>
                      <a:srgbClr val="F3F8FB"/>
                    </a:solidFill>
                  </a:tcPr>
                </a:tc>
                <a:tc>
                  <a:txBody>
                    <a:bodyPr wrap="square"/>
                    <a:lstStyle/>
                    <a:p>
                      <a:pPr algn="ctr"/>
                      <a:r>
                        <a:rPr sz="1050" b="0">
                          <a:solidFill>
                            <a:srgbClr val="243B53"/>
                          </a:solidFill>
                          <a:latin typeface="Segoe UI"/>
                        </a:rPr>
                        <a:t>Pass</a:t>
                      </a:r>
                    </a:p>
                  </a:txBody>
                  <a:tcPr marL="91440" marR="91440" marT="27432" marB="27432" anchor="ctr">
                    <a:solidFill>
                      <a:srgbClr val="F3F8FB"/>
                    </a:solidFill>
                  </a:tcPr>
                </a:tc>
              </a:tr>
              <a:tr h="329184">
                <a:tc>
                  <a:txBody>
                    <a:bodyPr wrap="square"/>
                    <a:lstStyle/>
                    <a:p>
                      <a:pPr algn="ctr"/>
                      <a:r>
                        <a:rPr sz="1050" b="1">
                          <a:solidFill>
                            <a:srgbClr val="0B2B4A"/>
                          </a:solidFill>
                          <a:latin typeface="Segoe UI"/>
                        </a:rPr>
                        <a:t>T3</a:t>
                      </a:r>
                    </a:p>
                  </a:txBody>
                  <a:tcPr marL="91440" marR="91440" marT="27432" marB="27432" anchor="ctr">
                    <a:solidFill>
                      <a:srgbClr val="FFFFFF"/>
                    </a:solidFill>
                  </a:tcPr>
                </a:tc>
                <a:tc>
                  <a:txBody>
                    <a:bodyPr wrap="square"/>
                    <a:lstStyle/>
                    <a:p>
                      <a:pPr algn="l"/>
                      <a:r>
                        <a:rPr sz="1050" b="0">
                          <a:solidFill>
                            <a:srgbClr val="243B53"/>
                          </a:solidFill>
                          <a:latin typeface="Segoe UI"/>
                        </a:rPr>
                        <a:t>Reopen a withheld case</a:t>
                      </a:r>
                    </a:p>
                  </a:txBody>
                  <a:tcPr marL="91440" marR="91440" marT="27432" marB="27432" anchor="ctr">
                    <a:solidFill>
                      <a:srgbClr val="FFFFFF"/>
                    </a:solidFill>
                  </a:tcPr>
                </a:tc>
                <a:tc>
                  <a:txBody>
                    <a:bodyPr wrap="square"/>
                    <a:lstStyle/>
                    <a:p>
                      <a:pPr algn="l"/>
                      <a:r>
                        <a:rPr sz="1050" b="0">
                          <a:solidFill>
                            <a:srgbClr val="243B53"/>
                          </a:solidFill>
                          <a:latin typeface="Segoe UI"/>
                        </a:rPr>
                        <a:t>Withholding persists, no diagnosis shown</a:t>
                      </a:r>
                    </a:p>
                  </a:txBody>
                  <a:tcPr marL="91440" marR="91440" marT="27432" marB="27432" anchor="ctr">
                    <a:solidFill>
                      <a:srgbClr val="FFFFFF"/>
                    </a:solidFill>
                  </a:tcPr>
                </a:tc>
                <a:tc>
                  <a:txBody>
                    <a:bodyPr wrap="square"/>
                    <a:lstStyle/>
                    <a:p>
                      <a:pPr algn="ctr"/>
                      <a:r>
                        <a:rPr sz="1050" b="0">
                          <a:solidFill>
                            <a:srgbClr val="243B53"/>
                          </a:solidFill>
                          <a:latin typeface="Segoe UI"/>
                        </a:rPr>
                        <a:t>Pass</a:t>
                      </a:r>
                    </a:p>
                  </a:txBody>
                  <a:tcPr marL="91440" marR="91440" marT="27432" marB="27432" anchor="ctr">
                    <a:solidFill>
                      <a:srgbClr val="FFFFFF"/>
                    </a:solidFill>
                  </a:tcPr>
                </a:tc>
              </a:tr>
              <a:tr h="329184">
                <a:tc>
                  <a:txBody>
                    <a:bodyPr wrap="square"/>
                    <a:lstStyle/>
                    <a:p>
                      <a:pPr algn="ctr"/>
                      <a:r>
                        <a:rPr sz="1050" b="1">
                          <a:solidFill>
                            <a:srgbClr val="0B2B4A"/>
                          </a:solidFill>
                          <a:latin typeface="Segoe UI"/>
                        </a:rPr>
                        <a:t>T4</a:t>
                      </a:r>
                    </a:p>
                  </a:txBody>
                  <a:tcPr marL="91440" marR="91440" marT="27432" marB="27432" anchor="ctr">
                    <a:solidFill>
                      <a:srgbClr val="F3F8FB"/>
                    </a:solidFill>
                  </a:tcPr>
                </a:tc>
                <a:tc>
                  <a:txBody>
                    <a:bodyPr wrap="square"/>
                    <a:lstStyle/>
                    <a:p>
                      <a:pPr algn="l"/>
                      <a:r>
                        <a:rPr sz="1050" b="0">
                          <a:solidFill>
                            <a:srgbClr val="243B53"/>
                          </a:solidFill>
                          <a:latin typeface="Segoe UI"/>
                        </a:rPr>
                        <a:t>Report a withheld case</a:t>
                      </a:r>
                    </a:p>
                  </a:txBody>
                  <a:tcPr marL="91440" marR="91440" marT="27432" marB="27432" anchor="ctr">
                    <a:solidFill>
                      <a:srgbClr val="F3F8FB"/>
                    </a:solidFill>
                  </a:tcPr>
                </a:tc>
                <a:tc>
                  <a:txBody>
                    <a:bodyPr wrap="square"/>
                    <a:lstStyle/>
                    <a:p>
                      <a:pPr algn="l"/>
                      <a:r>
                        <a:rPr sz="1050" b="0">
                          <a:solidFill>
                            <a:srgbClr val="243B53"/>
                          </a:solidFill>
                          <a:latin typeface="Segoe UI"/>
                        </a:rPr>
                        <a:t>Notice occupies the diagnosis position, all three languages</a:t>
                      </a:r>
                    </a:p>
                  </a:txBody>
                  <a:tcPr marL="91440" marR="91440" marT="27432" marB="27432" anchor="ctr">
                    <a:solidFill>
                      <a:srgbClr val="F3F8FB"/>
                    </a:solidFill>
                  </a:tcPr>
                </a:tc>
                <a:tc>
                  <a:txBody>
                    <a:bodyPr wrap="square"/>
                    <a:lstStyle/>
                    <a:p>
                      <a:pPr algn="ctr"/>
                      <a:r>
                        <a:rPr sz="1050" b="0">
                          <a:solidFill>
                            <a:srgbClr val="243B53"/>
                          </a:solidFill>
                          <a:latin typeface="Segoe UI"/>
                        </a:rPr>
                        <a:t>Pass</a:t>
                      </a:r>
                    </a:p>
                  </a:txBody>
                  <a:tcPr marL="91440" marR="91440" marT="27432" marB="27432" anchor="ctr">
                    <a:solidFill>
                      <a:srgbClr val="F3F8FB"/>
                    </a:solidFill>
                  </a:tcPr>
                </a:tc>
              </a:tr>
              <a:tr h="329184">
                <a:tc>
                  <a:txBody>
                    <a:bodyPr wrap="square"/>
                    <a:lstStyle/>
                    <a:p>
                      <a:pPr algn="ctr"/>
                      <a:r>
                        <a:rPr sz="1050" b="1">
                          <a:solidFill>
                            <a:srgbClr val="0B2B4A"/>
                          </a:solidFill>
                          <a:latin typeface="Segoe UI"/>
                        </a:rPr>
                        <a:t>T5</a:t>
                      </a:r>
                    </a:p>
                  </a:txBody>
                  <a:tcPr marL="91440" marR="91440" marT="27432" marB="27432" anchor="ctr">
                    <a:solidFill>
                      <a:srgbClr val="FFFFFF"/>
                    </a:solidFill>
                  </a:tcPr>
                </a:tc>
                <a:tc>
                  <a:txBody>
                    <a:bodyPr wrap="square"/>
                    <a:lstStyle/>
                    <a:p>
                      <a:pPr algn="l"/>
                      <a:r>
                        <a:rPr sz="1050" b="0">
                          <a:solidFill>
                            <a:srgbClr val="243B53"/>
                          </a:solidFill>
                          <a:latin typeface="Segoe UI"/>
                        </a:rPr>
                        <a:t>Upload where lung fields are found</a:t>
                      </a:r>
                    </a:p>
                  </a:txBody>
                  <a:tcPr marL="91440" marR="91440" marT="27432" marB="27432" anchor="ctr">
                    <a:solidFill>
                      <a:srgbClr val="FFFFFF"/>
                    </a:solidFill>
                  </a:tcPr>
                </a:tc>
                <a:tc>
                  <a:txBody>
                    <a:bodyPr wrap="square"/>
                    <a:lstStyle/>
                    <a:p>
                      <a:pPr algn="l"/>
                      <a:r>
                        <a:rPr sz="1050" b="0">
                          <a:solidFill>
                            <a:srgbClr val="243B53"/>
                          </a:solidFill>
                          <a:latin typeface="Segoe UI"/>
                        </a:rPr>
                        <a:t>Heatmap restricted to the lungs, fraction returned</a:t>
                      </a:r>
                    </a:p>
                  </a:txBody>
                  <a:tcPr marL="91440" marR="91440" marT="27432" marB="27432" anchor="ctr">
                    <a:solidFill>
                      <a:srgbClr val="FFFFFF"/>
                    </a:solidFill>
                  </a:tcPr>
                </a:tc>
                <a:tc>
                  <a:txBody>
                    <a:bodyPr wrap="square"/>
                    <a:lstStyle/>
                    <a:p>
                      <a:pPr algn="ctr"/>
                      <a:r>
                        <a:rPr sz="1050" b="0">
                          <a:solidFill>
                            <a:srgbClr val="243B53"/>
                          </a:solidFill>
                          <a:latin typeface="Segoe UI"/>
                        </a:rPr>
                        <a:t>Pass</a:t>
                      </a:r>
                    </a:p>
                  </a:txBody>
                  <a:tcPr marL="91440" marR="91440" marT="27432" marB="27432" anchor="ctr">
                    <a:solidFill>
                      <a:srgbClr val="FFFFFF"/>
                    </a:solidFill>
                  </a:tcPr>
                </a:tc>
              </a:tr>
              <a:tr h="329184">
                <a:tc>
                  <a:txBody>
                    <a:bodyPr wrap="square"/>
                    <a:lstStyle/>
                    <a:p>
                      <a:pPr algn="ctr"/>
                      <a:r>
                        <a:rPr sz="1050" b="1">
                          <a:solidFill>
                            <a:srgbClr val="0B2B4A"/>
                          </a:solidFill>
                          <a:latin typeface="Segoe UI"/>
                        </a:rPr>
                        <a:t>T6</a:t>
                      </a:r>
                    </a:p>
                  </a:txBody>
                  <a:tcPr marL="91440" marR="91440" marT="27432" marB="27432" anchor="ctr">
                    <a:solidFill>
                      <a:srgbClr val="F3F8FB"/>
                    </a:solidFill>
                  </a:tcPr>
                </a:tc>
                <a:tc>
                  <a:txBody>
                    <a:bodyPr wrap="square"/>
                    <a:lstStyle/>
                    <a:p>
                      <a:pPr algn="l"/>
                      <a:r>
                        <a:rPr sz="1050" b="0">
                          <a:solidFill>
                            <a:srgbClr val="243B53"/>
                          </a:solidFill>
                          <a:latin typeface="Segoe UI"/>
                        </a:rPr>
                        <a:t>Scan with low in lung attention</a:t>
                      </a:r>
                    </a:p>
                  </a:txBody>
                  <a:tcPr marL="91440" marR="91440" marT="27432" marB="27432" anchor="ctr">
                    <a:solidFill>
                      <a:srgbClr val="F3F8FB"/>
                    </a:solidFill>
                  </a:tcPr>
                </a:tc>
                <a:tc>
                  <a:txBody>
                    <a:bodyPr wrap="square"/>
                    <a:lstStyle/>
                    <a:p>
                      <a:pPr algn="l"/>
                      <a:r>
                        <a:rPr sz="1050" b="0">
                          <a:solidFill>
                            <a:srgbClr val="243B53"/>
                          </a:solidFill>
                          <a:latin typeface="Segoe UI"/>
                        </a:rPr>
                        <a:t>Caution states the measured percentage</a:t>
                      </a:r>
                    </a:p>
                  </a:txBody>
                  <a:tcPr marL="91440" marR="91440" marT="27432" marB="27432" anchor="ctr">
                    <a:solidFill>
                      <a:srgbClr val="F3F8FB"/>
                    </a:solidFill>
                  </a:tcPr>
                </a:tc>
                <a:tc>
                  <a:txBody>
                    <a:bodyPr wrap="square"/>
                    <a:lstStyle/>
                    <a:p>
                      <a:pPr algn="ctr"/>
                      <a:r>
                        <a:rPr sz="1050" b="0">
                          <a:solidFill>
                            <a:srgbClr val="243B53"/>
                          </a:solidFill>
                          <a:latin typeface="Segoe UI"/>
                        </a:rPr>
                        <a:t>Pass</a:t>
                      </a:r>
                    </a:p>
                  </a:txBody>
                  <a:tcPr marL="91440" marR="91440" marT="27432" marB="27432" anchor="ctr">
                    <a:solidFill>
                      <a:srgbClr val="F3F8FB"/>
                    </a:solidFill>
                  </a:tcPr>
                </a:tc>
              </a:tr>
              <a:tr h="329184">
                <a:tc>
                  <a:txBody>
                    <a:bodyPr wrap="square"/>
                    <a:lstStyle/>
                    <a:p>
                      <a:pPr algn="ctr"/>
                      <a:r>
                        <a:rPr sz="1050" b="1">
                          <a:solidFill>
                            <a:srgbClr val="0B2B4A"/>
                          </a:solidFill>
                          <a:latin typeface="Segoe UI"/>
                        </a:rPr>
                        <a:t>T7</a:t>
                      </a:r>
                    </a:p>
                  </a:txBody>
                  <a:tcPr marL="91440" marR="91440" marT="27432" marB="27432" anchor="ctr">
                    <a:solidFill>
                      <a:srgbClr val="FFFFFF"/>
                    </a:solidFill>
                  </a:tcPr>
                </a:tc>
                <a:tc>
                  <a:txBody>
                    <a:bodyPr wrap="square"/>
                    <a:lstStyle/>
                    <a:p>
                      <a:pPr algn="l"/>
                      <a:r>
                        <a:rPr sz="1050" b="0">
                          <a:solidFill>
                            <a:srgbClr val="243B53"/>
                          </a:solidFill>
                          <a:latin typeface="Segoe UI"/>
                        </a:rPr>
                        <a:t>Force the explanation path to fail</a:t>
                      </a:r>
                    </a:p>
                  </a:txBody>
                  <a:tcPr marL="91440" marR="91440" marT="27432" marB="27432" anchor="ctr">
                    <a:solidFill>
                      <a:srgbClr val="FFFFFF"/>
                    </a:solidFill>
                  </a:tcPr>
                </a:tc>
                <a:tc>
                  <a:txBody>
                    <a:bodyPr wrap="square"/>
                    <a:lstStyle/>
                    <a:p>
                      <a:pPr algn="l"/>
                      <a:r>
                        <a:rPr sz="1050" b="0">
                          <a:solidFill>
                            <a:srgbClr val="243B53"/>
                          </a:solidFill>
                          <a:latin typeface="Segoe UI"/>
                        </a:rPr>
                        <a:t>Prediction returned, explanation degraded</a:t>
                      </a:r>
                    </a:p>
                  </a:txBody>
                  <a:tcPr marL="91440" marR="91440" marT="27432" marB="27432" anchor="ctr">
                    <a:solidFill>
                      <a:srgbClr val="FFFFFF"/>
                    </a:solidFill>
                  </a:tcPr>
                </a:tc>
                <a:tc>
                  <a:txBody>
                    <a:bodyPr wrap="square"/>
                    <a:lstStyle/>
                    <a:p>
                      <a:pPr algn="ctr"/>
                      <a:r>
                        <a:rPr sz="1050" b="0">
                          <a:solidFill>
                            <a:srgbClr val="243B53"/>
                          </a:solidFill>
                          <a:latin typeface="Segoe UI"/>
                        </a:rPr>
                        <a:t>Pass</a:t>
                      </a:r>
                    </a:p>
                  </a:txBody>
                  <a:tcPr marL="91440" marR="91440" marT="27432" marB="27432" anchor="ctr">
                    <a:solidFill>
                      <a:srgbClr val="FFFFFF"/>
                    </a:solidFill>
                  </a:tcPr>
                </a:tc>
              </a:tr>
              <a:tr h="329184">
                <a:tc>
                  <a:txBody>
                    <a:bodyPr wrap="square"/>
                    <a:lstStyle/>
                    <a:p>
                      <a:pPr algn="ctr"/>
                      <a:r>
                        <a:rPr sz="1050" b="1">
                          <a:solidFill>
                            <a:srgbClr val="0B2B4A"/>
                          </a:solidFill>
                          <a:latin typeface="Segoe UI"/>
                        </a:rPr>
                        <a:t>T8</a:t>
                      </a:r>
                    </a:p>
                  </a:txBody>
                  <a:tcPr marL="91440" marR="91440" marT="27432" marB="27432" anchor="ctr">
                    <a:solidFill>
                      <a:srgbClr val="F3F8FB"/>
                    </a:solidFill>
                  </a:tcPr>
                </a:tc>
                <a:tc>
                  <a:txBody>
                    <a:bodyPr wrap="square"/>
                    <a:lstStyle/>
                    <a:p>
                      <a:pPr algn="l"/>
                      <a:r>
                        <a:rPr sz="1050" b="0">
                          <a:solidFill>
                            <a:srgbClr val="243B53"/>
                          </a:solidFill>
                          <a:latin typeface="Segoe UI"/>
                        </a:rPr>
                        <a:t>Stop the service and upload</a:t>
                      </a:r>
                    </a:p>
                  </a:txBody>
                  <a:tcPr marL="91440" marR="91440" marT="27432" marB="27432" anchor="ctr">
                    <a:solidFill>
                      <a:srgbClr val="F3F8FB"/>
                    </a:solidFill>
                  </a:tcPr>
                </a:tc>
                <a:tc>
                  <a:txBody>
                    <a:bodyPr wrap="square"/>
                    <a:lstStyle/>
                    <a:p>
                      <a:pPr algn="l"/>
                      <a:r>
                        <a:rPr sz="1050" b="0">
                          <a:solidFill>
                            <a:srgbClr val="243B53"/>
                          </a:solidFill>
                          <a:latin typeface="Segoe UI"/>
                        </a:rPr>
                        <a:t>Explicit error, upload removed, no record</a:t>
                      </a:r>
                    </a:p>
                  </a:txBody>
                  <a:tcPr marL="91440" marR="91440" marT="27432" marB="27432" anchor="ctr">
                    <a:solidFill>
                      <a:srgbClr val="F3F8FB"/>
                    </a:solidFill>
                  </a:tcPr>
                </a:tc>
                <a:tc>
                  <a:txBody>
                    <a:bodyPr wrap="square"/>
                    <a:lstStyle/>
                    <a:p>
                      <a:pPr algn="ctr"/>
                      <a:r>
                        <a:rPr sz="1050" b="0">
                          <a:solidFill>
                            <a:srgbClr val="243B53"/>
                          </a:solidFill>
                          <a:latin typeface="Segoe UI"/>
                        </a:rPr>
                        <a:t>Pass</a:t>
                      </a:r>
                    </a:p>
                  </a:txBody>
                  <a:tcPr marL="91440" marR="91440" marT="27432" marB="27432" anchor="ctr">
                    <a:solidFill>
                      <a:srgbClr val="F3F8FB"/>
                    </a:solidFill>
                  </a:tcPr>
                </a:tc>
              </a:tr>
              <a:tr h="329184">
                <a:tc>
                  <a:txBody>
                    <a:bodyPr wrap="square"/>
                    <a:lstStyle/>
                    <a:p>
                      <a:pPr algn="ctr"/>
                      <a:r>
                        <a:rPr sz="1050" b="1">
                          <a:solidFill>
                            <a:srgbClr val="0B2B4A"/>
                          </a:solidFill>
                          <a:latin typeface="Segoe UI"/>
                        </a:rPr>
                        <a:t>T9</a:t>
                      </a:r>
                    </a:p>
                  </a:txBody>
                  <a:tcPr marL="91440" marR="91440" marT="27432" marB="27432" anchor="ctr">
                    <a:solidFill>
                      <a:srgbClr val="FFFFFF"/>
                    </a:solidFill>
                  </a:tcPr>
                </a:tc>
                <a:tc>
                  <a:txBody>
                    <a:bodyPr wrap="square"/>
                    <a:lstStyle/>
                    <a:p>
                      <a:pPr algn="l"/>
                      <a:r>
                        <a:rPr sz="1050" b="0">
                          <a:solidFill>
                            <a:srgbClr val="243B53"/>
                          </a:solidFill>
                          <a:latin typeface="Segoe UI"/>
                        </a:rPr>
                        <a:t>Request another user scan</a:t>
                      </a:r>
                    </a:p>
                  </a:txBody>
                  <a:tcPr marL="91440" marR="91440" marT="27432" marB="27432" anchor="ctr">
                    <a:solidFill>
                      <a:srgbClr val="FFFFFF"/>
                    </a:solidFill>
                  </a:tcPr>
                </a:tc>
                <a:tc>
                  <a:txBody>
                    <a:bodyPr wrap="square"/>
                    <a:lstStyle/>
                    <a:p>
                      <a:pPr algn="l"/>
                      <a:r>
                        <a:rPr sz="1050" b="0">
                          <a:solidFill>
                            <a:srgbClr val="243B53"/>
                          </a:solidFill>
                          <a:latin typeface="Segoe UI"/>
                        </a:rPr>
                        <a:t>Request refused</a:t>
                      </a:r>
                    </a:p>
                  </a:txBody>
                  <a:tcPr marL="91440" marR="91440" marT="27432" marB="27432" anchor="ctr">
                    <a:solidFill>
                      <a:srgbClr val="FFFFFF"/>
                    </a:solidFill>
                  </a:tcPr>
                </a:tc>
                <a:tc>
                  <a:txBody>
                    <a:bodyPr wrap="square"/>
                    <a:lstStyle/>
                    <a:p>
                      <a:pPr algn="ctr"/>
                      <a:r>
                        <a:rPr sz="1050" b="0">
                          <a:solidFill>
                            <a:srgbClr val="243B53"/>
                          </a:solidFill>
                          <a:latin typeface="Segoe UI"/>
                        </a:rPr>
                        <a:t>Pass</a:t>
                      </a:r>
                    </a:p>
                  </a:txBody>
                  <a:tcPr marL="91440" marR="91440" marT="27432" marB="27432" anchor="ctr">
                    <a:solidFill>
                      <a:srgbClr val="FFFFFF"/>
                    </a:solidFill>
                  </a:tcPr>
                </a:tc>
              </a:tr>
              <a:tr h="329184">
                <a:tc>
                  <a:txBody>
                    <a:bodyPr wrap="square"/>
                    <a:lstStyle/>
                    <a:p>
                      <a:pPr algn="ctr"/>
                      <a:r>
                        <a:rPr sz="1050" b="1">
                          <a:solidFill>
                            <a:srgbClr val="0B2B4A"/>
                          </a:solidFill>
                          <a:latin typeface="Segoe UI"/>
                        </a:rPr>
                        <a:t>T10</a:t>
                      </a:r>
                    </a:p>
                  </a:txBody>
                  <a:tcPr marL="91440" marR="91440" marT="27432" marB="27432" anchor="ctr">
                    <a:solidFill>
                      <a:srgbClr val="F3F8FB"/>
                    </a:solidFill>
                  </a:tcPr>
                </a:tc>
                <a:tc>
                  <a:txBody>
                    <a:bodyPr wrap="square"/>
                    <a:lstStyle/>
                    <a:p>
                      <a:pPr algn="l"/>
                      <a:r>
                        <a:rPr sz="1050" b="0">
                          <a:solidFill>
                            <a:srgbClr val="243B53"/>
                          </a:solidFill>
                          <a:latin typeface="Segoe UI"/>
                        </a:rPr>
                        <a:t>Request provenance as a patient</a:t>
                      </a:r>
                    </a:p>
                  </a:txBody>
                  <a:tcPr marL="91440" marR="91440" marT="27432" marB="27432" anchor="ctr">
                    <a:solidFill>
                      <a:srgbClr val="F3F8FB"/>
                    </a:solidFill>
                  </a:tcPr>
                </a:tc>
                <a:tc>
                  <a:txBody>
                    <a:bodyPr wrap="square"/>
                    <a:lstStyle/>
                    <a:p>
                      <a:pPr algn="l"/>
                      <a:r>
                        <a:rPr sz="1050" b="0">
                          <a:solidFill>
                            <a:srgbClr val="243B53"/>
                          </a:solidFill>
                          <a:latin typeface="Segoe UI"/>
                        </a:rPr>
                        <a:t>Access refused</a:t>
                      </a:r>
                    </a:p>
                  </a:txBody>
                  <a:tcPr marL="91440" marR="91440" marT="27432" marB="27432" anchor="ctr">
                    <a:solidFill>
                      <a:srgbClr val="F3F8FB"/>
                    </a:solidFill>
                  </a:tcPr>
                </a:tc>
                <a:tc>
                  <a:txBody>
                    <a:bodyPr wrap="square"/>
                    <a:lstStyle/>
                    <a:p>
                      <a:pPr algn="ctr"/>
                      <a:r>
                        <a:rPr sz="1050" b="0">
                          <a:solidFill>
                            <a:srgbClr val="243B53"/>
                          </a:solidFill>
                          <a:latin typeface="Segoe UI"/>
                        </a:rPr>
                        <a:t>Pass</a:t>
                      </a:r>
                    </a:p>
                  </a:txBody>
                  <a:tcPr marL="91440" marR="91440" marT="27432" marB="27432" anchor="ctr">
                    <a:solidFill>
                      <a:srgbClr val="F3F8FB"/>
                    </a:solidFill>
                  </a:tcPr>
                </a:tc>
              </a:tr>
            </a:tbl>
          </a:graphicData>
        </a:graphic>
      </p:graphicFrame>
      <p:sp>
        <p:nvSpPr>
          <p:cNvPr id="9" name="Rounded Rectangle 8"/>
          <p:cNvSpPr/>
          <p:nvPr/>
        </p:nvSpPr>
        <p:spPr>
          <a:xfrm>
            <a:off x="8339328" y="1572768"/>
            <a:ext cx="3191256" cy="1874519"/>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339328" y="1572768"/>
            <a:ext cx="40640" cy="1874519"/>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95360" y="1755648"/>
            <a:ext cx="2679192"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Measured latency, no accelerator</a:t>
            </a:r>
          </a:p>
        </p:txBody>
      </p:sp>
      <p:sp>
        <p:nvSpPr>
          <p:cNvPr id="12" name="Rounded Rectangle 11"/>
          <p:cNvSpPr/>
          <p:nvPr/>
        </p:nvSpPr>
        <p:spPr>
          <a:xfrm>
            <a:off x="8595360" y="2199132"/>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814816" y="2121408"/>
            <a:ext cx="2459736" cy="195707"/>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Forward pass: 0.36 s median.</a:t>
            </a:r>
          </a:p>
        </p:txBody>
      </p:sp>
      <p:sp>
        <p:nvSpPr>
          <p:cNvPr id="14" name="Rounded Rectangle 13"/>
          <p:cNvSpPr/>
          <p:nvPr/>
        </p:nvSpPr>
        <p:spPr>
          <a:xfrm>
            <a:off x="8595360" y="2486279"/>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814816" y="2408555"/>
            <a:ext cx="245973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Complete inference call: 2.94 s median.</a:t>
            </a:r>
          </a:p>
        </p:txBody>
      </p:sp>
      <p:sp>
        <p:nvSpPr>
          <p:cNvPr id="16" name="Rounded Rectangle 15"/>
          <p:cNvSpPr/>
          <p:nvPr/>
        </p:nvSpPr>
        <p:spPr>
          <a:xfrm>
            <a:off x="8595360" y="2969133"/>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14816" y="2891409"/>
            <a:ext cx="2459736" cy="391414"/>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End to end request: 3.18 s median, 3.33 s maximum.</a:t>
            </a:r>
          </a:p>
        </p:txBody>
      </p:sp>
      <p:sp>
        <p:nvSpPr>
          <p:cNvPr id="18" name="Rounded Rectangle 17"/>
          <p:cNvSpPr/>
          <p:nvPr/>
        </p:nvSpPr>
        <p:spPr>
          <a:xfrm>
            <a:off x="8339328" y="3584448"/>
            <a:ext cx="3191256" cy="1298448"/>
          </a:xfrm>
          <a:prstGeom prst="roundRect">
            <a:avLst>
              <a:gd name="adj" fmla="val 10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339328" y="3584448"/>
            <a:ext cx="40640" cy="12984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577072" y="3703320"/>
            <a:ext cx="2688336" cy="1060704"/>
          </a:xfrm>
          <a:prstGeom prst="rect">
            <a:avLst/>
          </a:prstGeom>
          <a:noFill/>
        </p:spPr>
        <p:txBody>
          <a:bodyPr wrap="square" anchor="t" lIns="0" rIns="0" tIns="0" bIns="0">
            <a:spAutoFit/>
          </a:bodyPr>
          <a:lstStyle/>
          <a:p>
            <a:pPr algn="l">
              <a:lnSpc>
                <a:spcPct val="118000"/>
              </a:lnSpc>
              <a:spcAft>
                <a:spcPts val="300"/>
              </a:spcAft>
            </a:pPr>
            <a:r>
              <a:rPr sz="1150" b="0" i="0">
                <a:solidFill>
                  <a:srgbClr val="B45309"/>
                </a:solidFill>
                <a:latin typeface="Segoe UI"/>
              </a:rPr>
              <a:t>NFR5 asks for under five seconds and is met, but with less margin than the design assumed. The forward pass is not what dominates; Grad-CAM, lung estimation and overlay encoding are.</a:t>
            </a:r>
          </a:p>
        </p:txBody>
      </p:sp>
      <p:sp>
        <p:nvSpPr>
          <p:cNvPr id="21" name="Rounded Rectangle 20"/>
          <p:cNvSpPr/>
          <p:nvPr/>
        </p:nvSpPr>
        <p:spPr>
          <a:xfrm>
            <a:off x="8339328" y="5010912"/>
            <a:ext cx="3191256" cy="1005840"/>
          </a:xfrm>
          <a:prstGeom prst="roundRect">
            <a:avLst>
              <a:gd name="adj" fmla="val 10000"/>
            </a:avLst>
          </a:prstGeom>
          <a:solidFill>
            <a:srgbClr val="E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339328" y="5010912"/>
            <a:ext cx="40640" cy="1005840"/>
          </a:xfrm>
          <a:prstGeom prst="rect">
            <a:avLst/>
          </a:prstGeom>
          <a:solidFill>
            <a:srgbClr val="1B6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577072" y="5129784"/>
            <a:ext cx="2688336" cy="768096"/>
          </a:xfrm>
          <a:prstGeom prst="rect">
            <a:avLst/>
          </a:prstGeom>
          <a:noFill/>
        </p:spPr>
        <p:txBody>
          <a:bodyPr wrap="square" anchor="t" lIns="0" rIns="0" tIns="0" bIns="0">
            <a:spAutoFit/>
          </a:bodyPr>
          <a:lstStyle/>
          <a:p>
            <a:pPr algn="l">
              <a:lnSpc>
                <a:spcPct val="118000"/>
              </a:lnSpc>
              <a:spcAft>
                <a:spcPts val="300"/>
              </a:spcAft>
            </a:pPr>
            <a:r>
              <a:rPr sz="1150" b="0" i="0">
                <a:solidFill>
                  <a:srgbClr val="1B6E52"/>
                </a:solidFill>
                <a:latin typeface="Segoe UI"/>
              </a:rPr>
              <a:t>T2, T3 and T4 matter most: together they establish that the safeguard is a property of the record rather than of the moment.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64592" cy="685800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1463040" cy="457200"/>
          </a:xfrm>
          <a:prstGeom prst="rect">
            <a:avLst/>
          </a:prstGeom>
          <a:noFill/>
        </p:spPr>
        <p:txBody>
          <a:bodyPr wrap="square" anchor="t" lIns="0" rIns="0" tIns="0" bIns="0">
            <a:spAutoFit/>
          </a:bodyPr>
          <a:lstStyle/>
          <a:p>
            <a:pPr algn="l">
              <a:lnSpc>
                <a:spcPct val="118000"/>
              </a:lnSpc>
              <a:spcAft>
                <a:spcPts val="600"/>
              </a:spcAft>
            </a:pPr>
            <a:r>
              <a:rPr sz="1300" b="1" i="0">
                <a:solidFill>
                  <a:srgbClr val="7FC3D8"/>
                </a:solidFill>
                <a:latin typeface="Segoe UI"/>
              </a:rPr>
              <a:t>05</a:t>
            </a:r>
          </a:p>
        </p:txBody>
      </p:sp>
      <p:sp>
        <p:nvSpPr>
          <p:cNvPr id="5" name="TextBox 4"/>
          <p:cNvSpPr txBox="1"/>
          <p:nvPr/>
        </p:nvSpPr>
        <p:spPr>
          <a:xfrm>
            <a:off x="1051560" y="2331720"/>
            <a:ext cx="8778240" cy="1005840"/>
          </a:xfrm>
          <a:prstGeom prst="rect">
            <a:avLst/>
          </a:prstGeom>
          <a:noFill/>
        </p:spPr>
        <p:txBody>
          <a:bodyPr wrap="square" anchor="t" lIns="0" rIns="0" tIns="0" bIns="0">
            <a:spAutoFit/>
          </a:bodyPr>
          <a:lstStyle/>
          <a:p>
            <a:pPr algn="l">
              <a:lnSpc>
                <a:spcPct val="102000"/>
              </a:lnSpc>
              <a:spcAft>
                <a:spcPts val="600"/>
              </a:spcAft>
            </a:pPr>
            <a:r>
              <a:rPr sz="4000" b="1" i="0">
                <a:solidFill>
                  <a:srgbClr val="FFFFFF"/>
                </a:solidFill>
                <a:latin typeface="Segoe UI"/>
              </a:rPr>
              <a:t>Conclusions</a:t>
            </a:r>
          </a:p>
        </p:txBody>
      </p:sp>
      <p:sp>
        <p:nvSpPr>
          <p:cNvPr id="6" name="TextBox 5"/>
          <p:cNvSpPr txBox="1"/>
          <p:nvPr/>
        </p:nvSpPr>
        <p:spPr>
          <a:xfrm>
            <a:off x="1051560" y="3520440"/>
            <a:ext cx="7680960" cy="731520"/>
          </a:xfrm>
          <a:prstGeom prst="rect">
            <a:avLst/>
          </a:prstGeom>
          <a:noFill/>
        </p:spPr>
        <p:txBody>
          <a:bodyPr wrap="square" anchor="t" lIns="0" rIns="0" tIns="0" bIns="0">
            <a:spAutoFit/>
          </a:bodyPr>
          <a:lstStyle/>
          <a:p>
            <a:pPr algn="l">
              <a:lnSpc>
                <a:spcPct val="118000"/>
              </a:lnSpc>
              <a:spcAft>
                <a:spcPts val="600"/>
              </a:spcAft>
            </a:pPr>
            <a:r>
              <a:rPr sz="1500" b="0" i="0">
                <a:solidFill>
                  <a:srgbClr val="B8D2E2"/>
                </a:solidFill>
                <a:latin typeface="Segoe UI"/>
              </a:rPr>
              <a:t>A bounded affirmative: a silent failure mode was converted into a visible one, at a stated and measured cost.</a:t>
            </a:r>
          </a:p>
        </p:txBody>
      </p:sp>
      <p:sp>
        <p:nvSpPr>
          <p:cNvPr id="7" name="Rounded Rectangle 6"/>
          <p:cNvSpPr/>
          <p:nvPr/>
        </p:nvSpPr>
        <p:spPr>
          <a:xfrm>
            <a:off x="1051560" y="4306824"/>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8448" y="4224528"/>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What the evidence supports, and what it does not</a:t>
            </a:r>
          </a:p>
        </p:txBody>
      </p:sp>
      <p:sp>
        <p:nvSpPr>
          <p:cNvPr id="9" name="Rounded Rectangle 8"/>
          <p:cNvSpPr/>
          <p:nvPr/>
        </p:nvSpPr>
        <p:spPr>
          <a:xfrm>
            <a:off x="1051560" y="4636008"/>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8448" y="4553712"/>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Limitations that bound the claims</a:t>
            </a:r>
          </a:p>
        </p:txBody>
      </p:sp>
      <p:sp>
        <p:nvSpPr>
          <p:cNvPr id="11" name="Rounded Rectangle 10"/>
          <p:cNvSpPr/>
          <p:nvPr/>
        </p:nvSpPr>
        <p:spPr>
          <a:xfrm>
            <a:off x="1051560" y="4965192"/>
            <a:ext cx="64008" cy="64008"/>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8448" y="4882896"/>
            <a:ext cx="7680960" cy="274320"/>
          </a:xfrm>
          <a:prstGeom prst="rect">
            <a:avLst/>
          </a:prstGeom>
          <a:noFill/>
        </p:spPr>
        <p:txBody>
          <a:bodyPr wrap="square" anchor="t" lIns="0" rIns="0" tIns="0" bIns="0">
            <a:spAutoFit/>
          </a:bodyPr>
          <a:lstStyle/>
          <a:p>
            <a:pPr algn="l">
              <a:lnSpc>
                <a:spcPct val="118000"/>
              </a:lnSpc>
              <a:spcAft>
                <a:spcPts val="600"/>
              </a:spcAft>
            </a:pPr>
            <a:r>
              <a:rPr sz="1300" b="0" i="0">
                <a:solidFill>
                  <a:srgbClr val="D6E6EF"/>
                </a:solidFill>
                <a:latin typeface="Segoe UI"/>
              </a:rPr>
              <a:t>Five lines of work that follow</a:t>
            </a:r>
          </a:p>
        </p:txBody>
      </p:sp>
      <p:sp>
        <p:nvSpPr>
          <p:cNvPr id="13" name="TextBox 12"/>
          <p:cNvSpPr txBox="1"/>
          <p:nvPr/>
        </p:nvSpPr>
        <p:spPr>
          <a:xfrm>
            <a:off x="10728655" y="6144768"/>
            <a:ext cx="822960" cy="274320"/>
          </a:xfrm>
          <a:prstGeom prst="rect">
            <a:avLst/>
          </a:prstGeom>
          <a:noFill/>
        </p:spPr>
        <p:txBody>
          <a:bodyPr wrap="square" anchor="t" lIns="0" rIns="0" tIns="0" bIns="0">
            <a:spAutoFit/>
          </a:bodyPr>
          <a:lstStyle/>
          <a:p>
            <a:pPr algn="r">
              <a:lnSpc>
                <a:spcPct val="118000"/>
              </a:lnSpc>
              <a:spcAft>
                <a:spcPts val="600"/>
              </a:spcAft>
            </a:pPr>
            <a:r>
              <a:rPr sz="1100" b="0" i="0">
                <a:solidFill>
                  <a:srgbClr val="648AA6"/>
                </a:solidFill>
                <a:latin typeface="Segoe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ACCOMPLISHMENT</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Objectives assessed against the evidence</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34</a:t>
            </a:r>
          </a:p>
        </p:txBody>
      </p:sp>
      <p:graphicFrame>
        <p:nvGraphicFramePr>
          <p:cNvPr id="8" name="Table 7"/>
          <p:cNvGraphicFramePr>
            <a:graphicFrameLocks noGrp="1"/>
          </p:cNvGraphicFramePr>
          <p:nvPr/>
        </p:nvGraphicFramePr>
        <p:xfrm>
          <a:off x="658368" y="1572768"/>
          <a:ext cx="10874957" cy="3200400"/>
        </p:xfrm>
        <a:graphic>
          <a:graphicData uri="http://schemas.openxmlformats.org/drawingml/2006/table">
            <a:tbl>
              <a:tblPr>
                <a:tableStyleId>{5C22544A-7EE6-4342-B048-85BDC9FD1C3A}</a:tableStyleId>
              </a:tblPr>
              <a:tblGrid>
                <a:gridCol w="869996"/>
                <a:gridCol w="5654978"/>
                <a:gridCol w="4349983"/>
              </a:tblGrid>
              <a:tr h="347472">
                <a:tc>
                  <a:txBody>
                    <a:bodyPr wrap="square"/>
                    <a:lstStyle/>
                    <a:p>
                      <a:pPr algn="ctr"/>
                      <a:r>
                        <a:rPr sz="1100" b="1">
                          <a:solidFill>
                            <a:srgbClr val="FFFFFF"/>
                          </a:solidFill>
                          <a:latin typeface="Segoe UI"/>
                        </a:rPr>
                        <a:t>Objective</a:t>
                      </a:r>
                    </a:p>
                  </a:txBody>
                  <a:tcPr marL="91440" marR="91440" marT="27432" marB="27432" anchor="ctr">
                    <a:solidFill>
                      <a:srgbClr val="0E5A72"/>
                    </a:solidFill>
                  </a:tcPr>
                </a:tc>
                <a:tc>
                  <a:txBody>
                    <a:bodyPr wrap="square"/>
                    <a:lstStyle/>
                    <a:p>
                      <a:pPr algn="l"/>
                      <a:r>
                        <a:rPr sz="1100" b="1">
                          <a:solidFill>
                            <a:srgbClr val="FFFFFF"/>
                          </a:solidFill>
                          <a:latin typeface="Segoe UI"/>
                        </a:rPr>
                        <a:t>Evidence</a:t>
                      </a:r>
                    </a:p>
                  </a:txBody>
                  <a:tcPr marL="91440" marR="91440" marT="27432" marB="27432" anchor="ctr">
                    <a:solidFill>
                      <a:srgbClr val="0E5A72"/>
                    </a:solidFill>
                  </a:tcPr>
                </a:tc>
                <a:tc>
                  <a:txBody>
                    <a:bodyPr wrap="square"/>
                    <a:lstStyle/>
                    <a:p>
                      <a:pPr algn="l"/>
                      <a:r>
                        <a:rPr sz="1100" b="1">
                          <a:solidFill>
                            <a:srgbClr val="FFFFFF"/>
                          </a:solidFill>
                          <a:latin typeface="Segoe UI"/>
                        </a:rPr>
                        <a:t>Outcome</a:t>
                      </a:r>
                    </a:p>
                  </a:txBody>
                  <a:tcPr marL="91440" marR="91440" marT="27432" marB="27432" anchor="ctr">
                    <a:solidFill>
                      <a:srgbClr val="0E5A72"/>
                    </a:solidFill>
                  </a:tcPr>
                </a:tc>
              </a:tr>
              <a:tr h="475488">
                <a:tc>
                  <a:txBody>
                    <a:bodyPr wrap="square"/>
                    <a:lstStyle/>
                    <a:p>
                      <a:pPr algn="ctr"/>
                      <a:r>
                        <a:rPr sz="1150" b="1">
                          <a:solidFill>
                            <a:srgbClr val="0B2B4A"/>
                          </a:solidFill>
                          <a:latin typeface="Segoe UI"/>
                        </a:rPr>
                        <a:t>RO1</a:t>
                      </a:r>
                    </a:p>
                  </a:txBody>
                  <a:tcPr marL="91440" marR="91440" marT="27432" marB="27432" anchor="ctr">
                    <a:solidFill>
                      <a:srgbClr val="FFFFFF"/>
                    </a:solidFill>
                  </a:tcPr>
                </a:tc>
                <a:tc>
                  <a:txBody>
                    <a:bodyPr wrap="square"/>
                    <a:lstStyle/>
                    <a:p>
                      <a:pPr algn="l"/>
                      <a:r>
                        <a:rPr sz="1150" b="0">
                          <a:solidFill>
                            <a:srgbClr val="243B53"/>
                          </a:solidFill>
                          <a:latin typeface="Segoe UI"/>
                        </a:rPr>
                        <a:t>Thematic review producing nine derived requirements</a:t>
                      </a:r>
                    </a:p>
                  </a:txBody>
                  <a:tcPr marL="91440" marR="91440" marT="27432" marB="27432" anchor="ctr">
                    <a:solidFill>
                      <a:srgbClr val="FFFFFF"/>
                    </a:solidFill>
                  </a:tcPr>
                </a:tc>
                <a:tc>
                  <a:txBody>
                    <a:bodyPr wrap="square"/>
                    <a:lstStyle/>
                    <a:p>
                      <a:pPr algn="l"/>
                      <a:r>
                        <a:rPr sz="1150" b="0">
                          <a:solidFill>
                            <a:srgbClr val="243B53"/>
                          </a:solidFill>
                          <a:latin typeface="Segoe UI"/>
                        </a:rPr>
                        <a:t>Achieved</a:t>
                      </a:r>
                    </a:p>
                  </a:txBody>
                  <a:tcPr marL="91440" marR="91440" marT="27432" marB="27432" anchor="ctr">
                    <a:solidFill>
                      <a:srgbClr val="FFFFFF"/>
                    </a:solidFill>
                  </a:tcPr>
                </a:tc>
              </a:tr>
              <a:tr h="475488">
                <a:tc>
                  <a:txBody>
                    <a:bodyPr wrap="square"/>
                    <a:lstStyle/>
                    <a:p>
                      <a:pPr algn="ctr"/>
                      <a:r>
                        <a:rPr sz="1150" b="1">
                          <a:solidFill>
                            <a:srgbClr val="0B2B4A"/>
                          </a:solidFill>
                          <a:latin typeface="Segoe UI"/>
                        </a:rPr>
                        <a:t>RO2</a:t>
                      </a:r>
                    </a:p>
                  </a:txBody>
                  <a:tcPr marL="91440" marR="91440" marT="27432" marB="27432" anchor="ctr">
                    <a:solidFill>
                      <a:srgbClr val="F3F8FB"/>
                    </a:solidFill>
                  </a:tcPr>
                </a:tc>
                <a:tc>
                  <a:txBody>
                    <a:bodyPr wrap="square"/>
                    <a:lstStyle/>
                    <a:p>
                      <a:pPr algn="l"/>
                      <a:r>
                        <a:rPr sz="1150" b="0">
                          <a:solidFill>
                            <a:srgbClr val="243B53"/>
                          </a:solidFill>
                          <a:latin typeface="Segoe UI"/>
                        </a:rPr>
                        <a:t>Three architectures on a shared split at 85.31, 84.30 and 80.54 per cent with per class metrics</a:t>
                      </a:r>
                    </a:p>
                  </a:txBody>
                  <a:tcPr marL="91440" marR="91440" marT="27432" marB="27432" anchor="ctr">
                    <a:solidFill>
                      <a:srgbClr val="F3F8FB"/>
                    </a:solidFill>
                  </a:tcPr>
                </a:tc>
                <a:tc>
                  <a:txBody>
                    <a:bodyPr wrap="square"/>
                    <a:lstStyle/>
                    <a:p>
                      <a:pPr algn="l"/>
                      <a:r>
                        <a:rPr sz="1150" b="0">
                          <a:solidFill>
                            <a:srgbClr val="243B53"/>
                          </a:solidFill>
                          <a:latin typeface="Segoe UI"/>
                        </a:rPr>
                        <a:t>Achieved, with the EfficientNetV2S run confounded by preprocessing</a:t>
                      </a:r>
                    </a:p>
                  </a:txBody>
                  <a:tcPr marL="91440" marR="91440" marT="27432" marB="27432" anchor="ctr">
                    <a:solidFill>
                      <a:srgbClr val="F3F8FB"/>
                    </a:solidFill>
                  </a:tcPr>
                </a:tc>
              </a:tr>
              <a:tr h="475488">
                <a:tc>
                  <a:txBody>
                    <a:bodyPr wrap="square"/>
                    <a:lstStyle/>
                    <a:p>
                      <a:pPr algn="ctr"/>
                      <a:r>
                        <a:rPr sz="1150" b="1">
                          <a:solidFill>
                            <a:srgbClr val="0B2B4A"/>
                          </a:solidFill>
                          <a:latin typeface="Segoe UI"/>
                        </a:rPr>
                        <a:t>RO3</a:t>
                      </a:r>
                    </a:p>
                  </a:txBody>
                  <a:tcPr marL="91440" marR="91440" marT="27432" marB="27432" anchor="ctr">
                    <a:solidFill>
                      <a:srgbClr val="FFFFFF"/>
                    </a:solidFill>
                  </a:tcPr>
                </a:tc>
                <a:tc>
                  <a:txBody>
                    <a:bodyPr wrap="square"/>
                    <a:lstStyle/>
                    <a:p>
                      <a:pPr algn="l"/>
                      <a:r>
                        <a:rPr sz="1150" b="0">
                          <a:solidFill>
                            <a:srgbClr val="243B53"/>
                          </a:solidFill>
                          <a:latin typeface="Segoe UI"/>
                        </a:rPr>
                        <a:t>Safeguard integrated end to end, withholding verified by T2, T3 and T4</a:t>
                      </a:r>
                    </a:p>
                  </a:txBody>
                  <a:tcPr marL="91440" marR="91440" marT="27432" marB="27432" anchor="ctr">
                    <a:solidFill>
                      <a:srgbClr val="FFFFFF"/>
                    </a:solidFill>
                  </a:tcPr>
                </a:tc>
                <a:tc>
                  <a:txBody>
                    <a:bodyPr wrap="square"/>
                    <a:lstStyle/>
                    <a:p>
                      <a:pPr algn="l"/>
                      <a:r>
                        <a:rPr sz="1150" b="0">
                          <a:solidFill>
                            <a:srgbClr val="243B53"/>
                          </a:solidFill>
                          <a:latin typeface="Segoe UI"/>
                        </a:rPr>
                        <a:t>Achieved</a:t>
                      </a:r>
                    </a:p>
                  </a:txBody>
                  <a:tcPr marL="91440" marR="91440" marT="27432" marB="27432" anchor="ctr">
                    <a:solidFill>
                      <a:srgbClr val="FFFFFF"/>
                    </a:solidFill>
                  </a:tcPr>
                </a:tc>
              </a:tr>
              <a:tr h="475488">
                <a:tc>
                  <a:txBody>
                    <a:bodyPr wrap="square"/>
                    <a:lstStyle/>
                    <a:p>
                      <a:pPr algn="ctr"/>
                      <a:r>
                        <a:rPr sz="1150" b="1">
                          <a:solidFill>
                            <a:srgbClr val="0B2B4A"/>
                          </a:solidFill>
                          <a:latin typeface="Segoe UI"/>
                        </a:rPr>
                        <a:t>RO4a</a:t>
                      </a:r>
                    </a:p>
                  </a:txBody>
                  <a:tcPr marL="91440" marR="91440" marT="27432" marB="27432" anchor="ctr">
                    <a:solidFill>
                      <a:srgbClr val="F3F8FB"/>
                    </a:solidFill>
                  </a:tcPr>
                </a:tc>
                <a:tc>
                  <a:txBody>
                    <a:bodyPr wrap="square"/>
                    <a:lstStyle/>
                    <a:p>
                      <a:pPr algn="l"/>
                      <a:r>
                        <a:rPr sz="1150" b="0">
                          <a:solidFill>
                            <a:srgbClr val="243B53"/>
                          </a:solidFill>
                          <a:latin typeface="Segoe UI"/>
                        </a:rPr>
                        <a:t>Retention 92.5 %, flag rate 100 %, Mahalanobis AUROC 1.000 against energy 0.539</a:t>
                      </a:r>
                    </a:p>
                  </a:txBody>
                  <a:tcPr marL="91440" marR="91440" marT="27432" marB="27432" anchor="ctr">
                    <a:solidFill>
                      <a:srgbClr val="F3F8FB"/>
                    </a:solidFill>
                  </a:tcPr>
                </a:tc>
                <a:tc>
                  <a:txBody>
                    <a:bodyPr wrap="square"/>
                    <a:lstStyle/>
                    <a:p>
                      <a:pPr algn="l"/>
                      <a:r>
                        <a:rPr sz="1150" b="0">
                          <a:solidFill>
                            <a:srgbClr val="243B53"/>
                          </a:solidFill>
                          <a:latin typeface="Segoe UI"/>
                        </a:rPr>
                        <a:t>Achieved for the far regime only</a:t>
                      </a:r>
                    </a:p>
                  </a:txBody>
                  <a:tcPr marL="91440" marR="91440" marT="27432" marB="27432" anchor="ctr">
                    <a:solidFill>
                      <a:srgbClr val="F3F8FB"/>
                    </a:solidFill>
                  </a:tcPr>
                </a:tc>
              </a:tr>
              <a:tr h="475488">
                <a:tc>
                  <a:txBody>
                    <a:bodyPr wrap="square"/>
                    <a:lstStyle/>
                    <a:p>
                      <a:pPr algn="ctr"/>
                      <a:r>
                        <a:rPr sz="1150" b="1">
                          <a:solidFill>
                            <a:srgbClr val="0B2B4A"/>
                          </a:solidFill>
                          <a:latin typeface="Segoe UI"/>
                        </a:rPr>
                        <a:t>RO4b</a:t>
                      </a:r>
                    </a:p>
                  </a:txBody>
                  <a:tcPr marL="91440" marR="91440" marT="27432" marB="27432" anchor="ctr">
                    <a:solidFill>
                      <a:srgbClr val="FFFFFF"/>
                    </a:solidFill>
                  </a:tcPr>
                </a:tc>
                <a:tc>
                  <a:txBody>
                    <a:bodyPr wrap="square"/>
                    <a:lstStyle/>
                    <a:p>
                      <a:pPr algn="l"/>
                      <a:r>
                        <a:rPr sz="1150" b="0">
                          <a:solidFill>
                            <a:srgbClr val="243B53"/>
                          </a:solidFill>
                          <a:latin typeface="Segoe UI"/>
                        </a:rPr>
                        <a:t>Lung restricted maps fall on the regions clinically associated with each class</a:t>
                      </a:r>
                    </a:p>
                  </a:txBody>
                  <a:tcPr marL="91440" marR="91440" marT="27432" marB="27432" anchor="ctr">
                    <a:solidFill>
                      <a:srgbClr val="FFFFFF"/>
                    </a:solidFill>
                  </a:tcPr>
                </a:tc>
                <a:tc>
                  <a:txBody>
                    <a:bodyPr wrap="square"/>
                    <a:lstStyle/>
                    <a:p>
                      <a:pPr algn="l"/>
                      <a:r>
                        <a:rPr sz="1150" b="0">
                          <a:solidFill>
                            <a:srgbClr val="243B53"/>
                          </a:solidFill>
                          <a:latin typeface="Segoe UI"/>
                        </a:rPr>
                        <a:t>Achieved qualitatively; the in lung share is disclosed</a:t>
                      </a:r>
                    </a:p>
                  </a:txBody>
                  <a:tcPr marL="91440" marR="91440" marT="27432" marB="27432" anchor="ctr">
                    <a:solidFill>
                      <a:srgbClr val="FFFFFF"/>
                    </a:solidFill>
                  </a:tcPr>
                </a:tc>
              </a:tr>
              <a:tr h="475488">
                <a:tc>
                  <a:txBody>
                    <a:bodyPr wrap="square"/>
                    <a:lstStyle/>
                    <a:p>
                      <a:pPr algn="ctr"/>
                      <a:r>
                        <a:rPr sz="1150" b="1">
                          <a:solidFill>
                            <a:srgbClr val="0B2B4A"/>
                          </a:solidFill>
                          <a:latin typeface="Segoe UI"/>
                        </a:rPr>
                        <a:t>RO5</a:t>
                      </a:r>
                    </a:p>
                  </a:txBody>
                  <a:tcPr marL="91440" marR="91440" marT="27432" marB="27432" anchor="ctr">
                    <a:solidFill>
                      <a:srgbClr val="F3F8FB"/>
                    </a:solidFill>
                  </a:tcPr>
                </a:tc>
                <a:tc>
                  <a:txBody>
                    <a:bodyPr wrap="square"/>
                    <a:lstStyle/>
                    <a:p>
                      <a:pPr algn="l"/>
                      <a:r>
                        <a:rPr sz="1150" b="0">
                          <a:solidFill>
                            <a:srgbClr val="243B53"/>
                          </a:solidFill>
                          <a:latin typeface="Segoe UI"/>
                        </a:rPr>
                        <a:t>Conditions of applicability derived</a:t>
                      </a:r>
                    </a:p>
                  </a:txBody>
                  <a:tcPr marL="91440" marR="91440" marT="27432" marB="27432" anchor="ctr">
                    <a:solidFill>
                      <a:srgbClr val="F3F8FB"/>
                    </a:solidFill>
                  </a:tcPr>
                </a:tc>
                <a:tc>
                  <a:txBody>
                    <a:bodyPr wrap="square"/>
                    <a:lstStyle/>
                    <a:p>
                      <a:pPr algn="l"/>
                      <a:r>
                        <a:rPr sz="1150" b="0">
                          <a:solidFill>
                            <a:srgbClr val="243B53"/>
                          </a:solidFill>
                          <a:latin typeface="Segoe UI"/>
                        </a:rPr>
                        <a:t>Achieved</a:t>
                      </a:r>
                    </a:p>
                  </a:txBody>
                  <a:tcPr marL="91440" marR="91440" marT="27432" marB="27432" anchor="ctr">
                    <a:solidFill>
                      <a:srgbClr val="F3F8FB"/>
                    </a:solidFill>
                  </a:tcPr>
                </a:tc>
              </a:tr>
            </a:tbl>
          </a:graphicData>
        </a:graphic>
      </p:graphicFrame>
      <p:sp>
        <p:nvSpPr>
          <p:cNvPr id="9" name="Rounded Rectangle 8"/>
          <p:cNvSpPr/>
          <p:nvPr/>
        </p:nvSpPr>
        <p:spPr>
          <a:xfrm>
            <a:off x="658368" y="5431536"/>
            <a:ext cx="10874959" cy="822960"/>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58368" y="5431536"/>
            <a:ext cx="40640" cy="822960"/>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6112" y="5550408"/>
            <a:ext cx="10372039" cy="585216"/>
          </a:xfrm>
          <a:prstGeom prst="rect">
            <a:avLst/>
          </a:prstGeom>
          <a:noFill/>
        </p:spPr>
        <p:txBody>
          <a:bodyPr wrap="square" anchor="t" lIns="0" rIns="0" tIns="0" bIns="0">
            <a:spAutoFit/>
          </a:bodyPr>
          <a:lstStyle/>
          <a:p>
            <a:pPr algn="l">
              <a:lnSpc>
                <a:spcPct val="118000"/>
              </a:lnSpc>
              <a:spcAft>
                <a:spcPts val="300"/>
              </a:spcAft>
            </a:pPr>
            <a:r>
              <a:rPr sz="1250" b="1" i="0">
                <a:solidFill>
                  <a:srgbClr val="0E5A72"/>
                </a:solidFill>
                <a:latin typeface="Segoe UI"/>
              </a:rPr>
              <a:t>The main question, answered with a bounded affirmative</a:t>
            </a:r>
          </a:p>
          <a:p>
            <a:pPr algn="l">
              <a:lnSpc>
                <a:spcPct val="118000"/>
              </a:lnSpc>
              <a:spcAft>
                <a:spcPts val="300"/>
              </a:spcAft>
            </a:pPr>
            <a:r>
              <a:rPr sz="1150" b="0" i="0">
                <a:solidFill>
                  <a:srgbClr val="0E5A72"/>
                </a:solidFill>
                <a:latin typeface="Segoe UI"/>
              </a:rPr>
              <a:t>Every probe image was refused a diagnosis, at a cost of 7.5 per cent of genuine held out scans also being refused. Three boundaries constrain it: the far regime only, dependence on the signal being chosen empirically, and a safety rather than an accuracy improvement.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DISCUSSION</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What the evidence supports</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35</a:t>
            </a:r>
          </a:p>
        </p:txBody>
      </p:sp>
      <p:sp>
        <p:nvSpPr>
          <p:cNvPr id="8" name="Rounded Rectangle 7"/>
          <p:cNvSpPr/>
          <p:nvPr/>
        </p:nvSpPr>
        <p:spPr>
          <a:xfrm>
            <a:off x="658368" y="1572768"/>
            <a:ext cx="10874959" cy="1207008"/>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43180" cy="1207008"/>
          </a:xfrm>
          <a:prstGeom prst="rect">
            <a:avLst/>
          </a:prstGeom>
          <a:solidFill>
            <a:srgbClr val="1B6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1755648"/>
            <a:ext cx="10326319" cy="310896"/>
          </a:xfrm>
          <a:prstGeom prst="rect">
            <a:avLst/>
          </a:prstGeom>
          <a:noFill/>
        </p:spPr>
        <p:txBody>
          <a:bodyPr wrap="square" anchor="t" lIns="0" rIns="0" tIns="0" bIns="0">
            <a:spAutoFit/>
          </a:bodyPr>
          <a:lstStyle/>
          <a:p>
            <a:pPr algn="l">
              <a:lnSpc>
                <a:spcPct val="118000"/>
              </a:lnSpc>
              <a:spcAft>
                <a:spcPts val="600"/>
              </a:spcAft>
            </a:pPr>
            <a:r>
              <a:rPr sz="1500" b="1" i="0">
                <a:solidFill>
                  <a:srgbClr val="0B2B4A"/>
                </a:solidFill>
                <a:latin typeface="Segoe UI"/>
              </a:rPr>
              <a:t>The safeguard works, in the regime it was tested in</a:t>
            </a:r>
          </a:p>
        </p:txBody>
      </p:sp>
      <p:sp>
        <p:nvSpPr>
          <p:cNvPr id="11" name="TextBox 10"/>
          <p:cNvSpPr txBox="1"/>
          <p:nvPr/>
        </p:nvSpPr>
        <p:spPr>
          <a:xfrm>
            <a:off x="932688" y="2139696"/>
            <a:ext cx="10326319" cy="640080"/>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A detector fitted entirely from the model’s own genuine training data separated a constructed far probe perfectly and kept 92.5 per cent of real held out scans. No retraining, no extra labelled data, no architectural change.</a:t>
            </a:r>
          </a:p>
        </p:txBody>
      </p:sp>
      <p:sp>
        <p:nvSpPr>
          <p:cNvPr id="12" name="Rounded Rectangle 11"/>
          <p:cNvSpPr/>
          <p:nvPr/>
        </p:nvSpPr>
        <p:spPr>
          <a:xfrm>
            <a:off x="658368" y="2907792"/>
            <a:ext cx="10874959" cy="1207008"/>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58368" y="2907792"/>
            <a:ext cx="43180" cy="1207008"/>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090672"/>
            <a:ext cx="10326319" cy="310896"/>
          </a:xfrm>
          <a:prstGeom prst="rect">
            <a:avLst/>
          </a:prstGeom>
          <a:noFill/>
        </p:spPr>
        <p:txBody>
          <a:bodyPr wrap="square" anchor="t" lIns="0" rIns="0" tIns="0" bIns="0">
            <a:spAutoFit/>
          </a:bodyPr>
          <a:lstStyle/>
          <a:p>
            <a:pPr algn="l">
              <a:lnSpc>
                <a:spcPct val="118000"/>
              </a:lnSpc>
              <a:spcAft>
                <a:spcPts val="600"/>
              </a:spcAft>
            </a:pPr>
            <a:r>
              <a:rPr sz="1500" b="1" i="0">
                <a:solidFill>
                  <a:srgbClr val="0B2B4A"/>
                </a:solidFill>
                <a:latin typeface="Segoe UI"/>
              </a:rPr>
              <a:t>A published method is a hypothesis about your own system</a:t>
            </a:r>
          </a:p>
        </p:txBody>
      </p:sp>
      <p:sp>
        <p:nvSpPr>
          <p:cNvPr id="15" name="TextBox 14"/>
          <p:cNvSpPr txBox="1"/>
          <p:nvPr/>
        </p:nvSpPr>
        <p:spPr>
          <a:xfrm>
            <a:off x="932688" y="3474720"/>
            <a:ext cx="10326319" cy="640080"/>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Energy is well established, and on this model it scored 0.539 against a probe Mahalanobis separated at 1.000. The signal that works had to be discovered by measurement, not selected from the literature.</a:t>
            </a:r>
          </a:p>
        </p:txBody>
      </p:sp>
      <p:sp>
        <p:nvSpPr>
          <p:cNvPr id="16" name="Rounded Rectangle 15"/>
          <p:cNvSpPr/>
          <p:nvPr/>
        </p:nvSpPr>
        <p:spPr>
          <a:xfrm>
            <a:off x="658368" y="4242816"/>
            <a:ext cx="10874959" cy="1207008"/>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58368" y="4242816"/>
            <a:ext cx="43180" cy="120700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425696"/>
            <a:ext cx="10326319" cy="310896"/>
          </a:xfrm>
          <a:prstGeom prst="rect">
            <a:avLst/>
          </a:prstGeom>
          <a:noFill/>
        </p:spPr>
        <p:txBody>
          <a:bodyPr wrap="square" anchor="t" lIns="0" rIns="0" tIns="0" bIns="0">
            <a:spAutoFit/>
          </a:bodyPr>
          <a:lstStyle/>
          <a:p>
            <a:pPr algn="l">
              <a:lnSpc>
                <a:spcPct val="118000"/>
              </a:lnSpc>
              <a:spcAft>
                <a:spcPts val="600"/>
              </a:spcAft>
            </a:pPr>
            <a:r>
              <a:rPr sz="1500" b="1" i="0">
                <a:solidFill>
                  <a:srgbClr val="0B2B4A"/>
                </a:solidFill>
                <a:latin typeface="Segoe UI"/>
              </a:rPr>
              <a:t>The task is a screening problem with one hard discrimination in it</a:t>
            </a:r>
          </a:p>
        </p:txBody>
      </p:sp>
      <p:sp>
        <p:nvSpPr>
          <p:cNvPr id="19" name="TextBox 18"/>
          <p:cNvSpPr txBox="1"/>
          <p:nvPr/>
        </p:nvSpPr>
        <p:spPr>
          <a:xfrm>
            <a:off x="932688" y="4809744"/>
            <a:ext cx="10326319" cy="640080"/>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Abnormality screening reaches 95.85 per cent sensitivity and 98.98 per cent specificity, while viral recall is 0.643. The defensible deployment is triage, not aetiology.</a:t>
            </a:r>
          </a:p>
        </p:txBody>
      </p:sp>
      <p:sp>
        <p:nvSpPr>
          <p:cNvPr id="20" name="Rounded Rectangle 19"/>
          <p:cNvSpPr/>
          <p:nvPr/>
        </p:nvSpPr>
        <p:spPr>
          <a:xfrm>
            <a:off x="658368" y="5632704"/>
            <a:ext cx="10874959" cy="566928"/>
          </a:xfrm>
          <a:prstGeom prst="roundRect">
            <a:avLst>
              <a:gd name="adj" fmla="val 10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58368" y="5632704"/>
            <a:ext cx="40640" cy="56692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96112" y="5751576"/>
            <a:ext cx="10372039" cy="329184"/>
          </a:xfrm>
          <a:prstGeom prst="rect">
            <a:avLst/>
          </a:prstGeom>
          <a:noFill/>
        </p:spPr>
        <p:txBody>
          <a:bodyPr wrap="square" anchor="t" lIns="0" rIns="0" tIns="0" bIns="0">
            <a:spAutoFit/>
          </a:bodyPr>
          <a:lstStyle/>
          <a:p>
            <a:pPr algn="l">
              <a:lnSpc>
                <a:spcPct val="118000"/>
              </a:lnSpc>
              <a:spcAft>
                <a:spcPts val="300"/>
              </a:spcAft>
            </a:pPr>
            <a:r>
              <a:rPr sz="1150" b="0" i="0">
                <a:solidFill>
                  <a:srgbClr val="B45309"/>
                </a:solidFill>
                <a:latin typeface="Segoe UI"/>
              </a:rPr>
              <a:t>A qualitative reading of the explanations cannot by itself exclude shortcut learning. That is why the in lung share is computed and disclosed per scan rather than claimed as a result.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LIMITATIONS</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Four threats bound these conclusions</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36</a:t>
            </a:r>
          </a:p>
        </p:txBody>
      </p:sp>
      <p:sp>
        <p:nvSpPr>
          <p:cNvPr id="8" name="Rounded Rectangle 7"/>
          <p:cNvSpPr/>
          <p:nvPr/>
        </p:nvSpPr>
        <p:spPr>
          <a:xfrm>
            <a:off x="658368" y="1572768"/>
            <a:ext cx="5309463" cy="2011680"/>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58368" y="1572768"/>
            <a:ext cx="5309463" cy="431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773936"/>
            <a:ext cx="4806543" cy="237744"/>
          </a:xfrm>
          <a:prstGeom prst="rect">
            <a:avLst/>
          </a:prstGeom>
          <a:noFill/>
        </p:spPr>
        <p:txBody>
          <a:bodyPr wrap="square" anchor="t" lIns="0" rIns="0" tIns="0" bIns="0">
            <a:spAutoFit/>
          </a:bodyPr>
          <a:lstStyle/>
          <a:p>
            <a:pPr algn="l">
              <a:lnSpc>
                <a:spcPct val="118000"/>
              </a:lnSpc>
              <a:spcAft>
                <a:spcPts val="600"/>
              </a:spcAft>
            </a:pPr>
            <a:r>
              <a:rPr sz="1000" b="1" i="0">
                <a:solidFill>
                  <a:srgbClr val="B45309"/>
                </a:solidFill>
                <a:latin typeface="Segoe UI"/>
              </a:rPr>
              <a:t>COMPARISON</a:t>
            </a:r>
          </a:p>
        </p:txBody>
      </p:sp>
      <p:sp>
        <p:nvSpPr>
          <p:cNvPr id="11" name="TextBox 10"/>
          <p:cNvSpPr txBox="1"/>
          <p:nvPr/>
        </p:nvSpPr>
        <p:spPr>
          <a:xfrm>
            <a:off x="914400" y="2048256"/>
            <a:ext cx="4806543" cy="292608"/>
          </a:xfrm>
          <a:prstGeom prst="rect">
            <a:avLst/>
          </a:prstGeom>
          <a:noFill/>
        </p:spPr>
        <p:txBody>
          <a:bodyPr wrap="square" anchor="t" lIns="0" rIns="0" tIns="0" bIns="0">
            <a:spAutoFit/>
          </a:bodyPr>
          <a:lstStyle/>
          <a:p>
            <a:pPr algn="l">
              <a:lnSpc>
                <a:spcPct val="118000"/>
              </a:lnSpc>
              <a:spcAft>
                <a:spcPts val="600"/>
              </a:spcAft>
            </a:pPr>
            <a:r>
              <a:rPr sz="1400" b="1" i="0">
                <a:solidFill>
                  <a:srgbClr val="0B2B4A"/>
                </a:solidFill>
                <a:latin typeface="Segoe UI"/>
              </a:rPr>
              <a:t>Incompletely controlled</a:t>
            </a:r>
          </a:p>
        </p:txBody>
      </p:sp>
      <p:sp>
        <p:nvSpPr>
          <p:cNvPr id="12" name="TextBox 11"/>
          <p:cNvSpPr txBox="1"/>
          <p:nvPr/>
        </p:nvSpPr>
        <p:spPr>
          <a:xfrm>
            <a:off x="914400" y="2414016"/>
            <a:ext cx="4806543" cy="1097280"/>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Batch size varied across models, one used a different head learning rate, and one used normalisation inconsistent with its pretrained weights. The last invalidates the EfficientNetV2S result as an architectural claim.</a:t>
            </a:r>
          </a:p>
        </p:txBody>
      </p:sp>
      <p:sp>
        <p:nvSpPr>
          <p:cNvPr id="13" name="Rounded Rectangle 12"/>
          <p:cNvSpPr/>
          <p:nvPr/>
        </p:nvSpPr>
        <p:spPr>
          <a:xfrm>
            <a:off x="6223863" y="1572768"/>
            <a:ext cx="5309463" cy="2011680"/>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23863" y="1572768"/>
            <a:ext cx="5309463" cy="431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79895" y="1773936"/>
            <a:ext cx="4806543" cy="237744"/>
          </a:xfrm>
          <a:prstGeom prst="rect">
            <a:avLst/>
          </a:prstGeom>
          <a:noFill/>
        </p:spPr>
        <p:txBody>
          <a:bodyPr wrap="square" anchor="t" lIns="0" rIns="0" tIns="0" bIns="0">
            <a:spAutoFit/>
          </a:bodyPr>
          <a:lstStyle/>
          <a:p>
            <a:pPr algn="l">
              <a:lnSpc>
                <a:spcPct val="118000"/>
              </a:lnSpc>
              <a:spcAft>
                <a:spcPts val="600"/>
              </a:spcAft>
            </a:pPr>
            <a:r>
              <a:rPr sz="1000" b="1" i="0">
                <a:solidFill>
                  <a:srgbClr val="B45309"/>
                </a:solidFill>
                <a:latin typeface="Segoe UI"/>
              </a:rPr>
              <a:t>INPUT VALIDITY</a:t>
            </a:r>
          </a:p>
        </p:txBody>
      </p:sp>
      <p:sp>
        <p:nvSpPr>
          <p:cNvPr id="16" name="TextBox 15"/>
          <p:cNvSpPr txBox="1"/>
          <p:nvPr/>
        </p:nvSpPr>
        <p:spPr>
          <a:xfrm>
            <a:off x="6479895" y="2048256"/>
            <a:ext cx="4806543" cy="292608"/>
          </a:xfrm>
          <a:prstGeom prst="rect">
            <a:avLst/>
          </a:prstGeom>
          <a:noFill/>
        </p:spPr>
        <p:txBody>
          <a:bodyPr wrap="square" anchor="t" lIns="0" rIns="0" tIns="0" bIns="0">
            <a:spAutoFit/>
          </a:bodyPr>
          <a:lstStyle/>
          <a:p>
            <a:pPr algn="l">
              <a:lnSpc>
                <a:spcPct val="118000"/>
              </a:lnSpc>
              <a:spcAft>
                <a:spcPts val="600"/>
              </a:spcAft>
            </a:pPr>
            <a:r>
              <a:rPr sz="1400" b="1" i="0">
                <a:solidFill>
                  <a:srgbClr val="0B2B4A"/>
                </a:solidFill>
                <a:latin typeface="Segoe UI"/>
              </a:rPr>
              <a:t>Bounded by the probe</a:t>
            </a:r>
          </a:p>
        </p:txBody>
      </p:sp>
      <p:sp>
        <p:nvSpPr>
          <p:cNvPr id="17" name="TextBox 16"/>
          <p:cNvSpPr txBox="1"/>
          <p:nvPr/>
        </p:nvSpPr>
        <p:spPr>
          <a:xfrm>
            <a:off x="6479895" y="2414016"/>
            <a:ext cx="4806543" cy="1097280"/>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Sixty synthetic images of noise, gradients and solid colour. A sanity check in the far regime. The near regime, a real chest radiograph of an untrained condition, is completely untested.</a:t>
            </a:r>
          </a:p>
        </p:txBody>
      </p:sp>
      <p:sp>
        <p:nvSpPr>
          <p:cNvPr id="18" name="Rounded Rectangle 17"/>
          <p:cNvSpPr/>
          <p:nvPr/>
        </p:nvSpPr>
        <p:spPr>
          <a:xfrm>
            <a:off x="658368" y="3785616"/>
            <a:ext cx="5309463" cy="2011680"/>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58368" y="3785616"/>
            <a:ext cx="5309463" cy="431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4400" y="3986784"/>
            <a:ext cx="4806543" cy="237744"/>
          </a:xfrm>
          <a:prstGeom prst="rect">
            <a:avLst/>
          </a:prstGeom>
          <a:noFill/>
        </p:spPr>
        <p:txBody>
          <a:bodyPr wrap="square" anchor="t" lIns="0" rIns="0" tIns="0" bIns="0">
            <a:spAutoFit/>
          </a:bodyPr>
          <a:lstStyle/>
          <a:p>
            <a:pPr algn="l">
              <a:lnSpc>
                <a:spcPct val="118000"/>
              </a:lnSpc>
              <a:spcAft>
                <a:spcPts val="600"/>
              </a:spcAft>
            </a:pPr>
            <a:r>
              <a:rPr sz="1000" b="1" i="0">
                <a:solidFill>
                  <a:srgbClr val="B45309"/>
                </a:solidFill>
                <a:latin typeface="Segoe UI"/>
              </a:rPr>
              <a:t>EXPLANATION</a:t>
            </a:r>
          </a:p>
        </p:txBody>
      </p:sp>
      <p:sp>
        <p:nvSpPr>
          <p:cNvPr id="21" name="TextBox 20"/>
          <p:cNvSpPr txBox="1"/>
          <p:nvPr/>
        </p:nvSpPr>
        <p:spPr>
          <a:xfrm>
            <a:off x="914400" y="4261104"/>
            <a:ext cx="4806543" cy="292608"/>
          </a:xfrm>
          <a:prstGeom prst="rect">
            <a:avLst/>
          </a:prstGeom>
          <a:noFill/>
        </p:spPr>
        <p:txBody>
          <a:bodyPr wrap="square" anchor="t" lIns="0" rIns="0" tIns="0" bIns="0">
            <a:spAutoFit/>
          </a:bodyPr>
          <a:lstStyle/>
          <a:p>
            <a:pPr algn="l">
              <a:lnSpc>
                <a:spcPct val="118000"/>
              </a:lnSpc>
              <a:spcAft>
                <a:spcPts val="600"/>
              </a:spcAft>
            </a:pPr>
            <a:r>
              <a:rPr sz="1400" b="1" i="0">
                <a:solidFill>
                  <a:srgbClr val="0B2B4A"/>
                </a:solidFill>
                <a:latin typeface="Segoe UI"/>
              </a:rPr>
              <a:t>Qualitative</a:t>
            </a:r>
          </a:p>
        </p:txBody>
      </p:sp>
      <p:sp>
        <p:nvSpPr>
          <p:cNvPr id="22" name="TextBox 21"/>
          <p:cNvSpPr txBox="1"/>
          <p:nvPr/>
        </p:nvSpPr>
        <p:spPr>
          <a:xfrm>
            <a:off x="914400" y="4626864"/>
            <a:ext cx="4806543" cy="1097280"/>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The localisation finding rests on reading the maps and on an unsupervised lung field estimator with no ground truth masks. The maximum softmax separability was never computed, and that omission is disclosed rather than left to be inferred.</a:t>
            </a:r>
          </a:p>
        </p:txBody>
      </p:sp>
      <p:sp>
        <p:nvSpPr>
          <p:cNvPr id="23" name="Rounded Rectangle 22"/>
          <p:cNvSpPr/>
          <p:nvPr/>
        </p:nvSpPr>
        <p:spPr>
          <a:xfrm>
            <a:off x="6223863" y="3785616"/>
            <a:ext cx="5309463" cy="2011680"/>
          </a:xfrm>
          <a:prstGeom prst="roundRect">
            <a:avLst>
              <a:gd name="adj" fmla="val 7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223863" y="3785616"/>
            <a:ext cx="5309463" cy="431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79895" y="3986784"/>
            <a:ext cx="4806543" cy="237744"/>
          </a:xfrm>
          <a:prstGeom prst="rect">
            <a:avLst/>
          </a:prstGeom>
          <a:noFill/>
        </p:spPr>
        <p:txBody>
          <a:bodyPr wrap="square" anchor="t" lIns="0" rIns="0" tIns="0" bIns="0">
            <a:spAutoFit/>
          </a:bodyPr>
          <a:lstStyle/>
          <a:p>
            <a:pPr algn="l">
              <a:lnSpc>
                <a:spcPct val="118000"/>
              </a:lnSpc>
              <a:spcAft>
                <a:spcPts val="600"/>
              </a:spcAft>
            </a:pPr>
            <a:r>
              <a:rPr sz="1000" b="1" i="0">
                <a:solidFill>
                  <a:srgbClr val="B45309"/>
                </a:solidFill>
                <a:latin typeface="Segoe UI"/>
              </a:rPr>
              <a:t>GENERALISABILITY</a:t>
            </a:r>
          </a:p>
        </p:txBody>
      </p:sp>
      <p:sp>
        <p:nvSpPr>
          <p:cNvPr id="26" name="TextBox 25"/>
          <p:cNvSpPr txBox="1"/>
          <p:nvPr/>
        </p:nvSpPr>
        <p:spPr>
          <a:xfrm>
            <a:off x="6479895" y="4261104"/>
            <a:ext cx="4806543" cy="292608"/>
          </a:xfrm>
          <a:prstGeom prst="rect">
            <a:avLst/>
          </a:prstGeom>
          <a:noFill/>
        </p:spPr>
        <p:txBody>
          <a:bodyPr wrap="square" anchor="t" lIns="0" rIns="0" tIns="0" bIns="0">
            <a:spAutoFit/>
          </a:bodyPr>
          <a:lstStyle/>
          <a:p>
            <a:pPr algn="l">
              <a:lnSpc>
                <a:spcPct val="118000"/>
              </a:lnSpc>
              <a:spcAft>
                <a:spcPts val="600"/>
              </a:spcAft>
            </a:pPr>
            <a:r>
              <a:rPr sz="1400" b="1" i="0">
                <a:solidFill>
                  <a:srgbClr val="0B2B4A"/>
                </a:solidFill>
                <a:latin typeface="Segoe UI"/>
              </a:rPr>
              <a:t>One dataset, one run</a:t>
            </a:r>
          </a:p>
        </p:txBody>
      </p:sp>
      <p:sp>
        <p:nvSpPr>
          <p:cNvPr id="27" name="TextBox 26"/>
          <p:cNvSpPr txBox="1"/>
          <p:nvPr/>
        </p:nvSpPr>
        <p:spPr>
          <a:xfrm>
            <a:off x="6479895" y="4626864"/>
            <a:ext cx="4806543" cy="1097280"/>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A single curated collection with no demographic attributes, so fairness could not be evaluated, and one run per architecture, so no seed variance is available.</a:t>
            </a:r>
          </a:p>
        </p:txBody>
      </p:sp>
      <p:sp>
        <p:nvSpPr>
          <p:cNvPr id="28" name="Rounded Rectangle 27"/>
          <p:cNvSpPr/>
          <p:nvPr/>
        </p:nvSpPr>
        <p:spPr>
          <a:xfrm>
            <a:off x="658368" y="5797296"/>
            <a:ext cx="10874959" cy="438912"/>
          </a:xfrm>
          <a:prstGeom prst="roundRect">
            <a:avLst>
              <a:gd name="adj" fmla="val 10000"/>
            </a:avLst>
          </a:prstGeom>
          <a:solidFill>
            <a:srgbClr val="E6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58368" y="5797296"/>
            <a:ext cx="40640" cy="438912"/>
          </a:xfrm>
          <a:prstGeom prst="rect">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96112" y="5916168"/>
            <a:ext cx="10372039" cy="201168"/>
          </a:xfrm>
          <a:prstGeom prst="rect">
            <a:avLst/>
          </a:prstGeom>
          <a:noFill/>
        </p:spPr>
        <p:txBody>
          <a:bodyPr wrap="square" anchor="t" lIns="0" rIns="0" tIns="0" bIns="0">
            <a:spAutoFit/>
          </a:bodyPr>
          <a:lstStyle/>
          <a:p>
            <a:pPr algn="l">
              <a:lnSpc>
                <a:spcPct val="118000"/>
              </a:lnSpc>
              <a:spcAft>
                <a:spcPts val="300"/>
              </a:spcAft>
            </a:pPr>
            <a:r>
              <a:rPr sz="1150" b="0" i="0">
                <a:solidFill>
                  <a:srgbClr val="0E5A72"/>
                </a:solidFill>
                <a:latin typeface="Segoe UI"/>
              </a:rPr>
              <a:t>These bound what the results mean. They are distinct from the problems encountered, which bound what the project could do.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FUTURE WORK</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Five lines of work follow from the limitations</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37</a:t>
            </a:r>
          </a:p>
        </p:txBody>
      </p:sp>
      <p:sp>
        <p:nvSpPr>
          <p:cNvPr id="8" name="Rounded Rectangle 7"/>
          <p:cNvSpPr/>
          <p:nvPr/>
        </p:nvSpPr>
        <p:spPr>
          <a:xfrm>
            <a:off x="658368" y="1572768"/>
            <a:ext cx="10874959" cy="859536"/>
          </a:xfrm>
          <a:prstGeom prst="roundRect">
            <a:avLst>
              <a:gd name="adj" fmla="val 8000"/>
            </a:avLst>
          </a:prstGeom>
          <a:solidFill>
            <a:srgbClr val="E6F2F7"/>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658368" y="1572768"/>
            <a:ext cx="676656" cy="859536"/>
          </a:xfrm>
          <a:prstGeom prst="roundRect">
            <a:avLst>
              <a:gd name="adj" fmla="val 8000"/>
            </a:avLst>
          </a:prstGeom>
          <a:solidFill>
            <a:srgbClr val="0E5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8368" y="1828800"/>
            <a:ext cx="676656" cy="310896"/>
          </a:xfrm>
          <a:prstGeom prst="rect">
            <a:avLst/>
          </a:prstGeom>
          <a:noFill/>
        </p:spPr>
        <p:txBody>
          <a:bodyPr wrap="square" anchor="t" lIns="0" rIns="0" tIns="0" bIns="0">
            <a:spAutoFit/>
          </a:bodyPr>
          <a:lstStyle/>
          <a:p>
            <a:pPr algn="ctr">
              <a:lnSpc>
                <a:spcPct val="118000"/>
              </a:lnSpc>
              <a:spcAft>
                <a:spcPts val="600"/>
              </a:spcAft>
            </a:pPr>
            <a:r>
              <a:rPr sz="1700" b="1" i="0">
                <a:solidFill>
                  <a:srgbClr val="FFFFFF"/>
                </a:solidFill>
                <a:latin typeface="Segoe UI"/>
              </a:rPr>
              <a:t>1</a:t>
            </a:r>
          </a:p>
        </p:txBody>
      </p:sp>
      <p:sp>
        <p:nvSpPr>
          <p:cNvPr id="11" name="TextBox 10"/>
          <p:cNvSpPr txBox="1"/>
          <p:nvPr/>
        </p:nvSpPr>
        <p:spPr>
          <a:xfrm>
            <a:off x="1536192" y="1700784"/>
            <a:ext cx="9686239" cy="274320"/>
          </a:xfrm>
          <a:prstGeom prst="rect">
            <a:avLst/>
          </a:prstGeom>
          <a:noFill/>
        </p:spPr>
        <p:txBody>
          <a:bodyPr wrap="square" anchor="t" lIns="0" rIns="0" tIns="0" bIns="0">
            <a:spAutoFit/>
          </a:bodyPr>
          <a:lstStyle/>
          <a:p>
            <a:pPr algn="l">
              <a:lnSpc>
                <a:spcPct val="118000"/>
              </a:lnSpc>
              <a:spcAft>
                <a:spcPts val="600"/>
              </a:spcAft>
            </a:pPr>
            <a:r>
              <a:rPr sz="1400" b="1" i="0">
                <a:solidFill>
                  <a:srgbClr val="0B2B4A"/>
                </a:solidFill>
                <a:latin typeface="Segoe UI"/>
              </a:rPr>
              <a:t>Evaluate against the near regime</a:t>
            </a:r>
          </a:p>
        </p:txBody>
      </p:sp>
      <p:sp>
        <p:nvSpPr>
          <p:cNvPr id="12" name="TextBox 11"/>
          <p:cNvSpPr txBox="1"/>
          <p:nvPr/>
        </p:nvSpPr>
        <p:spPr>
          <a:xfrm>
            <a:off x="1536192" y="1993392"/>
            <a:ext cx="9686239" cy="384048"/>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Assemble genuine radiographs of untrained conditions and real photographs, and re measure the detector. This regime determines whether the safeguard is clinically meaningful.</a:t>
            </a:r>
          </a:p>
        </p:txBody>
      </p:sp>
      <p:sp>
        <p:nvSpPr>
          <p:cNvPr id="13" name="Rounded Rectangle 12"/>
          <p:cNvSpPr/>
          <p:nvPr/>
        </p:nvSpPr>
        <p:spPr>
          <a:xfrm>
            <a:off x="658368" y="2505456"/>
            <a:ext cx="10874959" cy="859536"/>
          </a:xfrm>
          <a:prstGeom prst="roundRect">
            <a:avLst>
              <a:gd name="adj" fmla="val 8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658368" y="2505456"/>
            <a:ext cx="676656" cy="859536"/>
          </a:xfrm>
          <a:prstGeom prst="roundRect">
            <a:avLst>
              <a:gd name="adj" fmla="val 8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8368" y="2761488"/>
            <a:ext cx="676656" cy="310896"/>
          </a:xfrm>
          <a:prstGeom prst="rect">
            <a:avLst/>
          </a:prstGeom>
          <a:noFill/>
        </p:spPr>
        <p:txBody>
          <a:bodyPr wrap="square" anchor="t" lIns="0" rIns="0" tIns="0" bIns="0">
            <a:spAutoFit/>
          </a:bodyPr>
          <a:lstStyle/>
          <a:p>
            <a:pPr algn="ctr">
              <a:lnSpc>
                <a:spcPct val="118000"/>
              </a:lnSpc>
              <a:spcAft>
                <a:spcPts val="600"/>
              </a:spcAft>
            </a:pPr>
            <a:r>
              <a:rPr sz="1700" b="1" i="0">
                <a:solidFill>
                  <a:srgbClr val="FFFFFF"/>
                </a:solidFill>
                <a:latin typeface="Segoe UI"/>
              </a:rPr>
              <a:t>2</a:t>
            </a:r>
          </a:p>
        </p:txBody>
      </p:sp>
      <p:sp>
        <p:nvSpPr>
          <p:cNvPr id="16" name="TextBox 15"/>
          <p:cNvSpPr txBox="1"/>
          <p:nvPr/>
        </p:nvSpPr>
        <p:spPr>
          <a:xfrm>
            <a:off x="1536192" y="2633472"/>
            <a:ext cx="9686239" cy="274320"/>
          </a:xfrm>
          <a:prstGeom prst="rect">
            <a:avLst/>
          </a:prstGeom>
          <a:noFill/>
        </p:spPr>
        <p:txBody>
          <a:bodyPr wrap="square" anchor="t" lIns="0" rIns="0" tIns="0" bIns="0">
            <a:spAutoFit/>
          </a:bodyPr>
          <a:lstStyle/>
          <a:p>
            <a:pPr algn="l">
              <a:lnSpc>
                <a:spcPct val="118000"/>
              </a:lnSpc>
              <a:spcAft>
                <a:spcPts val="600"/>
              </a:spcAft>
            </a:pPr>
            <a:r>
              <a:rPr sz="1400" b="1" i="0">
                <a:solidFill>
                  <a:srgbClr val="0B2B4A"/>
                </a:solidFill>
                <a:latin typeface="Segoe UI"/>
              </a:rPr>
              <a:t>Retrain under matched preprocessing</a:t>
            </a:r>
          </a:p>
        </p:txBody>
      </p:sp>
      <p:sp>
        <p:nvSpPr>
          <p:cNvPr id="17" name="TextBox 16"/>
          <p:cNvSpPr txBox="1"/>
          <p:nvPr/>
        </p:nvSpPr>
        <p:spPr>
          <a:xfrm>
            <a:off x="1536192" y="2926080"/>
            <a:ext cx="9686239" cy="384048"/>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Repeat EfficientNetV2S with the normalisation its weights expect, and repeat every run across multiple seeds.</a:t>
            </a:r>
          </a:p>
        </p:txBody>
      </p:sp>
      <p:sp>
        <p:nvSpPr>
          <p:cNvPr id="18" name="Rounded Rectangle 17"/>
          <p:cNvSpPr/>
          <p:nvPr/>
        </p:nvSpPr>
        <p:spPr>
          <a:xfrm>
            <a:off x="658368" y="3438144"/>
            <a:ext cx="10874959" cy="859536"/>
          </a:xfrm>
          <a:prstGeom prst="roundRect">
            <a:avLst>
              <a:gd name="adj" fmla="val 8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58368" y="3438144"/>
            <a:ext cx="676656" cy="859536"/>
          </a:xfrm>
          <a:prstGeom prst="roundRect">
            <a:avLst>
              <a:gd name="adj" fmla="val 8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58368" y="3694176"/>
            <a:ext cx="676656" cy="310896"/>
          </a:xfrm>
          <a:prstGeom prst="rect">
            <a:avLst/>
          </a:prstGeom>
          <a:noFill/>
        </p:spPr>
        <p:txBody>
          <a:bodyPr wrap="square" anchor="t" lIns="0" rIns="0" tIns="0" bIns="0">
            <a:spAutoFit/>
          </a:bodyPr>
          <a:lstStyle/>
          <a:p>
            <a:pPr algn="ctr">
              <a:lnSpc>
                <a:spcPct val="118000"/>
              </a:lnSpc>
              <a:spcAft>
                <a:spcPts val="600"/>
              </a:spcAft>
            </a:pPr>
            <a:r>
              <a:rPr sz="1700" b="1" i="0">
                <a:solidFill>
                  <a:srgbClr val="FFFFFF"/>
                </a:solidFill>
                <a:latin typeface="Segoe UI"/>
              </a:rPr>
              <a:t>3</a:t>
            </a:r>
          </a:p>
        </p:txBody>
      </p:sp>
      <p:sp>
        <p:nvSpPr>
          <p:cNvPr id="21" name="TextBox 20"/>
          <p:cNvSpPr txBox="1"/>
          <p:nvPr/>
        </p:nvSpPr>
        <p:spPr>
          <a:xfrm>
            <a:off x="1536192" y="3566160"/>
            <a:ext cx="9686239" cy="274320"/>
          </a:xfrm>
          <a:prstGeom prst="rect">
            <a:avLst/>
          </a:prstGeom>
          <a:noFill/>
        </p:spPr>
        <p:txBody>
          <a:bodyPr wrap="square" anchor="t" lIns="0" rIns="0" tIns="0" bIns="0">
            <a:spAutoFit/>
          </a:bodyPr>
          <a:lstStyle/>
          <a:p>
            <a:pPr algn="l">
              <a:lnSpc>
                <a:spcPct val="118000"/>
              </a:lnSpc>
              <a:spcAft>
                <a:spcPts val="600"/>
              </a:spcAft>
            </a:pPr>
            <a:r>
              <a:rPr sz="1400" b="1" i="0">
                <a:solidFill>
                  <a:srgbClr val="0B2B4A"/>
                </a:solidFill>
                <a:latin typeface="Segoe UI"/>
              </a:rPr>
              <a:t>Target the bacterial and viral confusion directly</a:t>
            </a:r>
          </a:p>
        </p:txBody>
      </p:sp>
      <p:sp>
        <p:nvSpPr>
          <p:cNvPr id="22" name="TextBox 21"/>
          <p:cNvSpPr txBox="1"/>
          <p:nvPr/>
        </p:nvSpPr>
        <p:spPr>
          <a:xfrm>
            <a:off x="1536192" y="3858768"/>
            <a:ext cx="9686239" cy="384048"/>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It carries between 69 and 76 per cent of all errors and it is the distinction with the clinical consequence.</a:t>
            </a:r>
          </a:p>
        </p:txBody>
      </p:sp>
      <p:sp>
        <p:nvSpPr>
          <p:cNvPr id="23" name="Rounded Rectangle 22"/>
          <p:cNvSpPr/>
          <p:nvPr/>
        </p:nvSpPr>
        <p:spPr>
          <a:xfrm>
            <a:off x="658368" y="4370832"/>
            <a:ext cx="10874959" cy="859536"/>
          </a:xfrm>
          <a:prstGeom prst="roundRect">
            <a:avLst>
              <a:gd name="adj" fmla="val 8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58368" y="4370832"/>
            <a:ext cx="676656" cy="859536"/>
          </a:xfrm>
          <a:prstGeom prst="roundRect">
            <a:avLst>
              <a:gd name="adj" fmla="val 8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8368" y="4626864"/>
            <a:ext cx="676656" cy="310896"/>
          </a:xfrm>
          <a:prstGeom prst="rect">
            <a:avLst/>
          </a:prstGeom>
          <a:noFill/>
        </p:spPr>
        <p:txBody>
          <a:bodyPr wrap="square" anchor="t" lIns="0" rIns="0" tIns="0" bIns="0">
            <a:spAutoFit/>
          </a:bodyPr>
          <a:lstStyle/>
          <a:p>
            <a:pPr algn="ctr">
              <a:lnSpc>
                <a:spcPct val="118000"/>
              </a:lnSpc>
              <a:spcAft>
                <a:spcPts val="600"/>
              </a:spcAft>
            </a:pPr>
            <a:r>
              <a:rPr sz="1700" b="1" i="0">
                <a:solidFill>
                  <a:srgbClr val="FFFFFF"/>
                </a:solidFill>
                <a:latin typeface="Segoe UI"/>
              </a:rPr>
              <a:t>4</a:t>
            </a:r>
          </a:p>
        </p:txBody>
      </p:sp>
      <p:sp>
        <p:nvSpPr>
          <p:cNvPr id="26" name="TextBox 25"/>
          <p:cNvSpPr txBox="1"/>
          <p:nvPr/>
        </p:nvSpPr>
        <p:spPr>
          <a:xfrm>
            <a:off x="1536192" y="4498848"/>
            <a:ext cx="9686239" cy="274320"/>
          </a:xfrm>
          <a:prstGeom prst="rect">
            <a:avLst/>
          </a:prstGeom>
          <a:noFill/>
        </p:spPr>
        <p:txBody>
          <a:bodyPr wrap="square" anchor="t" lIns="0" rIns="0" tIns="0" bIns="0">
            <a:spAutoFit/>
          </a:bodyPr>
          <a:lstStyle/>
          <a:p>
            <a:pPr algn="l">
              <a:lnSpc>
                <a:spcPct val="118000"/>
              </a:lnSpc>
              <a:spcAft>
                <a:spcPts val="600"/>
              </a:spcAft>
            </a:pPr>
            <a:r>
              <a:rPr sz="1400" b="1" i="0">
                <a:solidFill>
                  <a:srgbClr val="0B2B4A"/>
                </a:solidFill>
                <a:latin typeface="Segoe UI"/>
              </a:rPr>
              <a:t>Train on lung segmented inputs</a:t>
            </a:r>
          </a:p>
        </p:txBody>
      </p:sp>
      <p:sp>
        <p:nvSpPr>
          <p:cNvPr id="27" name="TextBox 26"/>
          <p:cNvSpPr txBox="1"/>
          <p:nvPr/>
        </p:nvSpPr>
        <p:spPr>
          <a:xfrm>
            <a:off x="1536192" y="4791456"/>
            <a:ext cx="9686239" cy="384048"/>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Test whether restricting the input, rather than the explanation, reduces reliance on regions outside the lungs.</a:t>
            </a:r>
          </a:p>
        </p:txBody>
      </p:sp>
      <p:sp>
        <p:nvSpPr>
          <p:cNvPr id="28" name="Rounded Rectangle 27"/>
          <p:cNvSpPr/>
          <p:nvPr/>
        </p:nvSpPr>
        <p:spPr>
          <a:xfrm>
            <a:off x="658368" y="5303520"/>
            <a:ext cx="10874959" cy="859536"/>
          </a:xfrm>
          <a:prstGeom prst="roundRect">
            <a:avLst>
              <a:gd name="adj" fmla="val 8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58368" y="5303520"/>
            <a:ext cx="676656" cy="859536"/>
          </a:xfrm>
          <a:prstGeom prst="roundRect">
            <a:avLst>
              <a:gd name="adj" fmla="val 8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8368" y="5559552"/>
            <a:ext cx="676656" cy="310896"/>
          </a:xfrm>
          <a:prstGeom prst="rect">
            <a:avLst/>
          </a:prstGeom>
          <a:noFill/>
        </p:spPr>
        <p:txBody>
          <a:bodyPr wrap="square" anchor="t" lIns="0" rIns="0" tIns="0" bIns="0">
            <a:spAutoFit/>
          </a:bodyPr>
          <a:lstStyle/>
          <a:p>
            <a:pPr algn="ctr">
              <a:lnSpc>
                <a:spcPct val="118000"/>
              </a:lnSpc>
              <a:spcAft>
                <a:spcPts val="600"/>
              </a:spcAft>
            </a:pPr>
            <a:r>
              <a:rPr sz="1700" b="1" i="0">
                <a:solidFill>
                  <a:srgbClr val="FFFFFF"/>
                </a:solidFill>
                <a:latin typeface="Segoe UI"/>
              </a:rPr>
              <a:t>5</a:t>
            </a:r>
          </a:p>
        </p:txBody>
      </p:sp>
      <p:sp>
        <p:nvSpPr>
          <p:cNvPr id="31" name="TextBox 30"/>
          <p:cNvSpPr txBox="1"/>
          <p:nvPr/>
        </p:nvSpPr>
        <p:spPr>
          <a:xfrm>
            <a:off x="1536192" y="5431536"/>
            <a:ext cx="9686239" cy="274320"/>
          </a:xfrm>
          <a:prstGeom prst="rect">
            <a:avLst/>
          </a:prstGeom>
          <a:noFill/>
        </p:spPr>
        <p:txBody>
          <a:bodyPr wrap="square" anchor="t" lIns="0" rIns="0" tIns="0" bIns="0">
            <a:spAutoFit/>
          </a:bodyPr>
          <a:lstStyle/>
          <a:p>
            <a:pPr algn="l">
              <a:lnSpc>
                <a:spcPct val="118000"/>
              </a:lnSpc>
              <a:spcAft>
                <a:spcPts val="600"/>
              </a:spcAft>
            </a:pPr>
            <a:r>
              <a:rPr sz="1400" b="1" i="0">
                <a:solidFill>
                  <a:srgbClr val="0B2B4A"/>
                </a:solidFill>
                <a:latin typeface="Segoe UI"/>
              </a:rPr>
              <a:t>Compute maximum softmax separability on the existing probe</a:t>
            </a:r>
          </a:p>
        </p:txBody>
      </p:sp>
      <p:sp>
        <p:nvSpPr>
          <p:cNvPr id="32" name="TextBox 31"/>
          <p:cNvSpPr txBox="1"/>
          <p:nvPr/>
        </p:nvSpPr>
        <p:spPr>
          <a:xfrm>
            <a:off x="1536192" y="5724144"/>
            <a:ext cx="9686239" cy="384048"/>
          </a:xfrm>
          <a:prstGeom prst="rect">
            <a:avLst/>
          </a:prstGeom>
          <a:noFill/>
        </p:spPr>
        <p:txBody>
          <a:bodyPr wrap="square" anchor="t" lIns="0" rIns="0" tIns="0" bIns="0">
            <a:spAutoFit/>
          </a:bodyPr>
          <a:lstStyle/>
          <a:p>
            <a:pPr algn="l">
              <a:lnSpc>
                <a:spcPct val="118000"/>
              </a:lnSpc>
              <a:spcAft>
                <a:spcPts val="600"/>
              </a:spcAft>
            </a:pPr>
            <a:r>
              <a:rPr sz="1150" b="0" i="0">
                <a:solidFill>
                  <a:srgbClr val="243B53"/>
                </a:solidFill>
                <a:latin typeface="Segoe UI"/>
              </a:rPr>
              <a:t>This should be first, because it costs almost nothing and closes a disclosed gap in the comparison.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10874959" cy="237744"/>
          </a:xfrm>
          <a:prstGeom prst="rect">
            <a:avLst/>
          </a:prstGeom>
          <a:noFill/>
        </p:spPr>
        <p:txBody>
          <a:bodyPr wrap="square" anchor="t" lIns="0" rIns="0" tIns="0" bIns="0">
            <a:spAutoFit/>
          </a:bodyPr>
          <a:lstStyle/>
          <a:p>
            <a:pPr algn="l">
              <a:lnSpc>
                <a:spcPct val="118000"/>
              </a:lnSpc>
              <a:spcAft>
                <a:spcPts val="600"/>
              </a:spcAft>
            </a:pPr>
            <a:r>
              <a:rPr sz="1050" b="1" i="0">
                <a:solidFill>
                  <a:srgbClr val="147D9B"/>
                </a:solidFill>
                <a:latin typeface="Segoe UI"/>
              </a:rPr>
              <a:t>WHAT THIS THESIS DELIVERED</a:t>
            </a:r>
          </a:p>
        </p:txBody>
      </p:sp>
      <p:sp>
        <p:nvSpPr>
          <p:cNvPr id="3" name="TextBox 2"/>
          <p:cNvSpPr txBox="1"/>
          <p:nvPr/>
        </p:nvSpPr>
        <p:spPr>
          <a:xfrm>
            <a:off x="658368" y="877824"/>
            <a:ext cx="10874959" cy="566928"/>
          </a:xfrm>
          <a:prstGeom prst="rect">
            <a:avLst/>
          </a:prstGeom>
          <a:noFill/>
        </p:spPr>
        <p:txBody>
          <a:bodyPr wrap="none" anchor="t" lIns="0" rIns="0" tIns="0" bIns="0">
            <a:spAutoFit/>
          </a:bodyPr>
          <a:lstStyle/>
          <a:p>
            <a:pPr algn="l">
              <a:lnSpc>
                <a:spcPct val="102000"/>
              </a:lnSpc>
              <a:spcAft>
                <a:spcPts val="600"/>
              </a:spcAft>
            </a:pPr>
            <a:r>
              <a:rPr sz="2700" b="1" i="0">
                <a:solidFill>
                  <a:srgbClr val="0B2B4A"/>
                </a:solidFill>
                <a:latin typeface="Segoe UI"/>
              </a:rPr>
              <a:t>Conclusion</a:t>
            </a:r>
          </a:p>
        </p:txBody>
      </p:sp>
      <p:sp>
        <p:nvSpPr>
          <p:cNvPr id="4" name="Rectangle 3"/>
          <p:cNvSpPr/>
          <p:nvPr/>
        </p:nvSpPr>
        <p:spPr>
          <a:xfrm>
            <a:off x="658368" y="1499616"/>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58368" y="6382512"/>
            <a:ext cx="10874959" cy="11430"/>
          </a:xfrm>
          <a:prstGeom prst="rect">
            <a:avLst/>
          </a:prstGeom>
          <a:solidFill>
            <a:srgbClr val="D8E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6473952"/>
            <a:ext cx="7315200" cy="256032"/>
          </a:xfrm>
          <a:prstGeom prst="rect">
            <a:avLst/>
          </a:prstGeom>
          <a:noFill/>
        </p:spPr>
        <p:txBody>
          <a:bodyPr wrap="square" anchor="t" lIns="0" rIns="0" tIns="0" bIns="0">
            <a:spAutoFit/>
          </a:bodyPr>
          <a:lstStyle/>
          <a:p>
            <a:pPr algn="l">
              <a:lnSpc>
                <a:spcPct val="118000"/>
              </a:lnSpc>
              <a:spcAft>
                <a:spcPts val="600"/>
              </a:spcAft>
            </a:pPr>
            <a:r>
              <a:rPr sz="900" b="0" i="0">
                <a:solidFill>
                  <a:srgbClr val="647C93"/>
                </a:solidFill>
                <a:latin typeface="Segoe UI"/>
              </a:rPr>
              <a:t>LungVision AI  ·  G. C. M. Sewwandi  ·  29002</a:t>
            </a:r>
          </a:p>
        </p:txBody>
      </p:sp>
      <p:sp>
        <p:nvSpPr>
          <p:cNvPr id="7" name="TextBox 6"/>
          <p:cNvSpPr txBox="1"/>
          <p:nvPr/>
        </p:nvSpPr>
        <p:spPr>
          <a:xfrm>
            <a:off x="10436047" y="6473952"/>
            <a:ext cx="1097280" cy="256032"/>
          </a:xfrm>
          <a:prstGeom prst="rect">
            <a:avLst/>
          </a:prstGeom>
          <a:noFill/>
        </p:spPr>
        <p:txBody>
          <a:bodyPr wrap="square" anchor="t" lIns="0" rIns="0" tIns="0" bIns="0">
            <a:spAutoFit/>
          </a:bodyPr>
          <a:lstStyle/>
          <a:p>
            <a:pPr algn="r">
              <a:lnSpc>
                <a:spcPct val="118000"/>
              </a:lnSpc>
              <a:spcAft>
                <a:spcPts val="600"/>
              </a:spcAft>
            </a:pPr>
            <a:r>
              <a:rPr sz="900" b="0" i="0">
                <a:solidFill>
                  <a:srgbClr val="647C93"/>
                </a:solidFill>
                <a:latin typeface="Segoe UI"/>
              </a:rPr>
              <a:t>38</a:t>
            </a:r>
          </a:p>
        </p:txBody>
      </p:sp>
      <p:sp>
        <p:nvSpPr>
          <p:cNvPr id="8" name="TextBox 7"/>
          <p:cNvSpPr txBox="1"/>
          <p:nvPr/>
        </p:nvSpPr>
        <p:spPr>
          <a:xfrm>
            <a:off x="658368" y="1527048"/>
            <a:ext cx="10874959" cy="914400"/>
          </a:xfrm>
          <a:prstGeom prst="rect">
            <a:avLst/>
          </a:prstGeom>
          <a:noFill/>
        </p:spPr>
        <p:txBody>
          <a:bodyPr wrap="square" anchor="t" lIns="0" rIns="0" tIns="0" bIns="0">
            <a:spAutoFit/>
          </a:bodyPr>
          <a:lstStyle/>
          <a:p>
            <a:pPr algn="l">
              <a:lnSpc>
                <a:spcPct val="116000"/>
              </a:lnSpc>
              <a:spcAft>
                <a:spcPts val="600"/>
              </a:spcAft>
            </a:pPr>
            <a:r>
              <a:rPr sz="1800" b="1" i="0">
                <a:solidFill>
                  <a:srgbClr val="0B2B4A"/>
                </a:solidFill>
                <a:latin typeface="Segoe UI"/>
              </a:rPr>
              <a:t>This thesis addressed the gap between a chest radiograph classifier that is accurate and one that is safe to deploy.</a:t>
            </a:r>
          </a:p>
        </p:txBody>
      </p:sp>
      <p:sp>
        <p:nvSpPr>
          <p:cNvPr id="9" name="Rounded Rectangle 8"/>
          <p:cNvSpPr/>
          <p:nvPr/>
        </p:nvSpPr>
        <p:spPr>
          <a:xfrm>
            <a:off x="658368" y="2468880"/>
            <a:ext cx="2567863" cy="118872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58368" y="2468880"/>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7824" y="2615184"/>
            <a:ext cx="2202103"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85.31 %</a:t>
            </a:r>
          </a:p>
        </p:txBody>
      </p:sp>
      <p:sp>
        <p:nvSpPr>
          <p:cNvPr id="12" name="TextBox 11"/>
          <p:cNvSpPr txBox="1"/>
          <p:nvPr/>
        </p:nvSpPr>
        <p:spPr>
          <a:xfrm>
            <a:off x="877824" y="3054096"/>
            <a:ext cx="2202103"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TEST ACCURACY</a:t>
            </a:r>
          </a:p>
        </p:txBody>
      </p:sp>
      <p:sp>
        <p:nvSpPr>
          <p:cNvPr id="13" name="TextBox 12"/>
          <p:cNvSpPr txBox="1"/>
          <p:nvPr/>
        </p:nvSpPr>
        <p:spPr>
          <a:xfrm>
            <a:off x="877824" y="3346704"/>
            <a:ext cx="2202103"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macro F1 0.844 on 1,382 held out images</a:t>
            </a:r>
          </a:p>
        </p:txBody>
      </p:sp>
      <p:sp>
        <p:nvSpPr>
          <p:cNvPr id="14" name="Rounded Rectangle 13"/>
          <p:cNvSpPr/>
          <p:nvPr/>
        </p:nvSpPr>
        <p:spPr>
          <a:xfrm>
            <a:off x="3427399" y="2468880"/>
            <a:ext cx="2567863" cy="118872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427399" y="2468880"/>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46855" y="2615184"/>
            <a:ext cx="2202103"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92.5 %</a:t>
            </a:r>
          </a:p>
        </p:txBody>
      </p:sp>
      <p:sp>
        <p:nvSpPr>
          <p:cNvPr id="17" name="TextBox 16"/>
          <p:cNvSpPr txBox="1"/>
          <p:nvPr/>
        </p:nvSpPr>
        <p:spPr>
          <a:xfrm>
            <a:off x="3646855" y="3054096"/>
            <a:ext cx="2202103"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GENUINE SCANS RETAINED</a:t>
            </a:r>
          </a:p>
        </p:txBody>
      </p:sp>
      <p:sp>
        <p:nvSpPr>
          <p:cNvPr id="18" name="TextBox 17"/>
          <p:cNvSpPr txBox="1"/>
          <p:nvPr/>
        </p:nvSpPr>
        <p:spPr>
          <a:xfrm>
            <a:off x="3646855" y="3346704"/>
            <a:ext cx="2202103"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while refusing every probe image</a:t>
            </a:r>
          </a:p>
        </p:txBody>
      </p:sp>
      <p:sp>
        <p:nvSpPr>
          <p:cNvPr id="19" name="Rounded Rectangle 18"/>
          <p:cNvSpPr/>
          <p:nvPr/>
        </p:nvSpPr>
        <p:spPr>
          <a:xfrm>
            <a:off x="6196430" y="2468880"/>
            <a:ext cx="2567863" cy="118872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196430" y="2468880"/>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15886" y="2615184"/>
            <a:ext cx="2202103"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1.000</a:t>
            </a:r>
          </a:p>
        </p:txBody>
      </p:sp>
      <p:sp>
        <p:nvSpPr>
          <p:cNvPr id="22" name="TextBox 21"/>
          <p:cNvSpPr txBox="1"/>
          <p:nvPr/>
        </p:nvSpPr>
        <p:spPr>
          <a:xfrm>
            <a:off x="6415886" y="3054096"/>
            <a:ext cx="2202103"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MAHALANOBIS AUROC</a:t>
            </a:r>
          </a:p>
        </p:txBody>
      </p:sp>
      <p:sp>
        <p:nvSpPr>
          <p:cNvPr id="23" name="TextBox 22"/>
          <p:cNvSpPr txBox="1"/>
          <p:nvPr/>
        </p:nvSpPr>
        <p:spPr>
          <a:xfrm>
            <a:off x="6415886" y="3346704"/>
            <a:ext cx="2202103"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against energy at 0.539</a:t>
            </a:r>
          </a:p>
        </p:txBody>
      </p:sp>
      <p:sp>
        <p:nvSpPr>
          <p:cNvPr id="24" name="Rounded Rectangle 23"/>
          <p:cNvSpPr/>
          <p:nvPr/>
        </p:nvSpPr>
        <p:spPr>
          <a:xfrm>
            <a:off x="8965461" y="2468880"/>
            <a:ext cx="2567863" cy="1188720"/>
          </a:xfrm>
          <a:prstGeom prst="roundRect">
            <a:avLst>
              <a:gd name="adj" fmla="val 10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65461" y="2468880"/>
            <a:ext cx="40640" cy="11887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84917" y="2615184"/>
            <a:ext cx="2202103" cy="457200"/>
          </a:xfrm>
          <a:prstGeom prst="rect">
            <a:avLst/>
          </a:prstGeom>
          <a:noFill/>
        </p:spPr>
        <p:txBody>
          <a:bodyPr wrap="square" anchor="t" lIns="0" rIns="0" tIns="0" bIns="0">
            <a:spAutoFit/>
          </a:bodyPr>
          <a:lstStyle/>
          <a:p>
            <a:pPr algn="l">
              <a:lnSpc>
                <a:spcPct val="100000"/>
              </a:lnSpc>
              <a:spcAft>
                <a:spcPts val="600"/>
              </a:spcAft>
            </a:pPr>
            <a:r>
              <a:rPr sz="2600" b="1" i="0">
                <a:solidFill>
                  <a:srgbClr val="0B2B4A"/>
                </a:solidFill>
                <a:latin typeface="Segoe UI"/>
              </a:rPr>
              <a:t>10 / 10</a:t>
            </a:r>
          </a:p>
        </p:txBody>
      </p:sp>
      <p:sp>
        <p:nvSpPr>
          <p:cNvPr id="27" name="TextBox 26"/>
          <p:cNvSpPr txBox="1"/>
          <p:nvPr/>
        </p:nvSpPr>
        <p:spPr>
          <a:xfrm>
            <a:off x="9184917" y="3054096"/>
            <a:ext cx="2202103" cy="292608"/>
          </a:xfrm>
          <a:prstGeom prst="rect">
            <a:avLst/>
          </a:prstGeom>
          <a:noFill/>
        </p:spPr>
        <p:txBody>
          <a:bodyPr wrap="square" anchor="t" lIns="0" rIns="0" tIns="0" bIns="0">
            <a:spAutoFit/>
          </a:bodyPr>
          <a:lstStyle/>
          <a:p>
            <a:pPr algn="l">
              <a:lnSpc>
                <a:spcPct val="118000"/>
              </a:lnSpc>
              <a:spcAft>
                <a:spcPts val="600"/>
              </a:spcAft>
            </a:pPr>
            <a:r>
              <a:rPr sz="1050" b="1" i="0">
                <a:solidFill>
                  <a:srgbClr val="647C93"/>
                </a:solidFill>
                <a:latin typeface="Segoe UI"/>
              </a:rPr>
              <a:t>TEST CASES PASSED</a:t>
            </a:r>
          </a:p>
        </p:txBody>
      </p:sp>
      <p:sp>
        <p:nvSpPr>
          <p:cNvPr id="28" name="TextBox 27"/>
          <p:cNvSpPr txBox="1"/>
          <p:nvPr/>
        </p:nvSpPr>
        <p:spPr>
          <a:xfrm>
            <a:off x="9184917" y="3346704"/>
            <a:ext cx="2202103" cy="237744"/>
          </a:xfrm>
          <a:prstGeom prst="rect">
            <a:avLst/>
          </a:prstGeom>
          <a:noFill/>
        </p:spPr>
        <p:txBody>
          <a:bodyPr wrap="square" anchor="t" lIns="0" rIns="0" tIns="0" bIns="0">
            <a:spAutoFit/>
          </a:bodyPr>
          <a:lstStyle/>
          <a:p>
            <a:pPr algn="l">
              <a:lnSpc>
                <a:spcPct val="118000"/>
              </a:lnSpc>
              <a:spcAft>
                <a:spcPts val="600"/>
              </a:spcAft>
            </a:pPr>
            <a:r>
              <a:rPr sz="950" b="0" i="0">
                <a:solidFill>
                  <a:srgbClr val="243B53"/>
                </a:solidFill>
                <a:latin typeface="Segoe UI"/>
              </a:rPr>
              <a:t>against the running stack</a:t>
            </a:r>
          </a:p>
        </p:txBody>
      </p:sp>
      <p:sp>
        <p:nvSpPr>
          <p:cNvPr id="29" name="Rounded Rectangle 28"/>
          <p:cNvSpPr/>
          <p:nvPr/>
        </p:nvSpPr>
        <p:spPr>
          <a:xfrm>
            <a:off x="658368" y="3895344"/>
            <a:ext cx="10874959" cy="1828800"/>
          </a:xfrm>
          <a:prstGeom prst="roundRect">
            <a:avLst>
              <a:gd name="adj" fmla="val 6000"/>
            </a:avLst>
          </a:prstGeom>
          <a:solidFill>
            <a:srgbClr val="F3F8FB"/>
          </a:solidFill>
          <a:ln w="12700">
            <a:solidFill>
              <a:srgbClr val="D8E5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58368" y="3895344"/>
            <a:ext cx="40640" cy="182880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4400" y="4078224"/>
            <a:ext cx="10362895" cy="274320"/>
          </a:xfrm>
          <a:prstGeom prst="rect">
            <a:avLst/>
          </a:prstGeom>
          <a:noFill/>
        </p:spPr>
        <p:txBody>
          <a:bodyPr wrap="square" anchor="t" lIns="0" rIns="0" tIns="0" bIns="0">
            <a:spAutoFit/>
          </a:bodyPr>
          <a:lstStyle/>
          <a:p>
            <a:pPr algn="l">
              <a:lnSpc>
                <a:spcPct val="118000"/>
              </a:lnSpc>
              <a:spcAft>
                <a:spcPts val="600"/>
              </a:spcAft>
            </a:pPr>
            <a:r>
              <a:rPr sz="1300" b="1" i="0">
                <a:solidFill>
                  <a:srgbClr val="0B2B4A"/>
                </a:solidFill>
                <a:latin typeface="Segoe UI"/>
              </a:rPr>
              <a:t>What is new here</a:t>
            </a:r>
          </a:p>
        </p:txBody>
      </p:sp>
      <p:sp>
        <p:nvSpPr>
          <p:cNvPr id="32" name="Rounded Rectangle 31"/>
          <p:cNvSpPr/>
          <p:nvPr/>
        </p:nvSpPr>
        <p:spPr>
          <a:xfrm>
            <a:off x="914400" y="452170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133856" y="4443984"/>
            <a:ext cx="10143439" cy="425450"/>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A four class explainable framework in which a post hoc safeguard, fitted without retraining, withholds the diagnosis for inputs the model cannot assess, and says why.</a:t>
            </a:r>
          </a:p>
        </p:txBody>
      </p:sp>
      <p:sp>
        <p:nvSpPr>
          <p:cNvPr id="34" name="Rounded Rectangle 33"/>
          <p:cNvSpPr/>
          <p:nvPr/>
        </p:nvSpPr>
        <p:spPr>
          <a:xfrm>
            <a:off x="914400" y="5038598"/>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133856" y="4960874"/>
            <a:ext cx="10143439" cy="212725"/>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An explanation restricted to the lung fields whose localisation is measured on the unmasked map and disclosed for every scan.</a:t>
            </a:r>
          </a:p>
        </p:txBody>
      </p:sp>
      <p:sp>
        <p:nvSpPr>
          <p:cNvPr id="36" name="Rounded Rectangle 35"/>
          <p:cNvSpPr/>
          <p:nvPr/>
        </p:nvSpPr>
        <p:spPr>
          <a:xfrm>
            <a:off x="914400" y="5342763"/>
            <a:ext cx="68580" cy="68580"/>
          </a:xfrm>
          <a:prstGeom prst="roundRect">
            <a:avLst>
              <a:gd name="adj" fmla="val 50000"/>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133856" y="5265039"/>
            <a:ext cx="10143439" cy="425450"/>
          </a:xfrm>
          <a:prstGeom prst="rect">
            <a:avLst/>
          </a:prstGeom>
          <a:noFill/>
        </p:spPr>
        <p:txBody>
          <a:bodyPr wrap="square" anchor="t" lIns="0" rIns="0" tIns="0" bIns="0">
            <a:spAutoFit/>
          </a:bodyPr>
          <a:lstStyle/>
          <a:p>
            <a:pPr algn="l">
              <a:lnSpc>
                <a:spcPct val="118000"/>
              </a:lnSpc>
              <a:spcAft>
                <a:spcPts val="600"/>
              </a:spcAft>
            </a:pPr>
            <a:r>
              <a:rPr sz="1250" b="0" i="0">
                <a:solidFill>
                  <a:srgbClr val="243B53"/>
                </a:solidFill>
                <a:latin typeface="Segoe UI"/>
              </a:rPr>
              <a:t>Evidence rather than a new architecture: a per class characterisation of the four class task, and detection methods carried into a clinical setting where they are actually evaluated and one of them fails.</a:t>
            </a:r>
          </a:p>
        </p:txBody>
      </p:sp>
      <p:sp>
        <p:nvSpPr>
          <p:cNvPr id="38" name="Rounded Rectangle 37"/>
          <p:cNvSpPr/>
          <p:nvPr/>
        </p:nvSpPr>
        <p:spPr>
          <a:xfrm>
            <a:off x="658368" y="5815584"/>
            <a:ext cx="10874959" cy="438912"/>
          </a:xfrm>
          <a:prstGeom prst="roundRect">
            <a:avLst>
              <a:gd name="adj" fmla="val 10000"/>
            </a:avLst>
          </a:prstGeom>
          <a:solidFill>
            <a:srgbClr val="E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58368" y="5815584"/>
            <a:ext cx="40640" cy="438912"/>
          </a:xfrm>
          <a:prstGeom prst="rect">
            <a:avLst/>
          </a:prstGeom>
          <a:solidFill>
            <a:srgbClr val="1B6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96112" y="5934456"/>
            <a:ext cx="10372039" cy="201168"/>
          </a:xfrm>
          <a:prstGeom prst="rect">
            <a:avLst/>
          </a:prstGeom>
          <a:noFill/>
        </p:spPr>
        <p:txBody>
          <a:bodyPr wrap="square" anchor="t" lIns="0" rIns="0" tIns="0" bIns="0">
            <a:spAutoFit/>
          </a:bodyPr>
          <a:lstStyle/>
          <a:p>
            <a:pPr algn="l">
              <a:lnSpc>
                <a:spcPct val="118000"/>
              </a:lnSpc>
              <a:spcAft>
                <a:spcPts val="300"/>
              </a:spcAft>
            </a:pPr>
            <a:r>
              <a:rPr sz="1150" b="0" i="0">
                <a:solidFill>
                  <a:srgbClr val="1B6E52"/>
                </a:solidFill>
                <a:latin typeface="Segoe UI"/>
              </a:rPr>
              <a:t>The practical value lies in the safeguard rather than in the classifier: it applies to a model already deployed.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82880" cy="685800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2331720"/>
            <a:ext cx="8229600" cy="914400"/>
          </a:xfrm>
          <a:prstGeom prst="rect">
            <a:avLst/>
          </a:prstGeom>
          <a:noFill/>
        </p:spPr>
        <p:txBody>
          <a:bodyPr wrap="square" anchor="t" lIns="0" rIns="0" tIns="0" bIns="0">
            <a:spAutoFit/>
          </a:bodyPr>
          <a:lstStyle/>
          <a:p>
            <a:pPr algn="l">
              <a:lnSpc>
                <a:spcPct val="118000"/>
              </a:lnSpc>
              <a:spcAft>
                <a:spcPts val="600"/>
              </a:spcAft>
            </a:pPr>
            <a:r>
              <a:rPr sz="4400" b="1" i="0">
                <a:solidFill>
                  <a:srgbClr val="FFFFFF"/>
                </a:solidFill>
                <a:latin typeface="Segoe UI"/>
              </a:rPr>
              <a:t>Thank you</a:t>
            </a:r>
          </a:p>
        </p:txBody>
      </p:sp>
      <p:sp>
        <p:nvSpPr>
          <p:cNvPr id="5" name="TextBox 4"/>
          <p:cNvSpPr txBox="1"/>
          <p:nvPr/>
        </p:nvSpPr>
        <p:spPr>
          <a:xfrm>
            <a:off x="1051560" y="3310128"/>
            <a:ext cx="8229600" cy="457200"/>
          </a:xfrm>
          <a:prstGeom prst="rect">
            <a:avLst/>
          </a:prstGeom>
          <a:noFill/>
        </p:spPr>
        <p:txBody>
          <a:bodyPr wrap="square" anchor="t" lIns="0" rIns="0" tIns="0" bIns="0">
            <a:spAutoFit/>
          </a:bodyPr>
          <a:lstStyle/>
          <a:p>
            <a:pPr algn="l">
              <a:lnSpc>
                <a:spcPct val="118000"/>
              </a:lnSpc>
              <a:spcAft>
                <a:spcPts val="600"/>
              </a:spcAft>
            </a:pPr>
            <a:r>
              <a:rPr sz="1800" b="0" i="0">
                <a:solidFill>
                  <a:srgbClr val="B8D2E2"/>
                </a:solidFill>
                <a:latin typeface="Segoe UI"/>
              </a:rPr>
              <a:t>Questions and discussion</a:t>
            </a:r>
          </a:p>
        </p:txBody>
      </p:sp>
      <p:sp>
        <p:nvSpPr>
          <p:cNvPr id="6" name="Rectangle 5"/>
          <p:cNvSpPr/>
          <p:nvPr/>
        </p:nvSpPr>
        <p:spPr>
          <a:xfrm>
            <a:off x="1051560" y="4041648"/>
            <a:ext cx="1051560" cy="33020"/>
          </a:xfrm>
          <a:prstGeom prst="rect">
            <a:avLst/>
          </a:prstGeom>
          <a:solidFill>
            <a:srgbClr val="147D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51560" y="4370832"/>
            <a:ext cx="8229600" cy="1097280"/>
          </a:xfrm>
          <a:prstGeom prst="rect">
            <a:avLst/>
          </a:prstGeom>
          <a:noFill/>
        </p:spPr>
        <p:txBody>
          <a:bodyPr wrap="square" anchor="t" lIns="0" rIns="0" tIns="0" bIns="0">
            <a:spAutoFit/>
          </a:bodyPr>
          <a:lstStyle/>
          <a:p>
            <a:pPr algn="l">
              <a:lnSpc>
                <a:spcPct val="118000"/>
              </a:lnSpc>
              <a:spcAft>
                <a:spcPts val="400"/>
              </a:spcAft>
            </a:pPr>
            <a:r>
              <a:rPr sz="1500" b="1" i="0">
                <a:solidFill>
                  <a:srgbClr val="FFFFFF"/>
                </a:solidFill>
                <a:latin typeface="Segoe UI"/>
              </a:rPr>
              <a:t>G. C. M. Sewwandi  ·  Student ID 29002</a:t>
            </a:r>
          </a:p>
          <a:p>
            <a:pPr algn="l">
              <a:lnSpc>
                <a:spcPct val="118000"/>
              </a:lnSpc>
              <a:spcAft>
                <a:spcPts val="400"/>
              </a:spcAft>
            </a:pPr>
            <a:r>
              <a:rPr sz="1250" b="0" i="0">
                <a:solidFill>
                  <a:srgbClr val="8FB2C8"/>
                </a:solidFill>
                <a:latin typeface="Segoe UI"/>
              </a:rPr>
              <a:t>BSc (Hons) Computer Science  ·  Department of Computing</a:t>
            </a:r>
          </a:p>
          <a:p>
            <a:pPr algn="l">
              <a:lnSpc>
                <a:spcPct val="118000"/>
              </a:lnSpc>
              <a:spcAft>
                <a:spcPts val="400"/>
              </a:spcAft>
            </a:pPr>
            <a:r>
              <a:rPr sz="1250" b="0" i="0">
                <a:solidFill>
                  <a:srgbClr val="8FB2C8"/>
                </a:solidFill>
                <a:latin typeface="Segoe UI"/>
              </a:rPr>
              <a:t>NSBM Green University, Homagama, Sri Lanka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